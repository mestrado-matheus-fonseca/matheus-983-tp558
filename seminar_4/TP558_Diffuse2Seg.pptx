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7" r:id="rId10"/>
    <p:sldId id="269" r:id="rId11"/>
    <p:sldId id="270" r:id="rId12"/>
    <p:sldId id="272" r:id="rId13"/>
    <p:sldId id="274" r:id="rId14"/>
    <p:sldId id="276" r:id="rId15"/>
    <p:sldId id="278" r:id="rId16"/>
    <p:sldId id="282" r:id="rId17"/>
    <p:sldId id="284" r:id="rId18"/>
    <p:sldId id="285" r:id="rId19"/>
    <p:sldId id="287" r:id="rId20"/>
    <p:sldId id="288" r:id="rId21"/>
    <p:sldId id="289" r:id="rId22"/>
    <p:sldId id="290" r:id="rId23"/>
    <p:sldId id="291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7" r:id="rId47"/>
  </p:sldIdLst>
  <p:sldSz cx="12192000" cy="6858000"/>
  <p:notesSz cx="6858000" cy="9144000"/>
  <p:embeddedFontLst>
    <p:embeddedFont>
      <p:font typeface="Play" panose="020B0604020202020204" charset="0"/>
      <p:regular r:id="rId49"/>
      <p:bold r:id="rId50"/>
    </p:embeddedFont>
    <p:embeddedFont>
      <p:font typeface="Verdana" panose="020B060403050404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gUDoRBYwrEckoLgLXsMP6qD+bw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9" dt="2026-10-12T19:47:07.572"/>
    <p1510:client id="{542E1607-4E18-36DF-0E26-9A17AE797BD6}" v="55" dt="2026-10-12T22:16:40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69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4c9b66d7224cca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h4c9b66d7224cca7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Abertura: apresentar o tema como uma discussão prática sobre quando augmentation ajuda, quando prejudica e como isso se conecta à pesquisa de segmentação e ao custo computacional de métodos generativos.</a:t>
            </a:r>
            <a:endParaRPr/>
          </a:p>
        </p:txBody>
      </p:sp>
      <p:sp>
        <p:nvSpPr>
          <p:cNvPr id="14" name="Google Shape;14;h4c9b66d7224cca7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610"/>
            <a:ext cx="29718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h4c9b66d7224cca79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h4c9b66d7224cca79_0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Seminário com foco em visão computacional e segmentação: revisar métodos, mostrar a biblioteca, discutir custo/benefício e fechar com protocolo seguro para experimentos.</a:t>
            </a:r>
            <a:endParaRPr/>
          </a:p>
        </p:txBody>
      </p:sp>
      <p:sp>
        <p:nvSpPr>
          <p:cNvPr id="24" name="Google Shape;24;h4c9b66d7224cca79_0_165:notes"/>
          <p:cNvSpPr txBox="1">
            <a:spLocks noGrp="1"/>
          </p:cNvSpPr>
          <p:nvPr>
            <p:ph type="sldNum" idx="12"/>
          </p:nvPr>
        </p:nvSpPr>
        <p:spPr>
          <a:xfrm>
            <a:off x="3884613" y="8685610"/>
            <a:ext cx="29718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54f86f6ec43df85f_0_77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Abrir com a pergunta: um modelo que aprendeu a gerar cenas já sabe onde estão suas entidades? A apresentação separa os resultados publicados da nossa reprodução parcial. O paper é um preprint na versão fornecida, não atribuir venue ou revisão por pares não comprovados.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Artigo original, pp. 1–5</a:t>
            </a:r>
            <a:endParaRPr sz="1400"/>
          </a:p>
        </p:txBody>
      </p:sp>
      <p:sp>
        <p:nvSpPr>
          <p:cNvPr id="66" name="Google Shape;66;h54f86f6ec43df85f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54f86f6ec43df85f_0_94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Usar o desenho próprio: céu e solo, objeto e parte. As máscaras são agnósticas a classes e podem sobrepor-se entre níveis. Distinguir segmentação de entidades de segmentação semântica de uma classe, como pista de pouso. Não afirmar que o método atribui nomes às entidades.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1 e 3.1</a:t>
            </a:r>
            <a:endParaRPr sz="1400"/>
          </a:p>
        </p:txBody>
      </p:sp>
      <p:sp>
        <p:nvSpPr>
          <p:cNvPr id="91" name="Google Shape;91;h54f86f6ec43df85f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54f86f6ec43df85f_0_252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Usar o desenho próprio: céu e solo, objeto e parte. As máscaras são agnósticas a classes e podem sobrepor-se entre níveis. Distinguir segmentação de entidades de segmentação semântica de uma classe, como pista de pouso. Não afirmar que o método atribui nomes às entidades.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1 e 3.1</a:t>
            </a:r>
            <a:endParaRPr sz="1400"/>
          </a:p>
        </p:txBody>
      </p:sp>
      <p:sp>
        <p:nvSpPr>
          <p:cNvPr id="100" name="Google Shape;100;h54f86f6ec43df85f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As cenas não são só objetos de primeiro plano. O gerador precisa representar composição, relações e fundo; por isso sua autoatenção pode cobrir stuff melhor. A hipótese é testada via qualidade dos rótulos e utilidade no treinamento, não apenas por visualizar atenção.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Introdução, pp. 1–3</a:t>
            </a:r>
            <a:endParaRPr sz="1400"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UnSAM combina descoberta de instâncias com CutLER e subdivisão bottom-up; SOHES também usa hierarquias e é o baseline sem detector. DiffSeg e M2N2 são adaptados pelos autores para a comparação de entidades. Diffuse2Seg acrescenta automação de prompts, propagação e múltiplos níveis; não inventa a difusão nem o Mask2Former.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2 e 4.1</a:t>
            </a:r>
            <a:endParaRPr sz="1400"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4f86f6ec43df85f_0_126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UnSAM combina descoberta de instâncias com CutLER e subdivisão bottom-up; SOHES também usa hierarquias e é o baseline sem detector. DiffSeg e M2N2 são adaptados pelos autores para a comparação de entidades. Diffuse2Seg acrescenta automação de prompts, propagação e múltiplos níveis; não inventa a difusão nem o Mask2Former.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2 e 4.1</a:t>
            </a:r>
            <a:endParaRPr sz="1400"/>
          </a:p>
        </p:txBody>
      </p:sp>
      <p:sp>
        <p:nvSpPr>
          <p:cNvPr id="138" name="Google Shape;138;h54f86f6ec43df85f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54f86f6ec43df85f_0_110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Reproduzir o vídeo PipelineDiffuse2Seg se houver tempo. Azul é extração; verde é criação de rótulos; amarelo é estudante. O gerador pode segmentar diretamente, mas a inferência zero-shot da Tabela 3 é do estudante treinado. O refinador CascadePSP é opcional e deve ser distinguido do NMS.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Figura 2; Sec. 3.2–3.5</a:t>
            </a:r>
            <a:endParaRPr sz="1400"/>
          </a:p>
        </p:txBody>
      </p:sp>
      <p:sp>
        <p:nvSpPr>
          <p:cNvPr id="168" name="Google Shape;168;h54f86f6ec43df85f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54f86f6ec43df85f_0_142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 texto diz que o latent da imagem não recebe ruído forward. Mostrar contraste conceitual com o ciclo DDPM estudado no seminário 1: aqui não se gera uma nova imagem. A difusão fica congelada. O identificador/revisão exato SD2 não está especificado; não chamar nosso proxy RGB de latent SD2.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3.3 e 4.1, pp. 5–10</a:t>
            </a:r>
            <a:endParaRPr sz="1400"/>
          </a:p>
        </p:txBody>
      </p:sp>
      <p:sp>
        <p:nvSpPr>
          <p:cNvPr id="198" name="Google Shape;198;h54f86f6ec43df85f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 tokens produzem N por N afinidades. Self-attention relaciona posições da imagem; cross-attention com palavras não entra no método agnóstico a classes. A figura pequena é conceitual, não uma atenção SD2 medida. A temperatura é 0,55; a fórmula exata de aplicação não é detalhada pelo artigo.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Equação 1; Apêndice A.1</a:t>
            </a:r>
            <a:endParaRPr sz="1400"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54f86f6ec43df85f_0_236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 paper considera as atenções esparsas e threshold isolado insuficiente. Exibir snapshots computados, não supor que sejam resultados SD2. A animação interpola visualmente entre snapshots, não simula novas iterações. Cores são reescaladas por frame, servem para estrutura e não amplitude absoluta.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3.4; figura local com afinidade proxy</a:t>
            </a:r>
            <a:endParaRPr sz="1400"/>
          </a:p>
        </p:txBody>
      </p:sp>
      <p:sp>
        <p:nvSpPr>
          <p:cNvPr id="243" name="Google Shape;243;h54f86f6ec43df85f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54f86f6ec43df85f_0_207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Ler a energia em duas partes: regularização no grafo e fidelidade ao f0. O p atua no gradiente local; a proteção de bordas depende da representação. No paper p=1,6, λ=1e−5 e parada por norma quadrática 1e−4. Na reprodução usamos parâmetros diferentes e epsilon explícito. No grafo simétrico, p=2 permite verificar solução fechada com Laplaciano.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Equação 2; Algoritmo 1</a:t>
            </a:r>
            <a:endParaRPr sz="1400"/>
          </a:p>
        </p:txBody>
      </p:sp>
      <p:sp>
        <p:nvSpPr>
          <p:cNvPr id="267" name="Google Shape;267;h54f86f6ec43df85f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h54f86f6ec43df85f_0_222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distância compara distribuições de propagação, não coordenadas dos prompts. A grade é automática. Mostrar as dimensões proxy: 576 por 576 na afinidade e 16 por 16 na distância KL. Estas não são as dimensões do experimento original.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Equação 3 e Algoritmo 2; figura local</a:t>
            </a:r>
            <a:endParaRPr sz="1400"/>
          </a:p>
        </p:txBody>
      </p:sp>
      <p:sp>
        <p:nvSpPr>
          <p:cNvPr id="297" name="Google Shape;297;h54f86f6ec43df85f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54f86f6ec43df85f_0_261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 desenho explica a hierarquia; a animação usa as partições realmente calculadas no proxy p=2. O artigo agrega seis cortes KL de 0,186 a 2,99. Uma partição em um nível não basta: as propostas de todos os níveis podem representar parte e objeto. No proxy não há upsampling porque entrada e grafo já são 24 por 24.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3.4 e Algoritmo 2</a:t>
            </a:r>
            <a:endParaRPr sz="1400"/>
          </a:p>
        </p:txBody>
      </p:sp>
      <p:sp>
        <p:nvSpPr>
          <p:cNvPr id="321" name="Google Shape;321;h54f86f6ec43df85f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54f86f6ec43df85f_0_304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figura usa retângulos esquemáticos para explicar por que uma parte pode ter IoU baixa com o objeto inteiro. Um limiar mais baixo elimina mais candidatos, prejudicando recall. CascadePSP é refinamento de borda opcional após gerar as propostas; não é um módulo do U-Net. O artigo usa área mínima 100 px; nosso proxy usa 3 px.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3.4; Apêndice A.1–A.2</a:t>
            </a:r>
            <a:endParaRPr sz="1400"/>
          </a:p>
        </p:txBody>
      </p:sp>
      <p:sp>
        <p:nvSpPr>
          <p:cNvPr id="369" name="Google Shape;369;h54f86f6ec43df85f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h54f86f6ec43df85f_0_320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Backbone produz features multiescala; pixel decoder as organiza e decoder de queries produz máscaras. Desenho próprio em nível funcional, sem inventar blocos específicos. ResNet inicia de DINO; decoder da primeira rodada é aleatório. Treinar estudante reduz dependência da geração cara para novas imagens.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3.5; Apêndice A.3</a:t>
            </a:r>
            <a:endParaRPr sz="1400"/>
          </a:p>
        </p:txBody>
      </p:sp>
      <p:sp>
        <p:nvSpPr>
          <p:cNvPr id="393" name="Google Shape;393;h54f86f6ec43df85f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h54f86f6ec43df85f_0_391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Backbone produz features multiescala; pixel decoder as organiza e decoder de queries produz máscaras. Desenho próprio em nível funcional, sem inventar blocos específicos. ResNet inicia de DINO; decoder da primeira rodada é aleatório. Treinar estudante reduz dependência da geração cara para novas imagens.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3.5; Apêndice A.3</a:t>
            </a:r>
            <a:endParaRPr sz="1400"/>
          </a:p>
        </p:txBody>
      </p:sp>
      <p:sp>
        <p:nvSpPr>
          <p:cNvPr id="402" name="Google Shape;402;h54f86f6ec43df85f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h54f86f6ec43df85f_0_334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Predict-and-conquer: score mínimo, fração de área do pai entre 0,003 e 0,30, filhos com contenção mínima 0,70. Substitui rótulos com IoU maior que 0,5 e acrescenta demais. Round 2 inicializa do Round 1 e treina em 100k imagens, mesmo quando Round 1 usa mais. Esse enriquecimento não depende de CutLER, que é adicionado somente na variante correspondente.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3.5; Tabela 5; Apêndice A.3</a:t>
            </a:r>
            <a:endParaRPr sz="1400"/>
          </a:p>
        </p:txBody>
      </p:sp>
      <p:sp>
        <p:nvSpPr>
          <p:cNvPr id="426" name="Google Shape;426;h54f86f6ec43df85f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54f86f6ec43df85f_0_401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Predict-and-conquer: score mínimo, fração de área do pai entre 0,003 e 0,30, filhos com contenção mínima 0,70. Substitui rótulos com IoU maior que 0,5 e acrescenta demais. Round 2 inicializa do Round 1 e treina em 100k imagens, mesmo quando Round 1 usa mais. Esse enriquecimento não depende de CutLER, que é adicionado somente na variante correspondente.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3.5; Tabela 5; Apêndice A.3</a:t>
            </a:r>
            <a:endParaRPr sz="1400"/>
          </a:p>
        </p:txBody>
      </p:sp>
      <p:sp>
        <p:nvSpPr>
          <p:cNvPr id="435" name="Google Shape;435;h54f86f6ec43df85f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Separar UVO, usado no gerador, de COCO/LVIS, acrescentados no estudante. O artigo exclui PartImageNet para reduzir vantagem de overlap ImageNet para DINO/CutLER. Zero-shot significa sem adaptação aos datasets alvo da avaliação, não sem pré-treinamento de modelos. Ver discussão de possível overlap dos corpora em notes/analysis.md.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4.1; Tabela 3</a:t>
            </a:r>
            <a:endParaRPr sz="1400"/>
          </a:p>
        </p:txBody>
      </p:sp>
      <p:sp>
        <p:nvSpPr>
          <p:cNvPr id="444" name="Google Shape;4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h54f86f6ec43df85f_0_348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Separar UVO, usado no gerador, de COCO/LVIS, acrescentados no estudante. O artigo exclui PartImageNet para reduzir vantagem de overlap ImageNet para DINO/CutLER. Zero-shot significa sem adaptação aos datasets alvo da avaliação, não sem pré-treinamento de modelos. Ver discussão de possível overlap dos corpora em notes/analysis.md.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4.1; Tabela 3</a:t>
            </a:r>
            <a:endParaRPr sz="1400"/>
          </a:p>
        </p:txBody>
      </p:sp>
      <p:sp>
        <p:nvSpPr>
          <p:cNvPr id="459" name="Google Shape;459;h54f86f6ec43df85f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h54f86f6ec43df85f_0_411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Separar UVO, usado no gerador, de COCO/LVIS, acrescentados no estudante. O artigo exclui PartImageNet para reduzir vantagem de overlap ImageNet para DINO/CutLER. Zero-shot significa sem adaptação aos datasets alvo da avaliação, não sem pré-treinamento de modelos. Ver discussão de possível overlap dos corpora em notes/analysis.md.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4.1; Tabela 3</a:t>
            </a:r>
            <a:endParaRPr sz="1400"/>
          </a:p>
        </p:txBody>
      </p:sp>
      <p:sp>
        <p:nvSpPr>
          <p:cNvPr id="468" name="Google Shape;468;h54f86f6ec43df85f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h54f86f6ec43df85f_0_362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Duas máscaras podem ter coberturas e qualidade diferentes: IoU controla se a correspondência é aceitável. AR não substitui precisão nem qualidade semântica; mil propostas podem encontrar um objeto sem poucas máscaras úteis. A métrica toy local tem matching próprio e não é COCO AR1000 oficial.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4.1</a:t>
            </a:r>
            <a:endParaRPr sz="1400"/>
          </a:p>
        </p:txBody>
      </p:sp>
      <p:sp>
        <p:nvSpPr>
          <p:cNvPr id="492" name="Google Shape;492;h54f86f6ec43df85f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Mostrar a comparação por tamanho. A avaliação é do gerador, sem refinamento, não do estudante. A diferença de 4,3 é em pontos percentuais; não porcentagem relativa. Não esconder a desvantagem em ARS, que é relevante para pistas estreitas e partes.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Resultado ORIGINAL • Tabela 1, p. 10</a:t>
            </a:r>
            <a:endParaRPr sz="1400"/>
          </a:p>
        </p:txBody>
      </p:sp>
      <p:sp>
        <p:nvSpPr>
          <p:cNvPr id="501" name="Google Shape;5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UnSAM é referência anterior, mas CutLER é detector treinado: Diffuse2Seg não supera toda linha da tabela em todos os datasets. No gráfico comparar UnSAM, DiffSeg e Diffuse2Seg; CutLER foi preservado nos CSVs e discutido no texto. UVO trata imagens extraídas de vídeos; o método aqui não modela consistência temporal.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Resultado ORIGINAL • Tabela 2, p. 11</a:t>
            </a:r>
            <a:endParaRPr sz="1400"/>
          </a:p>
        </p:txBody>
      </p:sp>
      <p:sp>
        <p:nvSpPr>
          <p:cNvPr id="516" name="Google Shape;5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9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coluna sem detector compara Diffuse2Seg 100k a SOHES 200k. Outra comparação é UnSAM e Diffuse2Seg ambos com CutLER e 400k. Não misturar essas condições. Means foram recalculados das seis colunas; pequenas diferenças de arredondamento são esperadas. Não afirmar superioridade universal sobre SAM ou UnSAM.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Resultado ORIGINAL • Tabela 3, p. 12</a:t>
            </a:r>
            <a:endParaRPr sz="1400"/>
          </a:p>
        </p:txBody>
      </p:sp>
      <p:sp>
        <p:nvSpPr>
          <p:cNvPr id="531" name="Google Shape;5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0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 esquerda estão pseudo-rótulos sem refinamento; na direita predições do estudante. Apontar diferenças em fundo e divisão das entidades, mas não tratar cores como identidades semânticas. O material é extraído do PDF com atribuição. Não afirmar que esses exemplos foram reproduzidos.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Resultado ORIGINAL • Figura 1, p. 2</a:t>
            </a:r>
            <a:endParaRPr sz="1400"/>
          </a:p>
        </p:txBody>
      </p:sp>
      <p:sp>
        <p:nvSpPr>
          <p:cNvPr id="546" name="Google Shape;5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1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São três controles diferentes; não somar ganhos. Os valores da Tabela 4 não coincidem com 20,7 do resultado final e não se conhece pelo PDF uma equivalência completa das configurações. Na Figura 5 p=1,2 favorece recall, p=1,6 favorece mAP; explicar compromisso. O slide de backup mostra a figura original sem inventar pontos.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Resultado ORIGINAL • Tabelas 4–5</a:t>
            </a:r>
            <a:endParaRPr sz="1400"/>
          </a:p>
        </p:txBody>
      </p:sp>
      <p:sp>
        <p:nvSpPr>
          <p:cNvPr id="561" name="Google Shape;56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2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 encoder fica congelado e o decoder é ajustado sobre inicialização não supervisionada. É uma comparação de fine-tuning, não aprendizado do zero com 100 exemplos. O texto diz que 5k alcançam a referência. Não desenhamos curva de valores ausentes. Comparação UnSAM usa checkpoint público 0,2M; Diffuse2Seg usa 0,4M, conforme Apêndice A.3. Isso limita equivalência de budgets.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Resultado ORIGINAL • Sec. 4.4 / Figura 4</a:t>
            </a:r>
            <a:endParaRPr sz="1400"/>
          </a:p>
        </p:txBody>
      </p:sp>
      <p:sp>
        <p:nvSpPr>
          <p:cNvPr id="576" name="Google Shape;57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3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Mostrar a cena conhecida com céu, solo, círculo, objeto retangular e uma parte. Há seis máscaras de referência incluindo o objeto inteiro e a parte. GT serve apenas à avaliação; não constrói o grafo nem escolhe prompts. A demonstração do pipeline em p=1,6 perde objetos; isso é um resultado e não defeito escondido da figura.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REPRODUÇÃO PARCIAL • scripts e NPZ locais</a:t>
            </a:r>
            <a:endParaRPr sz="1400"/>
          </a:p>
        </p:txBody>
      </p:sp>
      <p:sp>
        <p:nvSpPr>
          <p:cNvPr id="590" name="Google Shape;59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4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As sementes alteram ruído RGB na mesma geometria, não são três datasets independentes. λ=0,03, epsilon=1e−8, critério de parada=1e−8 e até 400 iterações. Esses parâmetros diferem dos do artigo porque o grafo/resolução são diferentes. Cada configuração convergiu segundo atualização, mas isso não prova minimização global. Verificação p=2 contra solve do sistema linear, erro máximo ~1,9e−9.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REPRODUÇÃO PARCIAL • protocol.json / métricas</a:t>
            </a:r>
            <a:endParaRPr sz="1400"/>
          </a:p>
        </p:txBody>
      </p:sp>
      <p:sp>
        <p:nvSpPr>
          <p:cNvPr id="605" name="Google Shape;60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5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Mostrar a animação com números lidos do protocolo. Recall toy usa IoU 0,50…0,95 e matching greedy 1:1 por IoU, não o ranking/evaluador COCO. O p não pode ser transferido isolado da escala da afinidade, λ, eps e critério de parada. Esses resultados não refutam o benchmark original, mas limitam a demonstração própria. Não declarar significância com três sementes.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RESULTADO LOCAL • 9 execuções • mean ± std amostral</a:t>
            </a:r>
            <a:endParaRPr sz="1400"/>
          </a:p>
        </p:txBody>
      </p:sp>
      <p:sp>
        <p:nvSpPr>
          <p:cNvPr id="620" name="Google Shape;62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6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Figura compara partições finas calculadas com p=2 e p=1,6. Nosso grafo não tem estrutura semântica generativa; proximidade espacial e cor não equivalem a atenção. Como demonstração, ele permite aprender as operações; como evidência de Diffuse2Seg, é insuficiente. Não comparar 56,1% toy a 20,7% SA-1B em gráfico como se fossem a mesma tarefa.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RESULTADO LOCAL • semente 7; análise própria</a:t>
            </a:r>
            <a:endParaRPr sz="1400"/>
          </a:p>
        </p:txBody>
      </p:sp>
      <p:sp>
        <p:nvSpPr>
          <p:cNvPr id="635" name="Google Shape;63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7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imagem foi reduzida a 24 por 24 para o grafo. Não se usam anotações para gerar máscaras, e não se calculou ARCOCO. Apontar a falta de semântica: partição por cor não garante separar gatos e controles. É uma forma concreta de mostrar por que a representação SD2 é central na hipótese dos autores.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DEMONSTRAÇÃO CONCEITUAL • imagem COCO / algoritmo local</a:t>
            </a:r>
            <a:endParaRPr sz="1400"/>
          </a:p>
        </p:txBody>
      </p:sp>
      <p:sp>
        <p:nvSpPr>
          <p:cNvPr id="650" name="Google Shape;65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8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1,43 GiB é 19.600² elementos vezes 4 bytes, sem U-Net, buffers ou cabeças. Não é medição de VRAM nem runtime. Treinamento publicado: batch16 em quatro A100. Falta relatório completo de custo e variância no paper. A inferência do estudante evita repetir o gerador, mas não remove o custo de criar sua supervisão.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Sec. 5; cálculo teórico próprio da afinidade</a:t>
            </a:r>
            <a:endParaRPr sz="1400"/>
          </a:p>
        </p:txBody>
      </p:sp>
      <p:sp>
        <p:nvSpPr>
          <p:cNvPr id="665" name="Google Shape;66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h54f86f6ec43df85f_0_376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Nossa pesquisa mede IoU/Dice de uma classe específica. Diffuse2Seg não decide que uma região é pista; a transferência requer seleção/validação semântica. Copiar intensidade em três canais só resolve formato. Não há benchmark SAR no artigo. Conceito mais prático é crops sobre SAM existente; usar affinities SD2 é uma hipótese mais incerta.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Análise própria; project/initial_project.pdf</a:t>
            </a:r>
            <a:endParaRPr sz="1400"/>
          </a:p>
        </p:txBody>
      </p:sp>
      <p:sp>
        <p:nvSpPr>
          <p:cNvPr id="694" name="Google Shape;694;h54f86f6ec43df85f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0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Uma alteração por ablação, seleção apenas na validação, separação geográfica quando possível, mesmo orçamento/arquitetura/inicialização. Medir aceitação das pseudo-máscaras e erros de largura. Adicionar imagens sem pista quando disponíveis para medir falso positivo. Nenhum desses experimentos SAR foi executado neste seminário.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Proposta futura • notes/research_application.md</a:t>
            </a:r>
            <a:endParaRPr sz="1400"/>
          </a:p>
        </p:txBody>
      </p:sp>
      <p:sp>
        <p:nvSpPr>
          <p:cNvPr id="703" name="Google Shape;70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1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Retomar a pergunta inicial: o paper oferece evidência de estrutura reutilizável e rótulos úteis; a reprodução local confirma a operacionalização e mostra dependência da afinidade. Para SAR, tratar transferência como hipótese e priorizar avaliação de crops. Perguntar à audiência como avaliar utilidade de pseudo-rótulos além de recall de propostas.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Síntese do artigo e dos experimentos locais</a:t>
            </a:r>
            <a:endParaRPr sz="1400"/>
          </a:p>
        </p:txBody>
      </p:sp>
      <p:sp>
        <p:nvSpPr>
          <p:cNvPr id="717" name="Google Shape;7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3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figura original tem eixo da direita normalizado por máximo individual. Não comparar esses pontos como valores absolutos de AR ou mAP. Evitar inferir uma curva de treinamento: é sweep de hiperparâmetros, não loss por época.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Resultado ORIGINAL • Figura 5, p. 13</a:t>
            </a:r>
            <a:endParaRPr sz="1400"/>
          </a:p>
        </p:txBody>
      </p:sp>
      <p:sp>
        <p:nvSpPr>
          <p:cNvPr id="731" name="Google Shape;73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4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Backbone multiplier0,1, clipping0,01, warmup5000 e schedule90%/96%. Reprodução numérica fiel exigiria checkpoints identificados, acesso SA-1B, variantes de refinamento e validação da implementação. Esses recursos não foram carregados nem treinados.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Apêndice A.3, p. 21</a:t>
            </a:r>
            <a:endParaRPr sz="1400"/>
          </a:p>
        </p:txBody>
      </p:sp>
      <p:sp>
        <p:nvSpPr>
          <p:cNvPr id="746" name="Google Shape;74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5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Valores vêm de ablations.json. A contagem pré-NMS muda com seis níveis; o recall final não muda porque as propostas úteis não aumentam. Não somar esse ganho ao efeito de p. É uma única cena/seed, sem conclusão estatística.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RESULTADO LOCAL • p=1,6 • semente 7</a:t>
            </a:r>
            <a:endParaRPr sz="1400"/>
          </a:p>
        </p:txBody>
      </p:sp>
      <p:sp>
        <p:nvSpPr>
          <p:cNvPr id="760" name="Google Shape;76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6:notes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 fator2 vem de contar pares simétricos na energia descrita. Atenção real pode ser assimétrica; uma reprodução exata precisa esclarecer o tratamento. A regularização de gradientes no código usa piso de epsilon para evitar potência negativa de zero. Parada por atualização pequena não prova ótimo global não linear.</a:t>
            </a: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Fonte: Verificação própria • checks() / protocol.json</a:t>
            </a:r>
            <a:endParaRPr sz="1400"/>
          </a:p>
        </p:txBody>
      </p:sp>
      <p:sp>
        <p:nvSpPr>
          <p:cNvPr id="775" name="Google Shape;77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h4c9b66d7224cca7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9" name="Google Shape;789;h4c9b66d7224cca79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Fechar com a mensagem central. Para o seu projeto, o caminho é usar Albumentations como baseline rápido e deixar DDPM como uma etapa justificada por evidências.</a:t>
            </a:r>
            <a:endParaRPr/>
          </a:p>
        </p:txBody>
      </p:sp>
      <p:sp>
        <p:nvSpPr>
          <p:cNvPr id="790" name="Google Shape;790;h4c9b66d7224cca79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610"/>
            <a:ext cx="29718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h4c9b66d7224cca7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7" name="Google Shape;807;h4c9b66d7224cca79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Manter a referência de DDPM se o seminário também apresentar o gancho para modelos de difusão.</a:t>
            </a:r>
            <a:endParaRPr/>
          </a:p>
        </p:txBody>
      </p:sp>
      <p:sp>
        <p:nvSpPr>
          <p:cNvPr id="808" name="Google Shape;808;h4c9b66d7224cca79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610"/>
            <a:ext cx="29718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h4c9b66d7224cca7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6" name="Google Shape;836;h4c9b66d7224cca79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h4c9b66d7224cca79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610"/>
            <a:ext cx="29718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4c9b66d7224cca79_0_1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h4c9b66d7224cca79_0_0"/>
          <p:cNvSpPr/>
          <p:nvPr/>
        </p:nvSpPr>
        <p:spPr>
          <a:xfrm>
            <a:off x="1280160" y="786384"/>
            <a:ext cx="96012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400"/>
              <a:buFont typeface="Arial"/>
              <a:buNone/>
            </a:pPr>
            <a:r>
              <a:rPr lang="pt-BR" sz="34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TP558 - Tópicos avançados</a:t>
            </a:r>
            <a:endParaRPr sz="3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400"/>
              <a:buFont typeface="Arial"/>
              <a:buNone/>
            </a:pPr>
            <a:r>
              <a:rPr lang="pt-BR" sz="34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em Machine Learning:</a:t>
            </a:r>
            <a:endParaRPr sz="3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h4c9b66d7224cca79_0_0"/>
          <p:cNvSpPr/>
          <p:nvPr/>
        </p:nvSpPr>
        <p:spPr>
          <a:xfrm>
            <a:off x="1143000" y="1828800"/>
            <a:ext cx="98754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2400" b="1" i="1">
                <a:solidFill>
                  <a:srgbClr val="111111"/>
                </a:solidFill>
              </a:rPr>
              <a:t>Diffuse2Seg: </a:t>
            </a:r>
            <a:r>
              <a:rPr lang="pt-BR" sz="2400" b="1" i="1" err="1">
                <a:solidFill>
                  <a:srgbClr val="111111"/>
                </a:solidFill>
              </a:rPr>
              <a:t>Diffusion</a:t>
            </a:r>
            <a:r>
              <a:rPr lang="pt-BR" sz="2400" b="1" i="1">
                <a:solidFill>
                  <a:srgbClr val="111111"/>
                </a:solidFill>
              </a:rPr>
              <a:t> Models </a:t>
            </a:r>
            <a:r>
              <a:rPr lang="pt-BR" sz="2400" b="1" i="1" err="1">
                <a:solidFill>
                  <a:srgbClr val="111111"/>
                </a:solidFill>
              </a:rPr>
              <a:t>Can</a:t>
            </a:r>
            <a:r>
              <a:rPr lang="pt-BR" sz="2400" b="1" i="1">
                <a:solidFill>
                  <a:srgbClr val="111111"/>
                </a:solidFill>
              </a:rPr>
              <a:t> </a:t>
            </a:r>
            <a:r>
              <a:rPr lang="pt-BR" sz="2400" b="1" i="1" err="1">
                <a:solidFill>
                  <a:srgbClr val="111111"/>
                </a:solidFill>
              </a:rPr>
              <a:t>Segment</a:t>
            </a:r>
            <a:r>
              <a:rPr lang="pt-BR" sz="2400" b="1" i="1">
                <a:solidFill>
                  <a:srgbClr val="111111"/>
                </a:solidFill>
              </a:rPr>
              <a:t> </a:t>
            </a:r>
            <a:r>
              <a:rPr lang="pt-BR" sz="2400" b="1" i="1" err="1">
                <a:solidFill>
                  <a:srgbClr val="111111"/>
                </a:solidFill>
              </a:rPr>
              <a:t>Anything</a:t>
            </a:r>
            <a:r>
              <a:rPr lang="pt-BR" sz="2400" b="1" i="1">
                <a:solidFill>
                  <a:srgbClr val="111111"/>
                </a:solidFill>
              </a:rPr>
              <a:t> </a:t>
            </a:r>
            <a:r>
              <a:rPr lang="pt-BR" sz="2400" b="1" i="1" err="1">
                <a:solidFill>
                  <a:srgbClr val="111111"/>
                </a:solidFill>
              </a:rPr>
              <a:t>Without</a:t>
            </a:r>
            <a:r>
              <a:rPr lang="pt-BR" sz="2400" b="1" i="1">
                <a:solidFill>
                  <a:srgbClr val="111111"/>
                </a:solidFill>
              </a:rPr>
              <a:t> </a:t>
            </a:r>
            <a:r>
              <a:rPr lang="pt-BR" sz="2400" b="1" i="1" err="1">
                <a:solidFill>
                  <a:srgbClr val="111111"/>
                </a:solidFill>
              </a:rPr>
              <a:t>Supervision</a:t>
            </a:r>
            <a:endParaRPr lang="en-US" sz="1050" b="1" i="1"/>
          </a:p>
        </p:txBody>
      </p:sp>
      <p:pic>
        <p:nvPicPr>
          <p:cNvPr id="18" name="Google Shape;18;h4c9b66d7224cca79_0_0" descr="/mnt/data/assets/image2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6970" y="3040829"/>
            <a:ext cx="4165787" cy="313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h4c9b66d7224cca79_0_0" descr="/mnt/data/assets/image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8809" y="5870448"/>
            <a:ext cx="839823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h4c9b66d7224cca79_0_0"/>
          <p:cNvSpPr/>
          <p:nvPr/>
        </p:nvSpPr>
        <p:spPr>
          <a:xfrm>
            <a:off x="8046720" y="5925312"/>
            <a:ext cx="3566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pt-BR" sz="1400" b="0" i="1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Matheus Henrique Fonseca Afonso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pt-BR" sz="1400" b="0" i="1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matheus.fonseca@mtel.inatel.br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h4c9b66d7224cca79_0_165"/>
          <p:cNvSpPr/>
          <p:nvPr/>
        </p:nvSpPr>
        <p:spPr>
          <a:xfrm>
            <a:off x="66890" y="107890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4F8B"/>
              </a:buClr>
              <a:buSzPts val="800"/>
              <a:buFont typeface="Arial"/>
              <a:buNone/>
            </a:pPr>
            <a:r>
              <a:rPr lang="pt-BR" sz="1100" i="0" u="none" strike="noStrike" cap="none">
                <a:solidFill>
                  <a:srgbClr val="004F8B"/>
                </a:solidFill>
              </a:rPr>
              <a:t>ABERTURA</a:t>
            </a:r>
            <a:endParaRPr sz="1100" i="0" u="none" strike="noStrike" cap="none">
              <a:solidFill>
                <a:srgbClr val="004F8B"/>
              </a:solidFill>
            </a:endParaRPr>
          </a:p>
        </p:txBody>
      </p:sp>
      <p:sp>
        <p:nvSpPr>
          <p:cNvPr id="27" name="Google Shape;27;h4c9b66d7224cca79_0_165"/>
          <p:cNvSpPr/>
          <p:nvPr/>
        </p:nvSpPr>
        <p:spPr>
          <a:xfrm>
            <a:off x="548640" y="676656"/>
            <a:ext cx="896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111111"/>
                </a:solidFill>
                <a:latin typeface="Verdana"/>
                <a:ea typeface="Verdana"/>
                <a:cs typeface="Verdana"/>
                <a:sym typeface="Verdana"/>
              </a:rPr>
              <a:t>Agenda</a:t>
            </a:r>
            <a:endParaRPr sz="240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8" name="Google Shape;28;h4c9b66d7224cca79_0_165"/>
          <p:cNvCxnSpPr/>
          <p:nvPr/>
        </p:nvCxnSpPr>
        <p:spPr>
          <a:xfrm>
            <a:off x="548640" y="1152144"/>
            <a:ext cx="11109900" cy="0"/>
          </a:xfrm>
          <a:prstGeom prst="straightConnector1">
            <a:avLst/>
          </a:prstGeom>
          <a:noFill/>
          <a:ln w="12700" cap="flat" cmpd="sng">
            <a:solidFill>
              <a:srgbClr val="E3E7E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9" name="Google Shape;29;h4c9b66d7224cca79_0_165" descr="/mnt/data/assets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370" y="411480"/>
            <a:ext cx="710619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h4c9b66d7224cca79_0_165"/>
          <p:cNvSpPr/>
          <p:nvPr/>
        </p:nvSpPr>
        <p:spPr>
          <a:xfrm>
            <a:off x="960120" y="1600200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h4c9b66d7224cca79_0_165"/>
          <p:cNvSpPr/>
          <p:nvPr/>
        </p:nvSpPr>
        <p:spPr>
          <a:xfrm>
            <a:off x="1417320" y="1572768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lang="pt-BR" sz="1600" b="1">
                <a:solidFill>
                  <a:srgbClr val="111111"/>
                </a:solidFill>
              </a:rPr>
              <a:t>Contexto e </a:t>
            </a:r>
            <a:r>
              <a:rPr lang="pt-BR" sz="16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Motivação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h4c9b66d7224cca79_0_165"/>
          <p:cNvSpPr/>
          <p:nvPr/>
        </p:nvSpPr>
        <p:spPr>
          <a:xfrm>
            <a:off x="4480560" y="1572768"/>
            <a:ext cx="5669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600"/>
              <a:buFont typeface="Arial"/>
              <a:buNone/>
            </a:pPr>
            <a:r>
              <a:rPr lang="pt-BR" sz="1600">
                <a:solidFill>
                  <a:srgbClr val="5C6773"/>
                </a:solidFill>
              </a:rPr>
              <a:t>Segmentação de qualquer coisa e o gargalo dos rótulos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h4c9b66d7224cca79_0_165"/>
          <p:cNvSpPr/>
          <p:nvPr/>
        </p:nvSpPr>
        <p:spPr>
          <a:xfrm>
            <a:off x="960120" y="2295144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h4c9b66d7224cca79_0_165"/>
          <p:cNvSpPr/>
          <p:nvPr/>
        </p:nvSpPr>
        <p:spPr>
          <a:xfrm>
            <a:off x="1417320" y="2267712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lang="pt-BR" sz="1600" b="1">
                <a:solidFill>
                  <a:schemeClr val="dk1"/>
                </a:solidFill>
              </a:rPr>
              <a:t>Diffuse2Seg </a:t>
            </a:r>
            <a:endParaRPr sz="16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5" name="Google Shape;35;h4c9b66d7224cca79_0_165"/>
          <p:cNvSpPr/>
          <p:nvPr/>
        </p:nvSpPr>
        <p:spPr>
          <a:xfrm>
            <a:off x="4480560" y="2267712"/>
            <a:ext cx="5669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600"/>
              <a:buFont typeface="Arial"/>
              <a:buNone/>
            </a:pPr>
            <a:r>
              <a:rPr lang="pt-BR" sz="1600">
                <a:solidFill>
                  <a:srgbClr val="5C6773"/>
                </a:solidFill>
              </a:rPr>
              <a:t>Ideia central, arquitetura e pipeline proposto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h4c9b66d7224cca79_0_165"/>
          <p:cNvSpPr/>
          <p:nvPr/>
        </p:nvSpPr>
        <p:spPr>
          <a:xfrm>
            <a:off x="960120" y="2990088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h4c9b66d7224cca79_0_165"/>
          <p:cNvSpPr/>
          <p:nvPr/>
        </p:nvSpPr>
        <p:spPr>
          <a:xfrm>
            <a:off x="1417320" y="2962656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lang="pt-BR" sz="1600" b="1">
                <a:solidFill>
                  <a:srgbClr val="111111"/>
                </a:solidFill>
              </a:rPr>
              <a:t>Geração de pseudo-máscaras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h4c9b66d7224cca79_0_165"/>
          <p:cNvSpPr/>
          <p:nvPr/>
        </p:nvSpPr>
        <p:spPr>
          <a:xfrm>
            <a:off x="4480560" y="2962656"/>
            <a:ext cx="5669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600"/>
              <a:buFont typeface="Arial"/>
              <a:buNone/>
            </a:pPr>
            <a:r>
              <a:rPr lang="pt-BR" sz="1600">
                <a:solidFill>
                  <a:srgbClr val="5C6773"/>
                </a:solidFill>
              </a:rPr>
              <a:t>Autoatenção, propagação, clustering e hierarquia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h4c9b66d7224cca79_0_165"/>
          <p:cNvSpPr/>
          <p:nvPr/>
        </p:nvSpPr>
        <p:spPr>
          <a:xfrm>
            <a:off x="960120" y="3685032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h4c9b66d7224cca79_0_165"/>
          <p:cNvSpPr/>
          <p:nvPr/>
        </p:nvSpPr>
        <p:spPr>
          <a:xfrm>
            <a:off x="1417320" y="3657600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lang="pt-BR" sz="1600" b="1">
                <a:solidFill>
                  <a:srgbClr val="111111"/>
                </a:solidFill>
              </a:rPr>
              <a:t>Treinamento e resultados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h4c9b66d7224cca79_0_165"/>
          <p:cNvSpPr/>
          <p:nvPr/>
        </p:nvSpPr>
        <p:spPr>
          <a:xfrm>
            <a:off x="4480560" y="3657600"/>
            <a:ext cx="5669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600"/>
              <a:buFont typeface="Arial"/>
              <a:buNone/>
            </a:pPr>
            <a:r>
              <a:rPr lang="pt-BR" sz="1600">
                <a:solidFill>
                  <a:srgbClr val="5C6773"/>
                </a:solidFill>
              </a:rPr>
              <a:t>Modelo estudante, avaliação, métricas e ablações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h4c9b66d7224cca79_0_165"/>
          <p:cNvSpPr/>
          <p:nvPr/>
        </p:nvSpPr>
        <p:spPr>
          <a:xfrm>
            <a:off x="960120" y="4379976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h4c9b66d7224cca79_0_165"/>
          <p:cNvSpPr/>
          <p:nvPr/>
        </p:nvSpPr>
        <p:spPr>
          <a:xfrm>
            <a:off x="1417320" y="4352544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lang="pt-BR" sz="1600" b="1">
                <a:solidFill>
                  <a:srgbClr val="111111"/>
                </a:solidFill>
              </a:rPr>
              <a:t>Reprodução e análise crítica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h4c9b66d7224cca79_0_165"/>
          <p:cNvSpPr/>
          <p:nvPr/>
        </p:nvSpPr>
        <p:spPr>
          <a:xfrm>
            <a:off x="4480560" y="4352544"/>
            <a:ext cx="5669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600"/>
              <a:buFont typeface="Arial"/>
              <a:buNone/>
            </a:pPr>
            <a:r>
              <a:rPr lang="pt-BR" sz="1600">
                <a:solidFill>
                  <a:srgbClr val="5C6773"/>
                </a:solidFill>
              </a:rPr>
              <a:t>Experimento local, diferenças em relação ao artigo e limitações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h4c9b66d7224cca79_0_165"/>
          <p:cNvSpPr/>
          <p:nvPr/>
        </p:nvSpPr>
        <p:spPr>
          <a:xfrm>
            <a:off x="960120" y="5074920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h4c9b66d7224cca79_0_165"/>
          <p:cNvSpPr/>
          <p:nvPr/>
        </p:nvSpPr>
        <p:spPr>
          <a:xfrm>
            <a:off x="1417320" y="5047488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lang="pt-BR" sz="1600" b="1">
                <a:solidFill>
                  <a:srgbClr val="111111"/>
                </a:solidFill>
              </a:rPr>
              <a:t>Aplicação e conclusões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h4c9b66d7224cca79_0_165"/>
          <p:cNvSpPr/>
          <p:nvPr/>
        </p:nvSpPr>
        <p:spPr>
          <a:xfrm>
            <a:off x="4480560" y="5047488"/>
            <a:ext cx="5669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773"/>
              </a:buClr>
              <a:buSzPts val="1600"/>
              <a:buFont typeface="Arial"/>
              <a:buNone/>
            </a:pPr>
            <a:r>
              <a:rPr lang="pt-BR" sz="1600">
                <a:solidFill>
                  <a:srgbClr val="5C6773"/>
                </a:solidFill>
              </a:rPr>
              <a:t>Relação com a pesquisa em SAR, próximos experimentos e síntese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54f86f6ec43df85f_0_77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Diffuse2Seg</a:t>
            </a:r>
            <a:endParaRPr sz="2800"/>
          </a:p>
        </p:txBody>
      </p:sp>
      <p:sp>
        <p:nvSpPr>
          <p:cNvPr id="69" name="Google Shape;69;h54f86f6ec43df85f_0_77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71" name="Google Shape;71;h54f86f6ec43df85f_0_77"/>
          <p:cNvSpPr txBox="1"/>
          <p:nvPr/>
        </p:nvSpPr>
        <p:spPr>
          <a:xfrm>
            <a:off x="609600" y="5765477"/>
            <a:ext cx="10972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Modelos de difusão como fonte de pseudo-máscaras</a:t>
            </a:r>
            <a:endParaRPr sz="1700"/>
          </a:p>
        </p:txBody>
      </p:sp>
      <p:sp>
        <p:nvSpPr>
          <p:cNvPr id="72" name="Google Shape;72;h54f86f6ec43df85f_0_77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CONTEXTO E MOTIVAÇÃO</a:t>
            </a:r>
            <a:endParaRPr sz="1100"/>
          </a:p>
        </p:txBody>
      </p:sp>
      <p:pic>
        <p:nvPicPr>
          <p:cNvPr id="73" name="Google Shape;73;h54f86f6ec43df85f_0_77" title="Modern Multistage AI Pipeline Flowchart.png"/>
          <p:cNvPicPr preferRelativeResize="0"/>
          <p:nvPr/>
        </p:nvPicPr>
        <p:blipFill rotWithShape="1">
          <a:blip r:embed="rId3">
            <a:alphaModFix/>
          </a:blip>
          <a:srcRect t="15306" b="10932"/>
          <a:stretch/>
        </p:blipFill>
        <p:spPr>
          <a:xfrm>
            <a:off x="988675" y="1127300"/>
            <a:ext cx="10214649" cy="424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54f86f6ec43df85f_0_94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 que significa segmentar qualquer coisa?</a:t>
            </a:r>
            <a:endParaRPr sz="2800"/>
          </a:p>
        </p:txBody>
      </p:sp>
      <p:sp>
        <p:nvSpPr>
          <p:cNvPr id="94" name="Google Shape;94;h54f86f6ec43df85f_0_94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95" name="Google Shape;95;h54f86f6ec43df85f_0_94"/>
          <p:cNvSpPr txBox="1"/>
          <p:nvPr/>
        </p:nvSpPr>
        <p:spPr>
          <a:xfrm>
            <a:off x="2194560" y="6419088"/>
            <a:ext cx="92355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Sec. 1 e 3.1</a:t>
            </a:r>
            <a:endParaRPr sz="1000"/>
          </a:p>
        </p:txBody>
      </p:sp>
      <p:sp>
        <p:nvSpPr>
          <p:cNvPr id="96" name="Google Shape;96;h54f86f6ec43df85f_0_94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CONTEXTO E MOTIVAÇÃO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7" name="Google Shape;97;h54f86f6ec43df85f_0_94" title="Things, Stuff, and Overlapping Parts.png"/>
          <p:cNvPicPr preferRelativeResize="0"/>
          <p:nvPr/>
        </p:nvPicPr>
        <p:blipFill rotWithShape="1">
          <a:blip r:embed="rId3">
            <a:alphaModFix/>
          </a:blip>
          <a:srcRect t="12392" b="13540"/>
          <a:stretch/>
        </p:blipFill>
        <p:spPr>
          <a:xfrm>
            <a:off x="1462948" y="1176350"/>
            <a:ext cx="9235500" cy="5130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54f86f6ec43df85f_0_252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 que significa segmentar qualquer coisa?</a:t>
            </a:r>
            <a:endParaRPr sz="2800"/>
          </a:p>
        </p:txBody>
      </p:sp>
      <p:sp>
        <p:nvSpPr>
          <p:cNvPr id="103" name="Google Shape;103;h54f86f6ec43df85f_0_252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105" name="Google Shape;105;h54f86f6ec43df85f_0_252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CONTEXTO E MOTIVAÇÃO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6" name="Google Shape;106;h54f86f6ec43df85f_0_252" title="Segmentação Semântica de Objetos e Regiões.png"/>
          <p:cNvPicPr preferRelativeResize="0"/>
          <p:nvPr/>
        </p:nvPicPr>
        <p:blipFill rotWithShape="1">
          <a:blip r:embed="rId3">
            <a:alphaModFix/>
          </a:blip>
          <a:srcRect t="15853"/>
          <a:stretch/>
        </p:blipFill>
        <p:spPr>
          <a:xfrm>
            <a:off x="839313" y="1042275"/>
            <a:ext cx="10701674" cy="506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 gargalo são os rótulos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114" name="Google Shape;114;p3"/>
          <p:cNvSpPr txBox="1"/>
          <p:nvPr/>
        </p:nvSpPr>
        <p:spPr>
          <a:xfrm>
            <a:off x="609608" y="2104650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524007" y="210465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SAM: cerca de 11M imagens / 1B máscaras</a:t>
            </a:r>
            <a:endParaRPr sz="2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609608" y="3183642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524007" y="318364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Anotação densa custa tempo e trabalho</a:t>
            </a:r>
            <a:endParaRPr sz="2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609608" y="4262634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524007" y="4262634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Hipótese: reutilizar estrutura aprendida na geração</a:t>
            </a:r>
            <a:endParaRPr sz="2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CONTEXTO E MOTIVAÇÃO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Onde as abordagens anteriores param</a:t>
            </a:r>
            <a:endParaRPr sz="2800"/>
          </a:p>
        </p:txBody>
      </p:sp>
      <p:sp>
        <p:nvSpPr>
          <p:cNvPr id="126" name="Google Shape;126;p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127" name="Google Shape;127;p4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Sec. 2 e 4.1</a:t>
            </a:r>
            <a:endParaRPr sz="1000"/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265177"/>
            <a:ext cx="11201400" cy="382472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DINO / UnSAM: forte viés para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objetos</a:t>
            </a:r>
            <a:endParaRPr sz="1600"/>
          </a:p>
        </p:txBody>
      </p:sp>
      <p:sp>
        <p:nvSpPr>
          <p:cNvPr id="131" name="Google Shape;131;p4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DiffSeg: fusão de atenção em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grupos</a:t>
            </a:r>
            <a:endParaRPr sz="1600"/>
          </a:p>
        </p:txBody>
      </p:sp>
      <p:sp>
        <p:nvSpPr>
          <p:cNvPr id="133" name="Google Shape;133;p4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M2N2: máscara interativa por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prompt</a:t>
            </a:r>
            <a:endParaRPr sz="1600"/>
          </a:p>
        </p:txBody>
      </p:sp>
      <p:sp>
        <p:nvSpPr>
          <p:cNvPr id="135" name="Google Shape;135;p4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DIFFUSE2SEG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54f86f6ec43df85f_0_126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Onde as abordagens anteriores param</a:t>
            </a:r>
            <a:endParaRPr sz="2800"/>
          </a:p>
        </p:txBody>
      </p:sp>
      <p:sp>
        <p:nvSpPr>
          <p:cNvPr id="141" name="Google Shape;141;h54f86f6ec43df85f_0_126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143" name="Google Shape;143;h54f86f6ec43df85f_0_126"/>
          <p:cNvSpPr/>
          <p:nvPr/>
        </p:nvSpPr>
        <p:spPr>
          <a:xfrm>
            <a:off x="406400" y="4929632"/>
            <a:ext cx="3621000" cy="822900"/>
          </a:xfrm>
          <a:prstGeom prst="rect">
            <a:avLst/>
          </a:prstGeom>
          <a:solidFill>
            <a:srgbClr val="7182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h54f86f6ec43df85f_0_126"/>
          <p:cNvSpPr txBox="1"/>
          <p:nvPr/>
        </p:nvSpPr>
        <p:spPr>
          <a:xfrm>
            <a:off x="534341" y="5007335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DINO / UnSAM: forte viés para</a:t>
            </a:r>
            <a:r>
              <a:rPr lang="pt-BR" sz="1800" b="1"/>
              <a:t> </a:t>
            </a: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objetos</a:t>
            </a:r>
            <a:endParaRPr sz="1800" b="1"/>
          </a:p>
        </p:txBody>
      </p:sp>
      <p:sp>
        <p:nvSpPr>
          <p:cNvPr id="145" name="Google Shape;145;h54f86f6ec43df85f_0_126"/>
          <p:cNvSpPr/>
          <p:nvPr/>
        </p:nvSpPr>
        <p:spPr>
          <a:xfrm>
            <a:off x="4219448" y="4929632"/>
            <a:ext cx="3621000" cy="822900"/>
          </a:xfrm>
          <a:prstGeom prst="rect">
            <a:avLst/>
          </a:prstGeom>
          <a:solidFill>
            <a:srgbClr val="1C7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h54f86f6ec43df85f_0_126"/>
          <p:cNvSpPr txBox="1"/>
          <p:nvPr/>
        </p:nvSpPr>
        <p:spPr>
          <a:xfrm>
            <a:off x="4347389" y="5007335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DiffSeg: fusão de atenção em</a:t>
            </a:r>
            <a:r>
              <a:rPr lang="pt-BR" sz="1800" b="1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grupos</a:t>
            </a:r>
            <a:endParaRPr sz="1800"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" name="Google Shape;147;h54f86f6ec43df85f_0_126"/>
          <p:cNvSpPr/>
          <p:nvPr/>
        </p:nvSpPr>
        <p:spPr>
          <a:xfrm>
            <a:off x="8032496" y="4929632"/>
            <a:ext cx="3621000" cy="822900"/>
          </a:xfrm>
          <a:prstGeom prst="rect">
            <a:avLst/>
          </a:prstGeom>
          <a:solidFill>
            <a:srgbClr val="0FBEB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h54f86f6ec43df85f_0_126"/>
          <p:cNvSpPr txBox="1"/>
          <p:nvPr/>
        </p:nvSpPr>
        <p:spPr>
          <a:xfrm>
            <a:off x="8160462" y="5007335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M2N2: máscara interativa por</a:t>
            </a:r>
            <a:r>
              <a:rPr lang="pt-BR" sz="1800" b="1"/>
              <a:t> </a:t>
            </a: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prompt</a:t>
            </a:r>
            <a:endParaRPr sz="1800" b="1"/>
          </a:p>
        </p:txBody>
      </p:sp>
      <p:sp>
        <p:nvSpPr>
          <p:cNvPr id="149" name="Google Shape;149;h54f86f6ec43df85f_0_126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DIFFUSE2SEG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50" name="Google Shape;150;h54f86f6ec43df85f_0_126" title="Modern Portuguese Comparison Chart.png"/>
          <p:cNvPicPr preferRelativeResize="0"/>
          <p:nvPr/>
        </p:nvPicPr>
        <p:blipFill rotWithShape="1">
          <a:blip r:embed="rId3">
            <a:alphaModFix/>
          </a:blip>
          <a:srcRect l="2534" t="4504" r="2562" b="10194"/>
          <a:stretch/>
        </p:blipFill>
        <p:spPr>
          <a:xfrm>
            <a:off x="1065488" y="1517948"/>
            <a:ext cx="10071067" cy="2995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54f86f6ec43df85f_0_110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 proposta em três etapas</a:t>
            </a:r>
            <a:endParaRPr sz="2800"/>
          </a:p>
        </p:txBody>
      </p:sp>
      <p:sp>
        <p:nvSpPr>
          <p:cNvPr id="171" name="Google Shape;171;h54f86f6ec43df85f_0_110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173" name="Google Shape;173;h54f86f6ec43df85f_0_110"/>
          <p:cNvSpPr/>
          <p:nvPr/>
        </p:nvSpPr>
        <p:spPr>
          <a:xfrm>
            <a:off x="457200" y="5285232"/>
            <a:ext cx="3621000" cy="822900"/>
          </a:xfrm>
          <a:prstGeom prst="rect">
            <a:avLst/>
          </a:prstGeom>
          <a:solidFill>
            <a:srgbClr val="4485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h54f86f6ec43df85f_0_110"/>
          <p:cNvSpPr txBox="1"/>
          <p:nvPr/>
        </p:nvSpPr>
        <p:spPr>
          <a:xfrm>
            <a:off x="585141" y="5362935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. SD2 congelado → afinidade</a:t>
            </a:r>
            <a:endParaRPr sz="1800" b="1"/>
          </a:p>
        </p:txBody>
      </p:sp>
      <p:sp>
        <p:nvSpPr>
          <p:cNvPr id="175" name="Google Shape;175;h54f86f6ec43df85f_0_110"/>
          <p:cNvSpPr/>
          <p:nvPr/>
        </p:nvSpPr>
        <p:spPr>
          <a:xfrm>
            <a:off x="4270248" y="5285232"/>
            <a:ext cx="3621000" cy="822900"/>
          </a:xfrm>
          <a:prstGeom prst="rect">
            <a:avLst/>
          </a:prstGeom>
          <a:solidFill>
            <a:srgbClr val="08A8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h54f86f6ec43df85f_0_110"/>
          <p:cNvSpPr txBox="1"/>
          <p:nvPr/>
        </p:nvSpPr>
        <p:spPr>
          <a:xfrm>
            <a:off x="4398189" y="5362935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2. Grade + propagação →</a:t>
            </a:r>
            <a:endParaRPr sz="1800" b="1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pseudo-máscaras</a:t>
            </a:r>
            <a:endParaRPr sz="1800" b="1"/>
          </a:p>
        </p:txBody>
      </p:sp>
      <p:sp>
        <p:nvSpPr>
          <p:cNvPr id="177" name="Google Shape;177;h54f86f6ec43df85f_0_110"/>
          <p:cNvSpPr/>
          <p:nvPr/>
        </p:nvSpPr>
        <p:spPr>
          <a:xfrm>
            <a:off x="8083296" y="5285232"/>
            <a:ext cx="3621000" cy="822900"/>
          </a:xfrm>
          <a:prstGeom prst="rect">
            <a:avLst/>
          </a:prstGeom>
          <a:solidFill>
            <a:srgbClr val="FD8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h54f86f6ec43df85f_0_110"/>
          <p:cNvSpPr txBox="1"/>
          <p:nvPr/>
        </p:nvSpPr>
        <p:spPr>
          <a:xfrm>
            <a:off x="8211262" y="5362935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3. Treinar e enriquecer o</a:t>
            </a:r>
            <a:endParaRPr sz="1800" b="1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estudante</a:t>
            </a:r>
            <a:endParaRPr sz="1800" b="1"/>
          </a:p>
        </p:txBody>
      </p:sp>
      <p:sp>
        <p:nvSpPr>
          <p:cNvPr id="179" name="Google Shape;179;h54f86f6ec43df85f_0_110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DIFFUSE2SEG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0" name="Google Shape;180;h54f86f6ec43df85f_0_110" title="Three-Row Semantic Segmentation Pipeline.png"/>
          <p:cNvPicPr preferRelativeResize="0"/>
          <p:nvPr/>
        </p:nvPicPr>
        <p:blipFill rotWithShape="1">
          <a:blip r:embed="rId3">
            <a:alphaModFix/>
          </a:blip>
          <a:srcRect t="13178" b="14452"/>
          <a:stretch/>
        </p:blipFill>
        <p:spPr>
          <a:xfrm>
            <a:off x="1130175" y="1141025"/>
            <a:ext cx="9931651" cy="404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54f86f6ec43df85f_0_142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Uma passagem, não uma geração completa</a:t>
            </a:r>
            <a:endParaRPr sz="2800"/>
          </a:p>
        </p:txBody>
      </p:sp>
      <p:sp>
        <p:nvSpPr>
          <p:cNvPr id="201" name="Google Shape;201;h54f86f6ec43df85f_0_142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203" name="Google Shape;203;h54f86f6ec43df85f_0_142"/>
          <p:cNvSpPr/>
          <p:nvPr/>
        </p:nvSpPr>
        <p:spPr>
          <a:xfrm>
            <a:off x="472450" y="4904232"/>
            <a:ext cx="3621000" cy="8229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4" name="Google Shape;204;h54f86f6ec43df85f_0_142"/>
          <p:cNvSpPr txBox="1"/>
          <p:nvPr/>
        </p:nvSpPr>
        <p:spPr>
          <a:xfrm>
            <a:off x="600391" y="4981935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RGB 1120² → latent de</a:t>
            </a:r>
            <a:endParaRPr sz="1800" b="1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aproximadamente 140²</a:t>
            </a:r>
            <a:endParaRPr sz="1800" b="1"/>
          </a:p>
        </p:txBody>
      </p:sp>
      <p:sp>
        <p:nvSpPr>
          <p:cNvPr id="205" name="Google Shape;205;h54f86f6ec43df85f_0_142"/>
          <p:cNvSpPr/>
          <p:nvPr/>
        </p:nvSpPr>
        <p:spPr>
          <a:xfrm>
            <a:off x="4285498" y="4904232"/>
            <a:ext cx="3621000" cy="8229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206" name="Google Shape;206;h54f86f6ec43df85f_0_142"/>
          <p:cNvSpPr txBox="1"/>
          <p:nvPr/>
        </p:nvSpPr>
        <p:spPr>
          <a:xfrm>
            <a:off x="4477414" y="4981935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U-Net em t=150; texto nulo</a:t>
            </a:r>
            <a:endParaRPr sz="1800" b="1"/>
          </a:p>
        </p:txBody>
      </p:sp>
      <p:sp>
        <p:nvSpPr>
          <p:cNvPr id="207" name="Google Shape;207;h54f86f6ec43df85f_0_142"/>
          <p:cNvSpPr/>
          <p:nvPr/>
        </p:nvSpPr>
        <p:spPr>
          <a:xfrm>
            <a:off x="8098546" y="4904232"/>
            <a:ext cx="3621000" cy="822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208" name="Google Shape;208;h54f86f6ec43df85f_0_142"/>
          <p:cNvSpPr txBox="1"/>
          <p:nvPr/>
        </p:nvSpPr>
        <p:spPr>
          <a:xfrm>
            <a:off x="8226512" y="4981935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Extrair autoatenção de alta</a:t>
            </a:r>
            <a:r>
              <a:rPr lang="pt-BR" sz="1800" b="1"/>
              <a:t> </a:t>
            </a: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resolução</a:t>
            </a:r>
            <a:endParaRPr sz="1800" b="1"/>
          </a:p>
        </p:txBody>
      </p:sp>
      <p:sp>
        <p:nvSpPr>
          <p:cNvPr id="209" name="Google Shape;209;h54f86f6ec43df85f_0_142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PSEUDO-MÁSCARAS</a:t>
            </a:r>
            <a:endParaRPr sz="1100"/>
          </a:p>
        </p:txBody>
      </p:sp>
      <p:pic>
        <p:nvPicPr>
          <p:cNvPr id="210" name="Google Shape;210;h54f86f6ec43df85f_0_142" title="Imagem RGB ao Fluxo de Autoatenção.png"/>
          <p:cNvPicPr preferRelativeResize="0"/>
          <p:nvPr/>
        </p:nvPicPr>
        <p:blipFill rotWithShape="1">
          <a:blip r:embed="rId3">
            <a:alphaModFix/>
          </a:blip>
          <a:srcRect t="24909" b="13722"/>
          <a:stretch/>
        </p:blipFill>
        <p:spPr>
          <a:xfrm>
            <a:off x="469993" y="1971466"/>
            <a:ext cx="10957253" cy="241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Da autoatenção ao grafo</a:t>
            </a:r>
            <a:endParaRPr sz="2800"/>
          </a:p>
        </p:txBody>
      </p:sp>
      <p:sp>
        <p:nvSpPr>
          <p:cNvPr id="216" name="Google Shape;216;p7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567" y="1088115"/>
            <a:ext cx="10240388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220" name="Google Shape;220;p7"/>
          <p:cNvSpPr txBox="1"/>
          <p:nvPr/>
        </p:nvSpPr>
        <p:spPr>
          <a:xfrm>
            <a:off x="585091" y="5362960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Aij representa afinidade entre</a:t>
            </a:r>
            <a:r>
              <a:rPr lang="pt-BR" sz="1800" b="1"/>
              <a:t> </a:t>
            </a: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tokens</a:t>
            </a:r>
            <a:endParaRPr sz="1800" b="1"/>
          </a:p>
        </p:txBody>
      </p:sp>
      <p:sp>
        <p:nvSpPr>
          <p:cNvPr id="221" name="Google Shape;221;p7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222" name="Google Shape;222;p7"/>
          <p:cNvSpPr txBox="1"/>
          <p:nvPr/>
        </p:nvSpPr>
        <p:spPr>
          <a:xfrm>
            <a:off x="4398202" y="5362973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Média das cabeças; pesos 0,85/ 0,15</a:t>
            </a:r>
            <a:endParaRPr sz="1800" b="1"/>
          </a:p>
        </p:txBody>
      </p:sp>
      <p:sp>
        <p:nvSpPr>
          <p:cNvPr id="223" name="Google Shape;223;p7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224" name="Google Shape;224;p7"/>
          <p:cNvSpPr txBox="1"/>
          <p:nvPr/>
        </p:nvSpPr>
        <p:spPr>
          <a:xfrm>
            <a:off x="8211337" y="5362960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Uma matriz A guia todos os</a:t>
            </a:r>
            <a:r>
              <a:rPr lang="pt-BR" sz="1800" b="1"/>
              <a:t> </a:t>
            </a: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prompts</a:t>
            </a:r>
            <a:endParaRPr sz="1800" b="1"/>
          </a:p>
        </p:txBody>
      </p:sp>
      <p:sp>
        <p:nvSpPr>
          <p:cNvPr id="225" name="Google Shape;225;p7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PSEUDO-MÁSCARAS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54f86f6ec43df85f_0_236"/>
          <p:cNvSpPr txBox="1"/>
          <p:nvPr/>
        </p:nvSpPr>
        <p:spPr>
          <a:xfrm>
            <a:off x="457200" y="3540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Por que propagar em vez de aplicar threshold?</a:t>
            </a:r>
            <a:endParaRPr sz="2800"/>
          </a:p>
        </p:txBody>
      </p:sp>
      <p:sp>
        <p:nvSpPr>
          <p:cNvPr id="246" name="Google Shape;246;h54f86f6ec43df85f_0_236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248" name="Google Shape;248;h54f86f6ec43df85f_0_236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PSEUDO-MÁSCARAS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49" name="Google Shape;249;h54f86f6ec43df85f_0_236" title="Prompt Propagation Across Real 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813" y="888024"/>
            <a:ext cx="9827769" cy="553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54f86f6ec43df85f_0_207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 energia equilibra coerência e ancoragem</a:t>
            </a:r>
            <a:endParaRPr sz="2800"/>
          </a:p>
        </p:txBody>
      </p:sp>
      <p:sp>
        <p:nvSpPr>
          <p:cNvPr id="270" name="Google Shape;270;h54f86f6ec43df85f_0_207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272" name="Google Shape;272;h54f86f6ec43df85f_0_207"/>
          <p:cNvSpPr/>
          <p:nvPr/>
        </p:nvSpPr>
        <p:spPr>
          <a:xfrm>
            <a:off x="457200" y="5285232"/>
            <a:ext cx="3621000" cy="8229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273" name="Google Shape;273;h54f86f6ec43df85f_0_207"/>
          <p:cNvSpPr txBox="1"/>
          <p:nvPr/>
        </p:nvSpPr>
        <p:spPr>
          <a:xfrm>
            <a:off x="585216" y="5394960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p=2: propagação linear</a:t>
            </a:r>
            <a:endParaRPr sz="1800" b="1"/>
          </a:p>
        </p:txBody>
      </p:sp>
      <p:sp>
        <p:nvSpPr>
          <p:cNvPr id="274" name="Google Shape;274;h54f86f6ec43df85f_0_207"/>
          <p:cNvSpPr/>
          <p:nvPr/>
        </p:nvSpPr>
        <p:spPr>
          <a:xfrm>
            <a:off x="4270248" y="5285232"/>
            <a:ext cx="3621000" cy="8229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275" name="Google Shape;275;h54f86f6ec43df85f_0_207"/>
          <p:cNvSpPr txBox="1"/>
          <p:nvPr/>
        </p:nvSpPr>
        <p:spPr>
          <a:xfrm>
            <a:off x="4398264" y="5394960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p&lt;2: comportamento que</a:t>
            </a:r>
            <a:endParaRPr sz="1800" b="1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preserva diferenças</a:t>
            </a:r>
            <a:endParaRPr sz="1800" b="1"/>
          </a:p>
        </p:txBody>
      </p:sp>
      <p:sp>
        <p:nvSpPr>
          <p:cNvPr id="276" name="Google Shape;276;h54f86f6ec43df85f_0_207"/>
          <p:cNvSpPr/>
          <p:nvPr/>
        </p:nvSpPr>
        <p:spPr>
          <a:xfrm>
            <a:off x="8083296" y="5285232"/>
            <a:ext cx="3621000" cy="8229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277" name="Google Shape;277;h54f86f6ec43df85f_0_207"/>
          <p:cNvSpPr txBox="1"/>
          <p:nvPr/>
        </p:nvSpPr>
        <p:spPr>
          <a:xfrm>
            <a:off x="8211312" y="5394960"/>
            <a:ext cx="3365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λ mantém ligação com o</a:t>
            </a:r>
            <a:endParaRPr sz="1800" b="1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prompt inicial</a:t>
            </a:r>
            <a:endParaRPr sz="1800" b="1"/>
          </a:p>
        </p:txBody>
      </p:sp>
      <p:sp>
        <p:nvSpPr>
          <p:cNvPr id="278" name="Google Shape;278;h54f86f6ec43df85f_0_207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PSEUDO-MÁSCARAS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79" name="Google Shape;279;h54f86f6ec43df85f_0_207" title="Regularização no Grafo e Ancoragem Local.png"/>
          <p:cNvPicPr preferRelativeResize="0"/>
          <p:nvPr/>
        </p:nvPicPr>
        <p:blipFill rotWithShape="1">
          <a:blip r:embed="rId3">
            <a:alphaModFix/>
          </a:blip>
          <a:srcRect t="11253" b="7320"/>
          <a:stretch/>
        </p:blipFill>
        <p:spPr>
          <a:xfrm>
            <a:off x="1289375" y="1145100"/>
            <a:ext cx="9613252" cy="36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54f86f6ec43df85f_0_222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Vários pontos podem descobrir a mesma região</a:t>
            </a:r>
            <a:endParaRPr sz="2800"/>
          </a:p>
        </p:txBody>
      </p:sp>
      <p:sp>
        <p:nvSpPr>
          <p:cNvPr id="300" name="Google Shape;300;h54f86f6ec43df85f_0_222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302" name="Google Shape;302;h54f86f6ec43df85f_0_222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PSEUDO-MÁSCARAS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03" name="Google Shape;303;h54f86f6ec43df85f_0_222" title="Real-Image Prompt Affinity Overview.png"/>
          <p:cNvPicPr preferRelativeResize="0"/>
          <p:nvPr/>
        </p:nvPicPr>
        <p:blipFill rotWithShape="1">
          <a:blip r:embed="rId3">
            <a:alphaModFix/>
          </a:blip>
          <a:srcRect t="9231"/>
          <a:stretch/>
        </p:blipFill>
        <p:spPr>
          <a:xfrm>
            <a:off x="1247725" y="1113100"/>
            <a:ext cx="9696538" cy="49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h54f86f6ec43df85f_0_261" title="Mapas Suaves_ Pipeline de Agrupamen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450" y="942800"/>
            <a:ext cx="10343097" cy="582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h54f86f6ec43df85f_0_261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Cortes diferentes recuperam escalas diferentes</a:t>
            </a:r>
            <a:endParaRPr sz="2800"/>
          </a:p>
        </p:txBody>
      </p:sp>
      <p:sp>
        <p:nvSpPr>
          <p:cNvPr id="325" name="Google Shape;325;h54f86f6ec43df85f_0_261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327" name="Google Shape;327;h54f86f6ec43df85f_0_261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PSEUDO-MÁSCARAS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54f86f6ec43df85f_0_304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Deduplicar sem apagar a hierarquia</a:t>
            </a:r>
            <a:endParaRPr sz="2800"/>
          </a:p>
        </p:txBody>
      </p:sp>
      <p:sp>
        <p:nvSpPr>
          <p:cNvPr id="372" name="Google Shape;372;h54f86f6ec43df85f_0_304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374" name="Google Shape;374;h54f86f6ec43df85f_0_304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75" name="Google Shape;375;h54f86f6ec43df85f_0_304" title="Filtragem Visual de Máscaras Automotivas.png"/>
          <p:cNvPicPr preferRelativeResize="0"/>
          <p:nvPr/>
        </p:nvPicPr>
        <p:blipFill rotWithShape="1">
          <a:blip r:embed="rId3">
            <a:alphaModFix/>
          </a:blip>
          <a:srcRect t="10238" b="6185"/>
          <a:stretch/>
        </p:blipFill>
        <p:spPr>
          <a:xfrm>
            <a:off x="1983938" y="1049900"/>
            <a:ext cx="8224126" cy="515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54f86f6ec43df85f_0_320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 estudante é outro modelo</a:t>
            </a:r>
            <a:endParaRPr sz="2800"/>
          </a:p>
        </p:txBody>
      </p:sp>
      <p:sp>
        <p:nvSpPr>
          <p:cNvPr id="396" name="Google Shape;396;h54f86f6ec43df85f_0_320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398" name="Google Shape;398;h54f86f6ec43df85f_0_320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99" name="Google Shape;399;h54f86f6ec43df85f_0_320" title="Arquitetura Funcional de Aprendizado de Máquina.png"/>
          <p:cNvPicPr preferRelativeResize="0"/>
          <p:nvPr/>
        </p:nvPicPr>
        <p:blipFill rotWithShape="1">
          <a:blip r:embed="rId3">
            <a:alphaModFix/>
          </a:blip>
          <a:srcRect t="11804" b="6054"/>
          <a:stretch/>
        </p:blipFill>
        <p:spPr>
          <a:xfrm>
            <a:off x="1478250" y="1034351"/>
            <a:ext cx="9235500" cy="5080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h54f86f6ec43df85f_0_391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 estudante é outro modelo</a:t>
            </a:r>
            <a:endParaRPr sz="2800"/>
          </a:p>
        </p:txBody>
      </p:sp>
      <p:sp>
        <p:nvSpPr>
          <p:cNvPr id="405" name="Google Shape;405;h54f86f6ec43df85f_0_391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407" name="Google Shape;407;h54f86f6ec43df85f_0_391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08" name="Google Shape;408;h54f86f6ec43df85f_0_391" title="Pipeline de Segmentação com Pseudo-Rótulos.png"/>
          <p:cNvPicPr preferRelativeResize="0"/>
          <p:nvPr/>
        </p:nvPicPr>
        <p:blipFill rotWithShape="1">
          <a:blip r:embed="rId3">
            <a:alphaModFix/>
          </a:blip>
          <a:srcRect t="4169"/>
          <a:stretch/>
        </p:blipFill>
        <p:spPr>
          <a:xfrm>
            <a:off x="2100713" y="1002600"/>
            <a:ext cx="7990574" cy="541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54f86f6ec43df85f_0_334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Rodada 2: olhar novamente para as partes</a:t>
            </a:r>
            <a:endParaRPr sz="2800"/>
          </a:p>
        </p:txBody>
      </p:sp>
      <p:sp>
        <p:nvSpPr>
          <p:cNvPr id="429" name="Google Shape;429;h54f86f6ec43df85f_0_334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431" name="Google Shape;431;h54f86f6ec43df85f_0_334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32" name="Google Shape;432;h54f86f6ec43df85f_0_334" title="Portuguese Process Flowchart Infographic.png"/>
          <p:cNvPicPr preferRelativeResize="0"/>
          <p:nvPr/>
        </p:nvPicPr>
        <p:blipFill rotWithShape="1">
          <a:blip r:embed="rId3">
            <a:alphaModFix/>
          </a:blip>
          <a:srcRect t="14030" b="9722"/>
          <a:stretch/>
        </p:blipFill>
        <p:spPr>
          <a:xfrm>
            <a:off x="179088" y="1094675"/>
            <a:ext cx="11833827" cy="50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h54f86f6ec43df85f_0_401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Rodada 2: olhar novamente para as partes</a:t>
            </a:r>
            <a:endParaRPr sz="2800"/>
          </a:p>
        </p:txBody>
      </p:sp>
      <p:sp>
        <p:nvSpPr>
          <p:cNvPr id="438" name="Google Shape;438;h54f86f6ec43df85f_0_401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439" name="Google Shape;439;h54f86f6ec43df85f_0_401"/>
          <p:cNvSpPr txBox="1"/>
          <p:nvPr/>
        </p:nvSpPr>
        <p:spPr>
          <a:xfrm>
            <a:off x="1749498" y="6419088"/>
            <a:ext cx="92355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000">
                <a:solidFill>
                  <a:srgbClr val="64748B"/>
                </a:solidFill>
                <a:ea typeface="Verdana"/>
                <a:sym typeface="Verdana"/>
              </a:rPr>
              <a:t>Rótulos semânticos utilizados apenas para interpretação visual -&gt;</a:t>
            </a:r>
            <a:r>
              <a:rPr lang="pt-BR" sz="1000" b="0">
                <a:solidFill>
                  <a:srgbClr val="64748B"/>
                </a:solidFill>
                <a:ea typeface="Verdana"/>
                <a:sym typeface="Verdana"/>
              </a:rPr>
              <a:t> </a:t>
            </a:r>
            <a:r>
              <a:rPr lang="pt-BR" sz="1000">
                <a:solidFill>
                  <a:srgbClr val="64748B"/>
                </a:solidFill>
                <a:ea typeface="Verdana"/>
                <a:sym typeface="Verdana"/>
              </a:rPr>
              <a:t>o método original é </a:t>
            </a:r>
            <a:r>
              <a:rPr lang="pt-BR" sz="1000" err="1">
                <a:solidFill>
                  <a:srgbClr val="64748B"/>
                </a:solidFill>
                <a:ea typeface="Verdana"/>
                <a:sym typeface="Verdana"/>
              </a:rPr>
              <a:t>class-agnostic</a:t>
            </a:r>
            <a:r>
              <a:rPr lang="pt-BR" sz="1000" b="0">
                <a:solidFill>
                  <a:srgbClr val="64748B"/>
                </a:solidFill>
                <a:ea typeface="Verdana"/>
                <a:sym typeface="Verdana"/>
              </a:rPr>
              <a:t>.</a:t>
            </a:r>
            <a:endParaRPr lang="en-US"/>
          </a:p>
        </p:txBody>
      </p:sp>
      <p:sp>
        <p:nvSpPr>
          <p:cNvPr id="440" name="Google Shape;440;h54f86f6ec43df85f_0_401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41" name="Google Shape;441;h54f86f6ec43df85f_0_401" title="Enriquecimento Hierárquico de Rótulos.png"/>
          <p:cNvPicPr preferRelativeResize="0"/>
          <p:nvPr/>
        </p:nvPicPr>
        <p:blipFill rotWithShape="1">
          <a:blip r:embed="rId3">
            <a:alphaModFix/>
          </a:blip>
          <a:srcRect t="8900"/>
          <a:stretch/>
        </p:blipFill>
        <p:spPr>
          <a:xfrm>
            <a:off x="938363" y="1016425"/>
            <a:ext cx="10315274" cy="528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5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 que foi treinado e onde foi avaliado</a:t>
            </a:r>
            <a:endParaRPr sz="2800"/>
          </a:p>
        </p:txBody>
      </p:sp>
      <p:sp>
        <p:nvSpPr>
          <p:cNvPr id="447" name="Google Shape;447;p15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pic>
        <p:nvPicPr>
          <p:cNvPr id="449" name="Google Shape;44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341" y="1234440"/>
            <a:ext cx="10389317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5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5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SA-1B: 100k / 200k / 400k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imagens</a:t>
            </a:r>
            <a:endParaRPr sz="1600"/>
          </a:p>
        </p:txBody>
      </p:sp>
      <p:sp>
        <p:nvSpPr>
          <p:cNvPr id="452" name="Google Shape;452;p15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5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Holdout de 1.000 fixa os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parâmetros</a:t>
            </a:r>
            <a:endParaRPr sz="1600"/>
          </a:p>
        </p:txBody>
      </p:sp>
      <p:sp>
        <p:nvSpPr>
          <p:cNvPr id="454" name="Google Shape;454;p15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5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Zero-shot: objetos, entidades e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partes</a:t>
            </a:r>
            <a:endParaRPr sz="1600"/>
          </a:p>
        </p:txBody>
      </p:sp>
      <p:sp>
        <p:nvSpPr>
          <p:cNvPr id="456" name="Google Shape;456;p15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h54f86f6ec43df85f_0_348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 que foi treinado e onde foi avaliado</a:t>
            </a:r>
            <a:endParaRPr sz="2800"/>
          </a:p>
        </p:txBody>
      </p:sp>
      <p:sp>
        <p:nvSpPr>
          <p:cNvPr id="462" name="Google Shape;462;h54f86f6ec43df85f_0_348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464" name="Google Shape;464;h54f86f6ec43df85f_0_348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65" name="Google Shape;465;h54f86f6ec43df85f_0_348" title="Pseudo-Label Training Pipeline.png"/>
          <p:cNvPicPr preferRelativeResize="0"/>
          <p:nvPr/>
        </p:nvPicPr>
        <p:blipFill rotWithShape="1">
          <a:blip r:embed="rId3">
            <a:alphaModFix/>
          </a:blip>
          <a:srcRect t="16153" b="9784"/>
          <a:stretch/>
        </p:blipFill>
        <p:spPr>
          <a:xfrm>
            <a:off x="195650" y="1156350"/>
            <a:ext cx="11800700" cy="491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h54f86f6ec43df85f_0_411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 que foi treinado e onde foi avaliado</a:t>
            </a:r>
            <a:endParaRPr sz="2800"/>
          </a:p>
        </p:txBody>
      </p:sp>
      <p:sp>
        <p:nvSpPr>
          <p:cNvPr id="471" name="Google Shape;471;h54f86f6ec43df85f_0_411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473" name="Google Shape;473;h54f86f6ec43df85f_0_411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74" name="Google Shape;474;h54f86f6ec43df85f_0_411" title="Pseudo-Rótulos ao Zero-Shot Multidomínio.png"/>
          <p:cNvPicPr preferRelativeResize="0"/>
          <p:nvPr/>
        </p:nvPicPr>
        <p:blipFill rotWithShape="1">
          <a:blip r:embed="rId3">
            <a:alphaModFix/>
          </a:blip>
          <a:srcRect t="6638"/>
          <a:stretch/>
        </p:blipFill>
        <p:spPr>
          <a:xfrm>
            <a:off x="1060413" y="963500"/>
            <a:ext cx="10071175" cy="529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h54f86f6ec43df85f_0_362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AR1000 mede cobertura de propostas</a:t>
            </a:r>
            <a:endParaRPr sz="2800"/>
          </a:p>
        </p:txBody>
      </p:sp>
      <p:sp>
        <p:nvSpPr>
          <p:cNvPr id="495" name="Google Shape;495;h54f86f6ec43df85f_0_362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497" name="Google Shape;497;h54f86f6ec43df85f_0_362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98" name="Google Shape;498;h54f86f6ec43df85f_0_362" title="IoU e Recall_ Guia Visual de Métricas.png"/>
          <p:cNvPicPr preferRelativeResize="0"/>
          <p:nvPr/>
        </p:nvPicPr>
        <p:blipFill rotWithShape="1">
          <a:blip r:embed="rId3">
            <a:alphaModFix/>
          </a:blip>
          <a:srcRect t="5758"/>
          <a:stretch/>
        </p:blipFill>
        <p:spPr>
          <a:xfrm>
            <a:off x="1097825" y="1035675"/>
            <a:ext cx="9965751" cy="528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7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Rótulos melhores, sobretudo em objetos grandes</a:t>
            </a:r>
            <a:endParaRPr sz="2800"/>
          </a:p>
        </p:txBody>
      </p:sp>
      <p:sp>
        <p:nvSpPr>
          <p:cNvPr id="504" name="Google Shape;504;p17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505" name="Google Shape;505;p17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Resultado ORIGINAL • Tabela 1, p. 10</a:t>
            </a:r>
            <a:endParaRPr sz="1000"/>
          </a:p>
        </p:txBody>
      </p:sp>
      <p:pic>
        <p:nvPicPr>
          <p:cNvPr id="506" name="Google Shape;50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324421"/>
            <a:ext cx="11201400" cy="3706238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7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7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AR: 20,7 vs. 16,4 do UnSAM</a:t>
            </a:r>
            <a:endParaRPr sz="1600"/>
          </a:p>
        </p:txBody>
      </p:sp>
      <p:sp>
        <p:nvSpPr>
          <p:cNvPr id="509" name="Google Shape;509;p17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7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+4,3 pontos percentuais no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agregado</a:t>
            </a:r>
            <a:endParaRPr sz="1600"/>
          </a:p>
        </p:txBody>
      </p:sp>
      <p:sp>
        <p:nvSpPr>
          <p:cNvPr id="511" name="Google Shape;511;p17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7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Pequenos: 2,6 vs. 5,7; limitação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real</a:t>
            </a:r>
            <a:endParaRPr sz="1600"/>
          </a:p>
        </p:txBody>
      </p:sp>
      <p:sp>
        <p:nvSpPr>
          <p:cNvPr id="513" name="Google Shape;513;p17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8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Os ganhos transferem para cinco domínios</a:t>
            </a:r>
            <a:endParaRPr sz="2800"/>
          </a:p>
        </p:txBody>
      </p:sp>
      <p:sp>
        <p:nvSpPr>
          <p:cNvPr id="519" name="Google Shape;519;p18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520" name="Google Shape;520;p18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Resultado ORIGINAL • Tabela 2, p. 11</a:t>
            </a:r>
            <a:endParaRPr sz="1000"/>
          </a:p>
        </p:txBody>
      </p:sp>
      <p:pic>
        <p:nvPicPr>
          <p:cNvPr id="521" name="Google Shape;5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321989"/>
            <a:ext cx="11201400" cy="3711102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8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8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+4,3 a +7,1 p.p. frente ao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UnSAM</a:t>
            </a:r>
            <a:endParaRPr sz="1600"/>
          </a:p>
        </p:txBody>
      </p:sp>
      <p:sp>
        <p:nvSpPr>
          <p:cNvPr id="524" name="Google Shape;524;p18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8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Inclui stuff e partes</a:t>
            </a:r>
            <a:endParaRPr sz="1600"/>
          </a:p>
        </p:txBody>
      </p:sp>
      <p:sp>
        <p:nvSpPr>
          <p:cNvPr id="526" name="Google Shape;526;p18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8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CutLER segue maior em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ADE20K e UVO</a:t>
            </a:r>
            <a:endParaRPr sz="1600"/>
          </a:p>
        </p:txBody>
      </p:sp>
      <p:sp>
        <p:nvSpPr>
          <p:cNvPr id="528" name="Google Shape;528;p18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9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No estudante, a fonte dos rótulos importa</a:t>
            </a:r>
            <a:endParaRPr sz="2800"/>
          </a:p>
        </p:txBody>
      </p:sp>
      <p:sp>
        <p:nvSpPr>
          <p:cNvPr id="534" name="Google Shape;534;p19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535" name="Google Shape;535;p19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Resultado ORIGINAL • Tabela 3, p. 12</a:t>
            </a:r>
            <a:endParaRPr sz="1000"/>
          </a:p>
        </p:txBody>
      </p:sp>
      <p:pic>
        <p:nvPicPr>
          <p:cNvPr id="536" name="Google Shape;53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438458"/>
            <a:ext cx="11201400" cy="3478163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9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Sem detector: +7,7 p.p. em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stuff+things</a:t>
            </a:r>
            <a:endParaRPr sz="1600"/>
          </a:p>
        </p:txBody>
      </p:sp>
      <p:sp>
        <p:nvSpPr>
          <p:cNvPr id="539" name="Google Shape;539;p19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9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Com CutLER / 400k: 43,8 vs.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41,7</a:t>
            </a:r>
            <a:endParaRPr sz="1600"/>
          </a:p>
        </p:txBody>
      </p:sp>
      <p:sp>
        <p:nvSpPr>
          <p:cNvPr id="541" name="Google Shape;541;p19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9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Things / 400k: 41,1 vs. 41,3</a:t>
            </a:r>
            <a:endParaRPr sz="1600"/>
          </a:p>
        </p:txBody>
      </p:sp>
      <p:sp>
        <p:nvSpPr>
          <p:cNvPr id="543" name="Google Shape;543;p19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0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 que as imagens do artigo mostram</a:t>
            </a:r>
            <a:endParaRPr sz="2800"/>
          </a:p>
        </p:txBody>
      </p:sp>
      <p:sp>
        <p:nvSpPr>
          <p:cNvPr id="549" name="Google Shape;549;p20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550" name="Google Shape;550;p20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Resultado ORIGINAL • Figura 1, p. 2</a:t>
            </a:r>
            <a:endParaRPr sz="1000"/>
          </a:p>
        </p:txBody>
      </p:sp>
      <p:pic>
        <p:nvPicPr>
          <p:cNvPr id="551" name="Google Shape;55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5460" y="1234440"/>
            <a:ext cx="864108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0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0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Comparação qualitativa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selecionada pelos autores</a:t>
            </a:r>
            <a:endParaRPr sz="1600"/>
          </a:p>
        </p:txBody>
      </p:sp>
      <p:sp>
        <p:nvSpPr>
          <p:cNvPr id="554" name="Google Shape;554;p20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0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Cobertura de fundo e limites de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entidades</a:t>
            </a:r>
            <a:endParaRPr sz="1600"/>
          </a:p>
        </p:txBody>
      </p:sp>
      <p:sp>
        <p:nvSpPr>
          <p:cNvPr id="556" name="Google Shape;556;p20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0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Exemplos não substituem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avaliação sistemática</a:t>
            </a:r>
            <a:endParaRPr sz="1600"/>
          </a:p>
        </p:txBody>
      </p:sp>
      <p:sp>
        <p:nvSpPr>
          <p:cNvPr id="558" name="Google Shape;558;p20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1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Ablações: preservar propostas melhora recall</a:t>
            </a:r>
            <a:endParaRPr sz="2800"/>
          </a:p>
        </p:txBody>
      </p:sp>
      <p:sp>
        <p:nvSpPr>
          <p:cNvPr id="564" name="Google Shape;564;p21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565" name="Google Shape;565;p21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Resultado ORIGINAL • Tabelas 4–5</a:t>
            </a:r>
            <a:endParaRPr sz="1000"/>
          </a:p>
        </p:txBody>
      </p:sp>
      <p:pic>
        <p:nvPicPr>
          <p:cNvPr id="566" name="Google Shape;56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396423"/>
            <a:ext cx="11201400" cy="356223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1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1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3 → 6 níveis: +1,8 p.p.</a:t>
            </a:r>
            <a:endParaRPr sz="1600"/>
          </a:p>
        </p:txBody>
      </p:sp>
      <p:sp>
        <p:nvSpPr>
          <p:cNvPr id="569" name="Google Shape;569;p21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NMS 0,5 → 0,9: +3,1 p.p.</a:t>
            </a:r>
            <a:endParaRPr sz="1600"/>
          </a:p>
        </p:txBody>
      </p:sp>
      <p:sp>
        <p:nvSpPr>
          <p:cNvPr id="571" name="Google Shape;571;p21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1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Crops em SA-1B: +3,7 p.p.</a:t>
            </a:r>
            <a:endParaRPr sz="1600"/>
          </a:p>
        </p:txBody>
      </p:sp>
      <p:sp>
        <p:nvSpPr>
          <p:cNvPr id="573" name="Google Shape;573;p21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TREINAMENTO E RESULTADOS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2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Poucos rótulos humanos: qual é a comparação?</a:t>
            </a:r>
            <a:endParaRPr sz="2800"/>
          </a:p>
        </p:txBody>
      </p:sp>
      <p:sp>
        <p:nvSpPr>
          <p:cNvPr id="579" name="Google Shape;579;p22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580" name="Google Shape;580;p22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Resultado ORIGINAL • Sec. 4.4 / Figura 4</a:t>
            </a:r>
            <a:endParaRPr sz="1000"/>
          </a:p>
        </p:txBody>
      </p:sp>
      <p:sp>
        <p:nvSpPr>
          <p:cNvPr id="581" name="Google Shape;581;p22"/>
          <p:cNvSpPr txBox="1"/>
          <p:nvPr/>
        </p:nvSpPr>
        <p:spPr>
          <a:xfrm>
            <a:off x="609595" y="1850363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582" name="Google Shape;582;p22"/>
          <p:cNvSpPr txBox="1"/>
          <p:nvPr/>
        </p:nvSpPr>
        <p:spPr>
          <a:xfrm>
            <a:off x="1523995" y="1850363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Referência supervisionada 100k: 51,1 mAR</a:t>
            </a:r>
            <a:endParaRPr sz="2500"/>
          </a:p>
        </p:txBody>
      </p:sp>
      <p:sp>
        <p:nvSpPr>
          <p:cNvPr id="583" name="Google Shape;583;p22"/>
          <p:cNvSpPr txBox="1"/>
          <p:nvPr/>
        </p:nvSpPr>
        <p:spPr>
          <a:xfrm>
            <a:off x="609595" y="2929355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584" name="Google Shape;584;p22"/>
          <p:cNvSpPr txBox="1"/>
          <p:nvPr/>
        </p:nvSpPr>
        <p:spPr>
          <a:xfrm>
            <a:off x="1523995" y="2929355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100 imagens de ajuste: 93,5% da referência</a:t>
            </a:r>
            <a:endParaRPr sz="2500"/>
          </a:p>
        </p:txBody>
      </p:sp>
      <p:sp>
        <p:nvSpPr>
          <p:cNvPr id="585" name="Google Shape;585;p22"/>
          <p:cNvSpPr txBox="1"/>
          <p:nvPr/>
        </p:nvSpPr>
        <p:spPr>
          <a:xfrm>
            <a:off x="609595" y="4008347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586" name="Google Shape;586;p22"/>
          <p:cNvSpPr txBox="1"/>
          <p:nvPr/>
        </p:nvSpPr>
        <p:spPr>
          <a:xfrm>
            <a:off x="1523995" y="4008347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10k: ganho reportado de 1,4 p.p.</a:t>
            </a:r>
            <a:endParaRPr sz="2500"/>
          </a:p>
        </p:txBody>
      </p:sp>
      <p:sp>
        <p:nvSpPr>
          <p:cNvPr id="587" name="Google Shape;587;p22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REPRODUÇÃO E ANÁLISE CRÍTICA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Nossa reprodução: o que entrou no teste</a:t>
            </a:r>
            <a:endParaRPr sz="2800"/>
          </a:p>
        </p:txBody>
      </p:sp>
      <p:sp>
        <p:nvSpPr>
          <p:cNvPr id="593" name="Google Shape;593;p23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594" name="Google Shape;594;p23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REPRODUÇÃO PARCIAL • scripts e NPZ locais</a:t>
            </a:r>
            <a:endParaRPr sz="1000"/>
          </a:p>
        </p:txBody>
      </p:sp>
      <p:pic>
        <p:nvPicPr>
          <p:cNvPr id="595" name="Google Shape;59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272455"/>
            <a:ext cx="11201400" cy="3810169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23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3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Algoritmos de propagação e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fusão</a:t>
            </a:r>
            <a:endParaRPr sz="1600"/>
          </a:p>
        </p:txBody>
      </p:sp>
      <p:sp>
        <p:nvSpPr>
          <p:cNvPr id="598" name="Google Shape;598;p23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3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Grafo RGB/posição, 24² pixels,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16 prompts</a:t>
            </a:r>
            <a:endParaRPr sz="1600"/>
          </a:p>
        </p:txBody>
      </p:sp>
      <p:sp>
        <p:nvSpPr>
          <p:cNvPr id="600" name="Google Shape;600;p23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Sem SD2, CascadePSP ou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treinamento</a:t>
            </a:r>
            <a:endParaRPr sz="1600"/>
          </a:p>
        </p:txBody>
      </p:sp>
      <p:sp>
        <p:nvSpPr>
          <p:cNvPr id="602" name="Google Shape;602;p23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REPRODUÇÃO E ANÁLISE CRÍTICA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4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Protocolo pequeno, mas verificável</a:t>
            </a:r>
            <a:endParaRPr sz="2800"/>
          </a:p>
        </p:txBody>
      </p:sp>
      <p:sp>
        <p:nvSpPr>
          <p:cNvPr id="608" name="Google Shape;608;p2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609" name="Google Shape;609;p24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REPRODUÇÃO PARCIAL • protocol.json / métricas</a:t>
            </a:r>
            <a:endParaRPr sz="1000"/>
          </a:p>
        </p:txBody>
      </p:sp>
      <p:pic>
        <p:nvPicPr>
          <p:cNvPr id="610" name="Google Shape;61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373785"/>
            <a:ext cx="11201400" cy="360751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4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4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p=2 / 1,6 / 1,2; sementes 7 / 23/ 42</a:t>
            </a:r>
            <a:endParaRPr lang="en-US" sz="1600"/>
          </a:p>
        </p:txBody>
      </p:sp>
      <p:sp>
        <p:nvSpPr>
          <p:cNvPr id="613" name="Google Shape;613;p24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4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Mesmos grafo, λ, prompts e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cortes por semente</a:t>
            </a:r>
            <a:endParaRPr sz="1600"/>
          </a:p>
        </p:txBody>
      </p:sp>
      <p:sp>
        <p:nvSpPr>
          <p:cNvPr id="615" name="Google Shape;615;p24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4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Caso linear validado por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solução fechada</a:t>
            </a:r>
            <a:endParaRPr sz="1600"/>
          </a:p>
        </p:txBody>
      </p:sp>
      <p:sp>
        <p:nvSpPr>
          <p:cNvPr id="617" name="Google Shape;617;p24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REPRODUÇÃO E ANÁLISE CRÍTICA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5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 resultado local foi diferente do paper</a:t>
            </a:r>
            <a:endParaRPr sz="2800"/>
          </a:p>
        </p:txBody>
      </p:sp>
      <p:sp>
        <p:nvSpPr>
          <p:cNvPr id="623" name="Google Shape;623;p25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624" name="Google Shape;624;p2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RESULTADO LOCAL • 9 execuções • mean ± std amostral</a:t>
            </a:r>
            <a:endParaRPr sz="1000"/>
          </a:p>
        </p:txBody>
      </p:sp>
      <p:pic>
        <p:nvPicPr>
          <p:cNvPr id="625" name="Google Shape;62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544" y="1234440"/>
            <a:ext cx="10886912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5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5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p=2: 56,1% ± 9,6 de recall toy</a:t>
            </a:r>
            <a:endParaRPr sz="1600"/>
          </a:p>
        </p:txBody>
      </p:sp>
      <p:sp>
        <p:nvSpPr>
          <p:cNvPr id="628" name="Google Shape;628;p25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5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p=1,6: 25,0%; p=1,2: 45,0%</a:t>
            </a:r>
            <a:endParaRPr sz="1600"/>
          </a:p>
        </p:txBody>
      </p:sp>
      <p:sp>
        <p:nvSpPr>
          <p:cNvPr id="630" name="Google Shape;630;p25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5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Não houve reprodução do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ganho de p&lt;2</a:t>
            </a:r>
            <a:endParaRPr sz="1600"/>
          </a:p>
        </p:txBody>
      </p:sp>
      <p:sp>
        <p:nvSpPr>
          <p:cNvPr id="632" name="Google Shape;632;p25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REPRODUÇÃO E ANÁLISE CRÍTICA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6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Por que os resultados não são comparáveis?</a:t>
            </a:r>
            <a:endParaRPr sz="2800"/>
          </a:p>
        </p:txBody>
      </p:sp>
      <p:sp>
        <p:nvSpPr>
          <p:cNvPr id="638" name="Google Shape;638;p26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639" name="Google Shape;639;p26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RESULTADO LOCAL • semente 7; análise própria</a:t>
            </a:r>
            <a:endParaRPr sz="1000"/>
          </a:p>
        </p:txBody>
      </p:sp>
      <p:pic>
        <p:nvPicPr>
          <p:cNvPr id="640" name="Google Shape;64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235384"/>
            <a:ext cx="11201400" cy="3884313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26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6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600" b="0" err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Autoatenção</a:t>
            </a: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 SD2 </a:t>
            </a:r>
            <a:r>
              <a:rPr lang="pt-BR" sz="160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foi substituída</a:t>
            </a: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 por similaridade</a:t>
            </a:r>
            <a:r>
              <a:rPr lang="pt-BR" sz="160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RGB</a:t>
            </a:r>
            <a:endParaRPr lang="en-US" sz="1600"/>
          </a:p>
        </p:txBody>
      </p:sp>
      <p:sp>
        <p:nvSpPr>
          <p:cNvPr id="643" name="Google Shape;643;p26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6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Mesma cena toy; nenhum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benchmark do paper</a:t>
            </a:r>
            <a:endParaRPr sz="1600"/>
          </a:p>
        </p:txBody>
      </p:sp>
      <p:sp>
        <p:nvSpPr>
          <p:cNvPr id="645" name="Google Shape;645;p26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6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Pior fusão em p=1,6: entidades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desaparecem</a:t>
            </a:r>
            <a:endParaRPr sz="1600"/>
          </a:p>
        </p:txBody>
      </p:sp>
      <p:sp>
        <p:nvSpPr>
          <p:cNvPr id="647" name="Google Shape;647;p26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REPRODUÇÃO E ANÁLISE CRÍTICA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7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Fotografia real: apenas demonstração conceitual</a:t>
            </a:r>
            <a:endParaRPr sz="2800"/>
          </a:p>
        </p:txBody>
      </p:sp>
      <p:sp>
        <p:nvSpPr>
          <p:cNvPr id="653" name="Google Shape;653;p27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654" name="Google Shape;654;p27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DEMONSTRAÇÃO CONCEITUAL • imagem COCO / algoritmo local</a:t>
            </a:r>
            <a:endParaRPr sz="1000"/>
          </a:p>
        </p:txBody>
      </p:sp>
      <p:pic>
        <p:nvPicPr>
          <p:cNvPr id="655" name="Google Shape;65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273302"/>
            <a:ext cx="11201400" cy="3808476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27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7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Imagem COCO 39769 já usada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no ciclo 3</a:t>
            </a:r>
            <a:endParaRPr sz="1600"/>
          </a:p>
        </p:txBody>
      </p:sp>
      <p:sp>
        <p:nvSpPr>
          <p:cNvPr id="658" name="Google Shape;658;p27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7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Partições vêm do mesmo proxy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RGB</a:t>
            </a:r>
            <a:endParaRPr sz="1600"/>
          </a:p>
        </p:txBody>
      </p:sp>
      <p:sp>
        <p:nvSpPr>
          <p:cNvPr id="660" name="Google Shape;660;p27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7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Não há benchmark COCO ou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identificação de classe</a:t>
            </a:r>
            <a:endParaRPr sz="1600"/>
          </a:p>
        </p:txBody>
      </p:sp>
      <p:sp>
        <p:nvSpPr>
          <p:cNvPr id="662" name="Google Shape;662;p27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REPRODUÇÃO E ANÁLISE CRÍTICA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Limitações e custo: onde o método pode falhar</a:t>
            </a:r>
            <a:endParaRPr sz="2800"/>
          </a:p>
        </p:txBody>
      </p:sp>
      <p:sp>
        <p:nvSpPr>
          <p:cNvPr id="668" name="Google Shape;668;p28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670" name="Google Shape;670;p28"/>
          <p:cNvSpPr txBox="1"/>
          <p:nvPr/>
        </p:nvSpPr>
        <p:spPr>
          <a:xfrm>
            <a:off x="594358" y="2064175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671" name="Google Shape;671;p28"/>
          <p:cNvSpPr txBox="1"/>
          <p:nvPr/>
        </p:nvSpPr>
        <p:spPr>
          <a:xfrm>
            <a:off x="1508757" y="2064175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Latent: objetos pequenos podem desaparecer</a:t>
            </a:r>
            <a:endParaRPr sz="2500"/>
          </a:p>
        </p:txBody>
      </p:sp>
      <p:sp>
        <p:nvSpPr>
          <p:cNvPr id="672" name="Google Shape;672;p28"/>
          <p:cNvSpPr txBox="1"/>
          <p:nvPr/>
        </p:nvSpPr>
        <p:spPr>
          <a:xfrm>
            <a:off x="594358" y="3143167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673" name="Google Shape;673;p28"/>
          <p:cNvSpPr txBox="1"/>
          <p:nvPr/>
        </p:nvSpPr>
        <p:spPr>
          <a:xfrm>
            <a:off x="1508757" y="3143167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Texturas podem produzir sobresegmentação</a:t>
            </a:r>
            <a:endParaRPr sz="2500"/>
          </a:p>
        </p:txBody>
      </p:sp>
      <p:sp>
        <p:nvSpPr>
          <p:cNvPr id="674" name="Google Shape;674;p28"/>
          <p:cNvSpPr txBox="1"/>
          <p:nvPr/>
        </p:nvSpPr>
        <p:spPr>
          <a:xfrm>
            <a:off x="594358" y="4222159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675" name="Google Shape;675;p28"/>
          <p:cNvSpPr txBox="1"/>
          <p:nvPr/>
        </p:nvSpPr>
        <p:spPr>
          <a:xfrm>
            <a:off x="1508757" y="4222159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Afinidade densa 140²: 1,43 GiB só em FP32</a:t>
            </a:r>
            <a:endParaRPr sz="2500"/>
          </a:p>
        </p:txBody>
      </p:sp>
      <p:sp>
        <p:nvSpPr>
          <p:cNvPr id="676" name="Google Shape;676;p28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APLICAÇÃO E CONCLUSÕES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h54f86f6ec43df85f_0_376"/>
          <p:cNvSpPr txBox="1"/>
          <p:nvPr/>
        </p:nvSpPr>
        <p:spPr>
          <a:xfrm>
            <a:off x="457200" y="52120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O que isso oferece para pistas SAR?</a:t>
            </a:r>
            <a:endParaRPr sz="2800"/>
          </a:p>
        </p:txBody>
      </p:sp>
      <p:sp>
        <p:nvSpPr>
          <p:cNvPr id="697" name="Google Shape;697;h54f86f6ec43df85f_0_376"/>
          <p:cNvSpPr txBox="1"/>
          <p:nvPr/>
        </p:nvSpPr>
        <p:spPr>
          <a:xfrm>
            <a:off x="457200" y="6419088"/>
            <a:ext cx="1828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699" name="Google Shape;699;h54f86f6ec43df85f_0_376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APLICAÇÃO E CONCLUSÕES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700" name="Google Shape;700;h54f86f6ec43df85f_0_376" title="Fluxograma de Pesquisa e Validação SAR.png"/>
          <p:cNvPicPr preferRelativeResize="0"/>
          <p:nvPr/>
        </p:nvPicPr>
        <p:blipFill rotWithShape="1">
          <a:blip r:embed="rId3">
            <a:alphaModFix/>
          </a:blip>
          <a:srcRect t="15469" b="14311"/>
          <a:stretch/>
        </p:blipFill>
        <p:spPr>
          <a:xfrm>
            <a:off x="853440" y="1503744"/>
            <a:ext cx="10454638" cy="4107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0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Experimento futuro com controle</a:t>
            </a:r>
            <a:endParaRPr sz="2800"/>
          </a:p>
        </p:txBody>
      </p:sp>
      <p:sp>
        <p:nvSpPr>
          <p:cNvPr id="706" name="Google Shape;706;p30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708" name="Google Shape;708;p30"/>
          <p:cNvSpPr txBox="1"/>
          <p:nvPr/>
        </p:nvSpPr>
        <p:spPr>
          <a:xfrm>
            <a:off x="609595" y="1892813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709" name="Google Shape;709;p30"/>
          <p:cNvSpPr txBox="1"/>
          <p:nvPr/>
        </p:nvSpPr>
        <p:spPr>
          <a:xfrm>
            <a:off x="1523995" y="1892813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Congelar split, checkpoint e baseline SAM</a:t>
            </a:r>
            <a:endParaRPr sz="2500"/>
          </a:p>
        </p:txBody>
      </p:sp>
      <p:sp>
        <p:nvSpPr>
          <p:cNvPr id="710" name="Google Shape;710;p30"/>
          <p:cNvSpPr txBox="1"/>
          <p:nvPr/>
        </p:nvSpPr>
        <p:spPr>
          <a:xfrm>
            <a:off x="609595" y="2971805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711" name="Google Shape;711;p30"/>
          <p:cNvSpPr txBox="1"/>
          <p:nvPr/>
        </p:nvSpPr>
        <p:spPr>
          <a:xfrm>
            <a:off x="1523995" y="2971805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Avaliar </a:t>
            </a:r>
            <a:r>
              <a:rPr lang="pt-BR" sz="2500" b="0" err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crops</a:t>
            </a:r>
            <a:r>
              <a:rPr lang="pt-BR" sz="250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 depois qualidade dos </a:t>
            </a:r>
            <a:r>
              <a:rPr lang="pt-BR" sz="2500" b="0" err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pseudo-rótulos</a:t>
            </a:r>
            <a:endParaRPr sz="2500" err="1"/>
          </a:p>
        </p:txBody>
      </p:sp>
      <p:sp>
        <p:nvSpPr>
          <p:cNvPr id="712" name="Google Shape;712;p30"/>
          <p:cNvSpPr txBox="1"/>
          <p:nvPr/>
        </p:nvSpPr>
        <p:spPr>
          <a:xfrm>
            <a:off x="609595" y="4050797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713" name="Google Shape;713;p30"/>
          <p:cNvSpPr txBox="1"/>
          <p:nvPr/>
        </p:nvSpPr>
        <p:spPr>
          <a:xfrm>
            <a:off x="1523995" y="4050797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Teste final: IoU/Dice, falsos positivos e custo</a:t>
            </a:r>
            <a:endParaRPr sz="2500"/>
          </a:p>
        </p:txBody>
      </p:sp>
      <p:sp>
        <p:nvSpPr>
          <p:cNvPr id="714" name="Google Shape;714;p30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APLICAÇÃO E CONCLUSÕES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1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Conclusões</a:t>
            </a:r>
            <a:endParaRPr sz="2800"/>
          </a:p>
        </p:txBody>
      </p:sp>
      <p:sp>
        <p:nvSpPr>
          <p:cNvPr id="720" name="Google Shape;720;p31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722" name="Google Shape;722;p31"/>
          <p:cNvSpPr txBox="1"/>
          <p:nvPr/>
        </p:nvSpPr>
        <p:spPr>
          <a:xfrm>
            <a:off x="594358" y="1892813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723" name="Google Shape;723;p31"/>
          <p:cNvSpPr txBox="1"/>
          <p:nvPr/>
        </p:nvSpPr>
        <p:spPr>
          <a:xfrm>
            <a:off x="1508757" y="1892813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Representações generativas podem supervisionar segmentação</a:t>
            </a:r>
            <a:endParaRPr sz="2500"/>
          </a:p>
        </p:txBody>
      </p:sp>
      <p:sp>
        <p:nvSpPr>
          <p:cNvPr id="724" name="Google Shape;724;p31"/>
          <p:cNvSpPr txBox="1"/>
          <p:nvPr/>
        </p:nvSpPr>
        <p:spPr>
          <a:xfrm>
            <a:off x="594358" y="2971805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725" name="Google Shape;725;p31"/>
          <p:cNvSpPr txBox="1"/>
          <p:nvPr/>
        </p:nvSpPr>
        <p:spPr>
          <a:xfrm>
            <a:off x="1508757" y="2971805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Propagação + hierarquia conectam pontos a entidades</a:t>
            </a:r>
            <a:endParaRPr sz="2500"/>
          </a:p>
        </p:txBody>
      </p:sp>
      <p:sp>
        <p:nvSpPr>
          <p:cNvPr id="726" name="Google Shape;726;p31"/>
          <p:cNvSpPr txBox="1"/>
          <p:nvPr/>
        </p:nvSpPr>
        <p:spPr>
          <a:xfrm>
            <a:off x="594358" y="4050797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727" name="Google Shape;727;p31"/>
          <p:cNvSpPr txBox="1"/>
          <p:nvPr/>
        </p:nvSpPr>
        <p:spPr>
          <a:xfrm>
            <a:off x="1508757" y="4050797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Nossa reprodução explica operações, não valida o benchmark</a:t>
            </a:r>
            <a:endParaRPr sz="2500"/>
          </a:p>
        </p:txBody>
      </p:sp>
      <p:sp>
        <p:nvSpPr>
          <p:cNvPr id="728" name="Google Shape;728;p31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4F8B"/>
                </a:solidFill>
              </a:rPr>
              <a:t>APLICAÇÃO E CONCLUSÕES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3"/>
          <p:cNvSpPr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Backup: timestep e compromisso p / precisão</a:t>
            </a:r>
            <a:endParaRPr sz="2800"/>
          </a:p>
        </p:txBody>
      </p:sp>
      <p:sp>
        <p:nvSpPr>
          <p:cNvPr id="735" name="Google Shape;735;p33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736" name="Google Shape;736;p33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Resultado ORIGINAL • Figura 5, p. 13</a:t>
            </a:r>
            <a:endParaRPr sz="1000"/>
          </a:p>
        </p:txBody>
      </p:sp>
      <p:pic>
        <p:nvPicPr>
          <p:cNvPr id="737" name="Google Shape;73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447481"/>
            <a:ext cx="11201400" cy="3460118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33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33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p=1,2 favorece recall; p=1,6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favorece mAP</a:t>
            </a:r>
            <a:endParaRPr sz="1600"/>
          </a:p>
        </p:txBody>
      </p:sp>
      <p:sp>
        <p:nvSpPr>
          <p:cNvPr id="740" name="Google Shape;740;p33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3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Curvas de timestep são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normalizadas por métrica</a:t>
            </a:r>
            <a:endParaRPr sz="1600"/>
          </a:p>
        </p:txBody>
      </p:sp>
      <p:sp>
        <p:nvSpPr>
          <p:cNvPr id="742" name="Google Shape;742;p33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Não extraímos valores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intermediários dessas curvas</a:t>
            </a:r>
            <a:endParaRPr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4"/>
          <p:cNvSpPr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4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Backup: configuração para treino integral</a:t>
            </a:r>
            <a:endParaRPr sz="2800"/>
          </a:p>
        </p:txBody>
      </p:sp>
      <p:sp>
        <p:nvSpPr>
          <p:cNvPr id="750" name="Google Shape;750;p3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751" name="Google Shape;751;p34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Apêndice A.3, p. 21</a:t>
            </a:r>
            <a:endParaRPr sz="1000"/>
          </a:p>
        </p:txBody>
      </p:sp>
      <p:sp>
        <p:nvSpPr>
          <p:cNvPr id="752" name="Google Shape;752;p34"/>
          <p:cNvSpPr txBox="1"/>
          <p:nvPr/>
        </p:nvSpPr>
        <p:spPr>
          <a:xfrm>
            <a:off x="594358" y="2087700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753" name="Google Shape;753;p34"/>
          <p:cNvSpPr txBox="1"/>
          <p:nvPr/>
        </p:nvSpPr>
        <p:spPr>
          <a:xfrm>
            <a:off x="1508757" y="20877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AdamW; LR 5e−5; weight decay 0,05</a:t>
            </a:r>
            <a:endParaRPr sz="2500"/>
          </a:p>
        </p:txBody>
      </p:sp>
      <p:sp>
        <p:nvSpPr>
          <p:cNvPr id="754" name="Google Shape;754;p34"/>
          <p:cNvSpPr txBox="1"/>
          <p:nvPr/>
        </p:nvSpPr>
        <p:spPr>
          <a:xfrm>
            <a:off x="594358" y="3166692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755" name="Google Shape;755;p34"/>
          <p:cNvSpPr txBox="1"/>
          <p:nvPr/>
        </p:nvSpPr>
        <p:spPr>
          <a:xfrm>
            <a:off x="1508757" y="316669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1024²; batch16; 2.000 queries; 4 × A100</a:t>
            </a:r>
            <a:endParaRPr sz="2500"/>
          </a:p>
        </p:txBody>
      </p:sp>
      <p:sp>
        <p:nvSpPr>
          <p:cNvPr id="756" name="Google Shape;756;p34"/>
          <p:cNvSpPr txBox="1"/>
          <p:nvPr/>
        </p:nvSpPr>
        <p:spPr>
          <a:xfrm>
            <a:off x="594358" y="4245684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sz="2800">
              <a:solidFill>
                <a:srgbClr val="004F8B"/>
              </a:solidFill>
            </a:endParaRPr>
          </a:p>
        </p:txBody>
      </p:sp>
      <p:sp>
        <p:nvSpPr>
          <p:cNvPr id="757" name="Google Shape;757;p34"/>
          <p:cNvSpPr txBox="1"/>
          <p:nvPr/>
        </p:nvSpPr>
        <p:spPr>
          <a:xfrm>
            <a:off x="1508757" y="4245684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Round 1 ~8 épocas; Round 2 em 100k imagens</a:t>
            </a:r>
            <a:endParaRPr sz="25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5"/>
          <p:cNvSpPr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5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Backup: ablação local de fusão / NMS</a:t>
            </a:r>
            <a:endParaRPr sz="2800"/>
          </a:p>
        </p:txBody>
      </p:sp>
      <p:sp>
        <p:nvSpPr>
          <p:cNvPr id="764" name="Google Shape;764;p35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765" name="Google Shape;765;p3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RESULTADO LOCAL • p=1,6 • semente 7</a:t>
            </a:r>
            <a:endParaRPr sz="1000"/>
          </a:p>
        </p:txBody>
      </p:sp>
      <p:pic>
        <p:nvPicPr>
          <p:cNvPr id="766" name="Google Shape;76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291267"/>
            <a:ext cx="11201400" cy="3772547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35"/>
          <p:cNvSpPr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5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3 / 6 níveis têm mesmo recall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neste toy</a:t>
            </a:r>
            <a:endParaRPr sz="1600"/>
          </a:p>
        </p:txBody>
      </p:sp>
      <p:sp>
        <p:nvSpPr>
          <p:cNvPr id="769" name="Google Shape;769;p35"/>
          <p:cNvSpPr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35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NMS0,5: 16,7%; NMS0,9: 25,0%</a:t>
            </a:r>
            <a:endParaRPr sz="1600"/>
          </a:p>
        </p:txBody>
      </p:sp>
      <p:sp>
        <p:nvSpPr>
          <p:cNvPr id="771" name="Google Shape;771;p35"/>
          <p:cNvSpPr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35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Mais candidatos não garantem</a:t>
            </a:r>
            <a:endParaRPr sz="16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melhores máscaras</a:t>
            </a:r>
            <a:endParaRPr sz="16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/>
          <p:cNvSpPr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6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Backup: linearidade e detalhes numéricos</a:t>
            </a:r>
            <a:endParaRPr sz="2800"/>
          </a:p>
        </p:txBody>
      </p:sp>
      <p:sp>
        <p:nvSpPr>
          <p:cNvPr id="779" name="Google Shape;779;p36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Inatel • TP558</a:t>
            </a:r>
            <a:endParaRPr sz="1100"/>
          </a:p>
        </p:txBody>
      </p:sp>
      <p:sp>
        <p:nvSpPr>
          <p:cNvPr id="780" name="Google Shape;780;p36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Verificação própria • checks() / protocol.json</a:t>
            </a:r>
            <a:endParaRPr sz="1000"/>
          </a:p>
        </p:txBody>
      </p:sp>
      <p:sp>
        <p:nvSpPr>
          <p:cNvPr id="781" name="Google Shape;781;p36"/>
          <p:cNvSpPr txBox="1"/>
          <p:nvPr/>
        </p:nvSpPr>
        <p:spPr>
          <a:xfrm>
            <a:off x="609595" y="2025550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sz="2800" b="1">
              <a:solidFill>
                <a:srgbClr val="004F8B"/>
              </a:solidFill>
            </a:endParaRPr>
          </a:p>
        </p:txBody>
      </p:sp>
      <p:sp>
        <p:nvSpPr>
          <p:cNvPr id="782" name="Google Shape;782;p36"/>
          <p:cNvSpPr txBox="1"/>
          <p:nvPr/>
        </p:nvSpPr>
        <p:spPr>
          <a:xfrm>
            <a:off x="1523995" y="202555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p=2: [2L + λI]f = λf⁰ no grafo simétrico</a:t>
            </a:r>
            <a:endParaRPr sz="2500"/>
          </a:p>
        </p:txBody>
      </p:sp>
      <p:sp>
        <p:nvSpPr>
          <p:cNvPr id="783" name="Google Shape;783;p36"/>
          <p:cNvSpPr txBox="1"/>
          <p:nvPr/>
        </p:nvSpPr>
        <p:spPr>
          <a:xfrm>
            <a:off x="609595" y="3104542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sz="2800" b="1">
              <a:solidFill>
                <a:srgbClr val="004F8B"/>
              </a:solidFill>
            </a:endParaRPr>
          </a:p>
        </p:txBody>
      </p:sp>
      <p:sp>
        <p:nvSpPr>
          <p:cNvPr id="784" name="Google Shape;784;p36"/>
          <p:cNvSpPr txBox="1"/>
          <p:nvPr/>
        </p:nvSpPr>
        <p:spPr>
          <a:xfrm>
            <a:off x="1523995" y="310454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Erro máximo do check: cerca de 1,9e−9</a:t>
            </a:r>
            <a:endParaRPr sz="2500"/>
          </a:p>
        </p:txBody>
      </p:sp>
      <p:sp>
        <p:nvSpPr>
          <p:cNvPr id="785" name="Google Shape;785;p36"/>
          <p:cNvSpPr txBox="1"/>
          <p:nvPr/>
        </p:nvSpPr>
        <p:spPr>
          <a:xfrm>
            <a:off x="609595" y="4183534"/>
            <a:ext cx="685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4F8B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sz="2800" b="1">
              <a:solidFill>
                <a:srgbClr val="004F8B"/>
              </a:solidFill>
            </a:endParaRPr>
          </a:p>
        </p:txBody>
      </p:sp>
      <p:sp>
        <p:nvSpPr>
          <p:cNvPr id="786" name="Google Shape;786;p36"/>
          <p:cNvSpPr txBox="1"/>
          <p:nvPr/>
        </p:nvSpPr>
        <p:spPr>
          <a:xfrm>
            <a:off x="1523995" y="4183534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Gradiente zero: epsilon explícito no proxy</a:t>
            </a:r>
            <a:endParaRPr sz="25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h4c9b66d7224cca79_0_13"/>
          <p:cNvSpPr/>
          <p:nvPr/>
        </p:nvSpPr>
        <p:spPr>
          <a:xfrm>
            <a:off x="530352" y="585216"/>
            <a:ext cx="9601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1116"/>
              </a:buClr>
              <a:buSzPts val="2400"/>
              <a:buFont typeface="Play"/>
              <a:buNone/>
            </a:pPr>
            <a:r>
              <a:rPr lang="pt-BR" sz="2400" b="1">
                <a:solidFill>
                  <a:srgbClr val="0C1116"/>
                </a:solidFill>
                <a:latin typeface="Play"/>
                <a:ea typeface="Play"/>
                <a:cs typeface="Play"/>
                <a:sym typeface="Play"/>
              </a:rPr>
              <a:t>Obrigado pela atenção!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3" name="Google Shape;793;h4c9b66d7224cca79_0_13"/>
          <p:cNvCxnSpPr/>
          <p:nvPr/>
        </p:nvCxnSpPr>
        <p:spPr>
          <a:xfrm>
            <a:off x="530352" y="1115568"/>
            <a:ext cx="11018400" cy="0"/>
          </a:xfrm>
          <a:prstGeom prst="straightConnector1">
            <a:avLst/>
          </a:prstGeom>
          <a:noFill/>
          <a:ln w="10150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4" name="Google Shape;794;h4c9b66d7224cca79_0_13"/>
          <p:cNvSpPr/>
          <p:nvPr/>
        </p:nvSpPr>
        <p:spPr>
          <a:xfrm>
            <a:off x="1033272" y="1655064"/>
            <a:ext cx="4517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CB9"/>
              </a:buClr>
              <a:buSzPts val="1600"/>
              <a:buFont typeface="Arial"/>
              <a:buNone/>
            </a:pPr>
            <a:r>
              <a:rPr lang="pt-BR" sz="1600" b="1">
                <a:solidFill>
                  <a:srgbClr val="005CB9"/>
                </a:solidFill>
                <a:latin typeface="Arial"/>
                <a:ea typeface="Arial"/>
                <a:cs typeface="Arial"/>
                <a:sym typeface="Arial"/>
              </a:rPr>
              <a:t>Forms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h4c9b66d7224cca79_0_13"/>
          <p:cNvSpPr/>
          <p:nvPr/>
        </p:nvSpPr>
        <p:spPr>
          <a:xfrm>
            <a:off x="1033272" y="1984248"/>
            <a:ext cx="45171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h4c9b66d7224cca79_0_13"/>
          <p:cNvSpPr/>
          <p:nvPr/>
        </p:nvSpPr>
        <p:spPr>
          <a:xfrm>
            <a:off x="2514600" y="2926080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>
              <a:solidFill>
                <a:srgbClr val="005CB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h4c9b66d7224cca79_0_13"/>
          <p:cNvSpPr/>
          <p:nvPr/>
        </p:nvSpPr>
        <p:spPr>
          <a:xfrm>
            <a:off x="6428231" y="1655064"/>
            <a:ext cx="4517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5CB9"/>
                </a:solidFill>
                <a:latin typeface="Arial"/>
                <a:ea typeface="Arial"/>
                <a:cs typeface="Arial"/>
                <a:sym typeface="Arial"/>
              </a:rPr>
              <a:t>Código, notebooks e artigos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h4c9b66d7224cca79_0_13"/>
          <p:cNvSpPr/>
          <p:nvPr/>
        </p:nvSpPr>
        <p:spPr>
          <a:xfrm>
            <a:off x="6428232" y="1984248"/>
            <a:ext cx="45171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rgbClr val="0C11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h4c9b66d7224cca79_0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7929" y="2376544"/>
            <a:ext cx="210312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h4c9b66d7224cca79_0_13"/>
          <p:cNvSpPr/>
          <p:nvPr/>
        </p:nvSpPr>
        <p:spPr>
          <a:xfrm>
            <a:off x="530352" y="310896"/>
            <a:ext cx="3474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CB9"/>
              </a:buClr>
              <a:buSzPts val="900"/>
              <a:buFont typeface="Arial"/>
              <a:buNone/>
            </a:pPr>
            <a:r>
              <a:rPr lang="pt-BR" sz="900" b="1">
                <a:solidFill>
                  <a:srgbClr val="005CB9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1" name="Google Shape;801;h4c9b66d7224cca79_0_13" descr="Logo"/>
          <p:cNvPicPr preferRelativeResize="0"/>
          <p:nvPr/>
        </p:nvPicPr>
        <p:blipFill rotWithShape="1">
          <a:blip r:embed="rId4">
            <a:alphaModFix/>
          </a:blip>
          <a:srcRect t="28760" b="28870"/>
          <a:stretch/>
        </p:blipFill>
        <p:spPr>
          <a:xfrm>
            <a:off x="10459726" y="586970"/>
            <a:ext cx="1088310" cy="426451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h4c9b66d7224cca79_0_13"/>
          <p:cNvSpPr txBox="1"/>
          <p:nvPr/>
        </p:nvSpPr>
        <p:spPr>
          <a:xfrm>
            <a:off x="1204205" y="4726460"/>
            <a:ext cx="435012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https://forms.gle/</a:t>
            </a:r>
            <a:r>
              <a:rPr lang="pt-BR" sz="1800" dirty="0">
                <a:solidFill>
                  <a:schemeClr val="dk1"/>
                </a:solidFill>
              </a:rPr>
              <a:t>yuWT9ZbZK7m9QyFm9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803" name="Google Shape;803;h4c9b66d7224cca79_0_13"/>
          <p:cNvSpPr txBox="1"/>
          <p:nvPr/>
        </p:nvSpPr>
        <p:spPr>
          <a:xfrm>
            <a:off x="6549081" y="4726459"/>
            <a:ext cx="4283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https://github.com/Mestrado-Matheus-Fonseca/matheus-983-tp558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06CCFE31-AD80-1748-0E02-A1E3FF90A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742" y="2244698"/>
            <a:ext cx="2429297" cy="23753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h4c9b66d7224cca79_0_32"/>
          <p:cNvSpPr/>
          <p:nvPr/>
        </p:nvSpPr>
        <p:spPr>
          <a:xfrm>
            <a:off x="548640" y="320040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4F8B"/>
              </a:buClr>
              <a:buSzPts val="800"/>
              <a:buFont typeface="Arial"/>
              <a:buNone/>
            </a:pPr>
            <a:r>
              <a:rPr lang="pt-BR" sz="800" b="1">
                <a:solidFill>
                  <a:srgbClr val="004F8B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h4c9b66d7224cca79_0_32"/>
          <p:cNvSpPr/>
          <p:nvPr/>
        </p:nvSpPr>
        <p:spPr>
          <a:xfrm>
            <a:off x="548640" y="676656"/>
            <a:ext cx="896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lang="pt-BR" sz="24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Referências principais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2" name="Google Shape;812;h4c9b66d7224cca79_0_32"/>
          <p:cNvCxnSpPr/>
          <p:nvPr/>
        </p:nvCxnSpPr>
        <p:spPr>
          <a:xfrm>
            <a:off x="548640" y="1152144"/>
            <a:ext cx="11109900" cy="0"/>
          </a:xfrm>
          <a:prstGeom prst="straightConnector1">
            <a:avLst/>
          </a:prstGeom>
          <a:noFill/>
          <a:ln w="12700" cap="flat" cmpd="sng">
            <a:solidFill>
              <a:srgbClr val="E3E7E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13" name="Google Shape;813;h4c9b66d7224cca79_0_32" descr="/mnt/data/assets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370" y="411480"/>
            <a:ext cx="710619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h4c9b66d7224cca79_0_32"/>
          <p:cNvSpPr/>
          <p:nvPr/>
        </p:nvSpPr>
        <p:spPr>
          <a:xfrm>
            <a:off x="822960" y="1554480"/>
            <a:ext cx="10607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11111"/>
              </a:buClr>
              <a:buSzPts val="1500"/>
            </a:pPr>
            <a:r>
              <a:rPr lang="pt-BR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[1] </a:t>
            </a:r>
            <a:r>
              <a:rPr lang="pt-BR" sz="1500" err="1">
                <a:solidFill>
                  <a:srgbClr val="111111"/>
                </a:solidFill>
              </a:rPr>
              <a:t>Hümmer</a:t>
            </a:r>
            <a:r>
              <a:rPr lang="pt-BR" sz="1500">
                <a:solidFill>
                  <a:srgbClr val="111111"/>
                </a:solidFill>
              </a:rPr>
              <a:t> et al</a:t>
            </a:r>
            <a:r>
              <a:rPr lang="pt-BR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pt-BR" sz="1500">
                <a:solidFill>
                  <a:srgbClr val="111111"/>
                </a:solidFill>
              </a:rPr>
              <a:t>Diffuse2Seg: </a:t>
            </a:r>
            <a:r>
              <a:rPr lang="pt-BR" sz="1500" err="1">
                <a:solidFill>
                  <a:srgbClr val="111111"/>
                </a:solidFill>
              </a:rPr>
              <a:t>Diffusion</a:t>
            </a:r>
            <a:r>
              <a:rPr lang="pt-BR" sz="1500">
                <a:solidFill>
                  <a:srgbClr val="111111"/>
                </a:solidFill>
              </a:rPr>
              <a:t> Models </a:t>
            </a:r>
            <a:r>
              <a:rPr lang="pt-BR" sz="1500" err="1">
                <a:solidFill>
                  <a:srgbClr val="111111"/>
                </a:solidFill>
              </a:rPr>
              <a:t>Can</a:t>
            </a:r>
            <a:r>
              <a:rPr lang="pt-BR" sz="1500">
                <a:solidFill>
                  <a:srgbClr val="111111"/>
                </a:solidFill>
              </a:rPr>
              <a:t> </a:t>
            </a:r>
            <a:r>
              <a:rPr lang="pt-BR" sz="1500" err="1">
                <a:solidFill>
                  <a:srgbClr val="111111"/>
                </a:solidFill>
              </a:rPr>
              <a:t>Segment</a:t>
            </a:r>
            <a:r>
              <a:rPr lang="pt-BR" sz="1500">
                <a:solidFill>
                  <a:srgbClr val="111111"/>
                </a:solidFill>
              </a:rPr>
              <a:t> </a:t>
            </a:r>
            <a:r>
              <a:rPr lang="pt-BR" sz="1500" err="1">
                <a:solidFill>
                  <a:srgbClr val="111111"/>
                </a:solidFill>
              </a:rPr>
              <a:t>Anything</a:t>
            </a:r>
            <a:r>
              <a:rPr lang="pt-BR" sz="1500">
                <a:solidFill>
                  <a:srgbClr val="111111"/>
                </a:solidFill>
              </a:rPr>
              <a:t> </a:t>
            </a:r>
            <a:r>
              <a:rPr lang="pt-BR" sz="1500" err="1">
                <a:solidFill>
                  <a:srgbClr val="111111"/>
                </a:solidFill>
              </a:rPr>
              <a:t>Without</a:t>
            </a:r>
            <a:r>
              <a:rPr lang="pt-BR" sz="1500">
                <a:solidFill>
                  <a:srgbClr val="111111"/>
                </a:solidFill>
              </a:rPr>
              <a:t> </a:t>
            </a:r>
            <a:r>
              <a:rPr lang="pt-BR" sz="1500" err="1">
                <a:solidFill>
                  <a:srgbClr val="111111"/>
                </a:solidFill>
              </a:rPr>
              <a:t>Supervision</a:t>
            </a:r>
            <a:r>
              <a:rPr lang="pt-BR" sz="1500">
                <a:solidFill>
                  <a:srgbClr val="111111"/>
                </a:solidFill>
              </a:rPr>
              <a:t>. </a:t>
            </a:r>
            <a:r>
              <a:rPr lang="pt-BR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arXiv:</a:t>
            </a:r>
            <a:r>
              <a:rPr lang="pt-BR" sz="1500">
                <a:solidFill>
                  <a:srgbClr val="111111"/>
                </a:solidFill>
              </a:rPr>
              <a:t>2609.06491v1 </a:t>
            </a:r>
            <a:endParaRPr lang="en-US" sz="15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9" name="Google Shape;819;h4c9b66d7224cca79_0_32"/>
          <p:cNvSpPr/>
          <p:nvPr/>
        </p:nvSpPr>
        <p:spPr>
          <a:xfrm>
            <a:off x="2011680" y="57607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4F8B"/>
              </a:buClr>
              <a:buSzPts val="1600"/>
              <a:buFont typeface="Arial"/>
              <a:buNone/>
            </a:pPr>
            <a:r>
              <a:rPr lang="pt-BR" sz="1600" b="1">
                <a:solidFill>
                  <a:srgbClr val="004F8B"/>
                </a:solidFill>
                <a:latin typeface="Arial"/>
                <a:ea typeface="Arial"/>
                <a:cs typeface="Arial"/>
                <a:sym typeface="Arial"/>
              </a:rPr>
              <a:t>PDFs, código e notebooks no repositório da disciplina.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h4c9b66d7224cca79_0_49"/>
          <p:cNvSpPr/>
          <p:nvPr/>
        </p:nvSpPr>
        <p:spPr>
          <a:xfrm>
            <a:off x="548640" y="320040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4F8B"/>
              </a:buClr>
              <a:buSzPts val="800"/>
              <a:buFont typeface="Arial"/>
              <a:buNone/>
            </a:pPr>
            <a:r>
              <a:rPr lang="pt-BR" sz="800" b="1">
                <a:solidFill>
                  <a:srgbClr val="004F8B"/>
                </a:solidFill>
                <a:latin typeface="Arial"/>
                <a:ea typeface="Arial"/>
                <a:cs typeface="Arial"/>
                <a:sym typeface="Arial"/>
              </a:rPr>
              <a:t>DISCUSSÃO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h4c9b66d7224cca79_0_49"/>
          <p:cNvSpPr/>
          <p:nvPr/>
        </p:nvSpPr>
        <p:spPr>
          <a:xfrm>
            <a:off x="548640" y="676656"/>
            <a:ext cx="896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lang="pt-BR" sz="24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Dúvidas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1" name="Google Shape;841;h4c9b66d7224cca79_0_49"/>
          <p:cNvCxnSpPr/>
          <p:nvPr/>
        </p:nvCxnSpPr>
        <p:spPr>
          <a:xfrm>
            <a:off x="548640" y="1152144"/>
            <a:ext cx="11109900" cy="0"/>
          </a:xfrm>
          <a:prstGeom prst="straightConnector1">
            <a:avLst/>
          </a:prstGeom>
          <a:noFill/>
          <a:ln w="12700" cap="flat" cmpd="sng">
            <a:solidFill>
              <a:srgbClr val="E3E7E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42" name="Google Shape;842;h4c9b66d7224cca79_0_49" descr="/mnt/data/assets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370" y="411480"/>
            <a:ext cx="710619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h4c9b66d7224cca79_0_49"/>
          <p:cNvSpPr/>
          <p:nvPr/>
        </p:nvSpPr>
        <p:spPr>
          <a:xfrm>
            <a:off x="822960" y="278892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Arial"/>
              <a:buNone/>
            </a:pPr>
            <a:r>
              <a:rPr lang="pt-BR" sz="44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Perguntas?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46</Slides>
  <Notes>46</Notes>
  <HiddenSlides>7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</cp:revision>
  <dcterms:modified xsi:type="dcterms:W3CDTF">2026-10-12T22:18:00Z</dcterms:modified>
</cp:coreProperties>
</file>