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Master"/>
  </p:sldMasterIdLst>
  <p:notesMasterIdLst>
    <p:notesMasterId r:id="rIdNotesMaster"/>
  </p:notes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  <p:sldId id="270" r:id="rIdSlide15"/>
    <p:sldId id="271" r:id="rIdSlide16"/>
    <p:sldId id="272" r:id="rIdSlide17"/>
    <p:sldId id="273" r:id="rIdSlide18"/>
    <p:sldId id="274" r:id="rIdSlide19"/>
    <p:sldId id="275" r:id="rIdSlide20"/>
    <p:sldId id="276" r:id="rIdSlide21"/>
    <p:sldId id="277" r:id="rIdSlide22"/>
    <p:sldId id="278" r:id="rIdSlide23"/>
    <p:sldId id="279" r:id="rIdSlide24"/>
    <p:sldId id="280" r:id="rIdSlide25"/>
    <p:sldId id="281" r:id="rIdSlide26"/>
    <p:sldId id="282" r:id="rIdSlide27"/>
    <p:sldId id="283" r:id="rIdSlide28"/>
    <p:sldId id="284" r:id="rIdSlide29"/>
    <p:sldId id="285" r:id="rIdSlide30"/>
    <p:sldId id="286" r:id="rIdSlide31"/>
    <p:sldId id="287" r:id="rIdSlide32"/>
    <p:sldId id="288" r:id="rIdSlide33"/>
    <p:sldId id="289" r:id="rIdSlide34"/>
    <p:sldId id="290" r:id="rIdSlide35"/>
    <p:sldId id="291" r:id="rIdSlide36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NotesMaster" Type="http://schemas.openxmlformats.org/officeDocument/2006/relationships/notesMaster" Target="notesMasters/notesMaster1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<Relationship Id="rIdSlide15" Type="http://schemas.openxmlformats.org/officeDocument/2006/relationships/slide" Target="slides/slide15.xml"/><Relationship Id="rIdSlide16" Type="http://schemas.openxmlformats.org/officeDocument/2006/relationships/slide" Target="slides/slide16.xml"/><Relationship Id="rIdSlide17" Type="http://schemas.openxmlformats.org/officeDocument/2006/relationships/slide" Target="slides/slide17.xml"/><Relationship Id="rIdSlide18" Type="http://schemas.openxmlformats.org/officeDocument/2006/relationships/slide" Target="slides/slide18.xml"/><Relationship Id="rIdSlide19" Type="http://schemas.openxmlformats.org/officeDocument/2006/relationships/slide" Target="slides/slide19.xml"/><Relationship Id="rIdSlide20" Type="http://schemas.openxmlformats.org/officeDocument/2006/relationships/slide" Target="slides/slide20.xml"/><Relationship Id="rIdSlide21" Type="http://schemas.openxmlformats.org/officeDocument/2006/relationships/slide" Target="slides/slide21.xml"/><Relationship Id="rIdSlide22" Type="http://schemas.openxmlformats.org/officeDocument/2006/relationships/slide" Target="slides/slide22.xml"/><Relationship Id="rIdSlide23" Type="http://schemas.openxmlformats.org/officeDocument/2006/relationships/slide" Target="slides/slide23.xml"/><Relationship Id="rIdSlide24" Type="http://schemas.openxmlformats.org/officeDocument/2006/relationships/slide" Target="slides/slide24.xml"/><Relationship Id="rIdSlide25" Type="http://schemas.openxmlformats.org/officeDocument/2006/relationships/slide" Target="slides/slide25.xml"/><Relationship Id="rIdSlide26" Type="http://schemas.openxmlformats.org/officeDocument/2006/relationships/slide" Target="slides/slide26.xml"/><Relationship Id="rIdSlide27" Type="http://schemas.openxmlformats.org/officeDocument/2006/relationships/slide" Target="slides/slide27.xml"/><Relationship Id="rIdSlide28" Type="http://schemas.openxmlformats.org/officeDocument/2006/relationships/slide" Target="slides/slide28.xml"/><Relationship Id="rIdSlide29" Type="http://schemas.openxmlformats.org/officeDocument/2006/relationships/slide" Target="slides/slide29.xml"/><Relationship Id="rIdSlide30" Type="http://schemas.openxmlformats.org/officeDocument/2006/relationships/slide" Target="slides/slide30.xml"/><Relationship Id="rIdSlide31" Type="http://schemas.openxmlformats.org/officeDocument/2006/relationships/slide" Target="slides/slide31.xml"/><Relationship Id="rIdSlide32" Type="http://schemas.openxmlformats.org/officeDocument/2006/relationships/slide" Target="slides/slide32.xml"/><Relationship Id="rIdSlide33" Type="http://schemas.openxmlformats.org/officeDocument/2006/relationships/slide" Target="slides/slide33.xml"/><Relationship Id="rIdSlide34" Type="http://schemas.openxmlformats.org/officeDocument/2006/relationships/slide" Target="slides/slide34.xml"/><Relationship Id="rIdSlide35" Type="http://schemas.openxmlformats.org/officeDocument/2006/relationships/slide" Target="slides/slide35.xml"/><Relationship Id="rIdSlide36" Type="http://schemas.openxmlformats.org/officeDocument/2006/relationships/slide" Target="slides/slide36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Abrir com a pergunta: um modelo que aprendeu a gerar cenas já sabe onde estão suas entidades? A apresentação separa os resultados publicados da nossa reprodução parcial. O paper é um preprint na versão fornecida, não atribuir venue ou revisão por pares não comprovados.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Artigo original, pp. 1–5</a:t>
            </a:r>
            <a:endParaRPr lang="pt-BR" sz="1400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Usar o desenho próprio: céu e solo, objeto e parte. As máscaras são agnósticas a classes e podem sobrepor-se entre níveis. Distinguir segmentação de entidades de segmentação semântica de uma classe, como pista de pouso. Não afirmar que o método atribui nomes às entidades.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Sec. 1 e 3.1</a:t>
            </a:r>
            <a:endParaRPr lang="pt-BR" sz="1400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As cenas não são só objetos de primeiro plano. O gerador precisa representar composição, relações e fundo; por isso sua autoatenção pode cobrir stuff melhor. A hipótese é testada via qualidade dos rótulos e utilidade no treinamento, não apenas por visualizar atenção.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Introdução, pp. 1–3</a:t>
            </a:r>
            <a:endParaRPr lang="pt-BR" sz="1400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UnSAM combina descoberta de instâncias com CutLER e subdivisão bottom-up; SOHES também usa hierarquias e é o baseline sem detector. DiffSeg e M2N2 são adaptados pelos autores para a comparação de entidades. Diffuse2Seg acrescenta automação de prompts, propagação e múltiplos níveis; não inventa a difusão nem o Mask2Former.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Sec. 2 e 4.1</a:t>
            </a:r>
            <a:endParaRPr lang="pt-BR" sz="1400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Reproduzir o vídeo PipelineDiffuse2Seg se houver tempo. Azul é extração; verde é criação de rótulos; amarelo é estudante. O gerador pode segmentar diretamente, mas a inferência zero-shot da Tabela 3 é do estudante treinado. O refinador CascadePSP é opcional e deve ser distinguido do NMS.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Figura 2; Sec. 3.2–3.5</a:t>
            </a:r>
            <a:endParaRPr lang="pt-BR" sz="1400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O texto diz que o latent da imagem não recebe ruído forward. Mostrar contraste conceitual com o ciclo DDPM estudado no seminário 1: aqui não se gera uma nova imagem. A difusão fica congelada. O identificador/revisão exato SD2 não está especificado; não chamar nosso proxy RGB de latent SD2.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Sec. 3.3 e 4.1, pp. 5–10</a:t>
            </a:r>
            <a:endParaRPr lang="pt-BR" sz="1400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N tokens produzem N por N afinidades. Self-attention relaciona posições da imagem; cross-attention com palavras não entra no método agnóstico a classes. A figura pequena é conceitual, não uma atenção SD2 medida. A temperatura é 0,55; a fórmula exata de aplicação não é detalhada pelo artigo.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Equação 1; Apêndice A.1</a:t>
            </a:r>
            <a:endParaRPr lang="pt-BR" sz="1400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O paper considera as atenções esparsas e threshold isolado insuficiente. Exibir snapshots computados, não supor que sejam resultados SD2. A animação interpola visualmente entre snapshots, não simula novas iterações. Cores são reescaladas por frame, servem para estrutura e não amplitude absoluta.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Sec. 3.4; figura local com afinidade proxy</a:t>
            </a:r>
            <a:endParaRPr lang="pt-BR" sz="1400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Ler a energia em duas partes: regularização no grafo e fidelidade ao f0. O p atua no gradiente local; a proteção de bordas depende da representação. No paper p=1,6, λ=1e−5 e parada por norma quadrática 1e−4. Na reprodução usamos parâmetros diferentes e epsilon explícito. No grafo simétrico, p=2 permite verificar solução fechada com Laplaciano.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Equação 2; Algoritmo 1</a:t>
            </a:r>
            <a:endParaRPr lang="pt-BR" sz="1400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A distância compara distribuições de propagação, não coordenadas dos prompts. A grade é automática. Mostrar as dimensões proxy: 576 por 576 na afinidade e 16 por 16 na distância KL. Estas não são as dimensões do experimento original.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Equação 3 e Algoritmo 2; figura local</a:t>
            </a:r>
            <a:endParaRPr lang="pt-BR" sz="1400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O desenho explica a hierarquia; a animação usa as partições realmente calculadas no proxy p=2. O artigo agrega seis cortes KL de 0,186 a 2,99. Uma partição em um nível não basta: as propostas de todos os níveis podem representar parte e objeto. No proxy não há upsampling porque entrada e grafo já são 24 por 24.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Sec. 3.4 e Algoritmo 2</a:t>
            </a:r>
            <a:endParaRPr lang="pt-BR" sz="1400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A figura usa retângulos esquemáticos para explicar por que uma parte pode ter IoU baixa com o objeto inteiro. Um limiar mais baixo elimina mais candidatos, prejudicando recall. CascadePSP é refinamento de borda opcional após gerar as propostas; não é um módulo do U-Net. O artigo usa área mínima 100 px; nosso proxy usa 3 px.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Sec. 3.4; Apêndice A.1–A.2</a:t>
            </a:r>
            <a:endParaRPr lang="pt-BR" sz="1400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Backbone produz features multiescala; pixel decoder as organiza e decoder de queries produz máscaras. Desenho próprio em nível funcional, sem inventar blocos específicos. ResNet inicia de DINO; decoder da primeira rodada é aleatório. Treinar estudante reduz dependência da geração cara para novas imagens.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Sec. 3.5; Apêndice A.3</a:t>
            </a:r>
            <a:endParaRPr lang="pt-BR" sz="1400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Predict-and-conquer: score mínimo, fração de área do pai entre 0,003 e 0,30, filhos com contenção mínima 0,70. Substitui rótulos com IoU maior que 0,5 e acrescenta demais. Round 2 inicializa do Round 1 e treina em 100k imagens, mesmo quando Round 1 usa mais. Esse enriquecimento não depende de CutLER, que é adicionado somente na variante correspondente.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Sec. 3.5; Tabela 5; Apêndice A.3</a:t>
            </a:r>
            <a:endParaRPr lang="pt-BR" sz="1400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Separar UVO, usado no gerador, de COCO/LVIS, acrescentados no estudante. O artigo exclui PartImageNet para reduzir vantagem de overlap ImageNet para DINO/CutLER. Zero-shot significa sem adaptação aos datasets alvo da avaliação, não sem pré-treinamento de modelos. Ver discussão de possível overlap dos corpora em notes/analysis.md.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Sec. 4.1; Tabela 3</a:t>
            </a:r>
            <a:endParaRPr lang="pt-BR" sz="1400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Duas máscaras podem ter coberturas e qualidade diferentes: IoU controla se a correspondência é aceitável. AR não substitui precisão nem qualidade semântica; mil propostas podem encontrar um objeto sem poucas máscaras úteis. A métrica toy local tem matching próprio e não é COCO AR1000 oficial.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Sec. 4.1</a:t>
            </a:r>
            <a:endParaRPr lang="pt-BR" sz="1400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Mostrar a comparação por tamanho. A avaliação é do gerador, sem refinamento, não do estudante. A diferença de 4,3 é em pontos percentuais; não porcentagem relativa. Não esconder a desvantagem em ARS, que é relevante para pistas estreitas e partes.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Resultado ORIGINAL • Tabela 1, p. 10</a:t>
            </a:r>
            <a:endParaRPr lang="pt-BR" sz="1400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UnSAM é referência anterior, mas CutLER é detector treinado: Diffuse2Seg não supera toda linha da tabela em todos os datasets. No gráfico comparar UnSAM, DiffSeg e Diffuse2Seg; CutLER foi preservado nos CSVs e discutido no texto. UVO trata imagens extraídas de vídeos; o método aqui não modela consistência temporal.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Resultado ORIGINAL • Tabela 2, p. 11</a:t>
            </a:r>
            <a:endParaRPr lang="pt-BR" sz="1400"/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A coluna sem detector compara Diffuse2Seg 100k a SOHES 200k. Outra comparação é UnSAM e Diffuse2Seg ambos com CutLER e 400k. Não misturar essas condições. Means foram recalculados das seis colunas; pequenas diferenças de arredondamento são esperadas. Não afirmar superioridade universal sobre SAM ou UnSAM.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Resultado ORIGINAL • Tabela 3, p. 12</a:t>
            </a:r>
            <a:endParaRPr lang="pt-BR" sz="1400"/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Na esquerda estão pseudo-rótulos sem refinamento; na direita predições do estudante. Apontar diferenças em fundo e divisão das entidades, mas não tratar cores como identidades semânticas. O material é extraído do PDF com atribuição. Não afirmar que esses exemplos foram reproduzidos.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Resultado ORIGINAL • Figura 1, p. 2</a:t>
            </a:r>
            <a:endParaRPr lang="pt-BR" sz="1400"/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São três controles diferentes; não somar ganhos. Os valores da Tabela 4 não coincidem com 20,7 do resultado final e não se conhece pelo PDF uma equivalência completa das configurações. Na Figura 5 p=1,2 favorece recall, p=1,6 favorece mAP; explicar compromisso. O slide de backup mostra a figura original sem inventar pontos.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Resultado ORIGINAL • Tabelas 4–5</a:t>
            </a:r>
            <a:endParaRPr lang="pt-BR" sz="1400"/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O encoder fica congelado e o decoder é ajustado sobre inicialização não supervisionada. É uma comparação de fine-tuning, não aprendizado do zero com 100 exemplos. O texto diz que 5k alcançam a referência. Não desenhamos curva de valores ausentes. Comparação UnSAM usa checkpoint público 0,2M; Diffuse2Seg usa 0,4M, conforme Apêndice A.3. Isso limita equivalência de budgets.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Resultado ORIGINAL • Sec. 4.4 / Figura 4</a:t>
            </a:r>
            <a:endParaRPr lang="pt-BR" sz="1400"/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Mostrar a cena conhecida com céu, solo, círculo, objeto retangular e uma parte. Há seis máscaras de referência incluindo o objeto inteiro e a parte. GT serve apenas à avaliação; não constrói o grafo nem escolhe prompts. A demonstração do pipeline em p=1,6 perde objetos; isso é um resultado e não defeito escondido da figura.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REPRODUÇÃO PARCIAL • scripts e NPZ locais</a:t>
            </a:r>
            <a:endParaRPr lang="pt-BR" sz="1400"/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As sementes alteram ruído RGB na mesma geometria, não são três datasets independentes. λ=0,03, epsilon=1e−8, critério de parada=1e−8 e até 400 iterações. Esses parâmetros diferem dos do artigo porque o grafo/resolução são diferentes. Cada configuração convergiu segundo atualização, mas isso não prova minimização global. Verificação p=2 contra solve do sistema linear, erro máximo ~1,9e−9.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REPRODUÇÃO PARCIAL • protocol.json / métricas</a:t>
            </a:r>
            <a:endParaRPr lang="pt-BR" sz="1400"/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Mostrar a animação com números lidos do protocolo. Recall toy usa IoU 0,50…0,95 e matching greedy 1:1 por IoU, não o ranking/evaluador COCO. O p não pode ser transferido isolado da escala da afinidade, λ, eps e critério de parada. Esses resultados não refutam o benchmark original, mas limitam a demonstração própria. Não declarar significância com três sementes.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RESULTADO LOCAL • 9 execuções • mean ± std amostral</a:t>
            </a:r>
            <a:endParaRPr lang="pt-BR" sz="1400"/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Figura compara partições finas calculadas com p=2 e p=1,6. Nosso grafo não tem estrutura semântica generativa; proximidade espacial e cor não equivalem a atenção. Como demonstração, ele permite aprender as operações; como evidência de Diffuse2Seg, é insuficiente. Não comparar 56,1% toy a 20,7% SA-1B em gráfico como se fossem a mesma tarefa.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RESULTADO LOCAL • semente 7; análise própria</a:t>
            </a:r>
            <a:endParaRPr lang="pt-BR" sz="1400"/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A imagem foi reduzida a 24 por 24 para o grafo. Não se usam anotações para gerar máscaras, e não se calculou ARCOCO. Apontar a falta de semântica: partição por cor não garante separar gatos e controles. É uma forma concreta de mostrar por que a representação SD2 é central na hipótese dos autores.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DEMONSTRAÇÃO CONCEITUAL • imagem COCO / algoritmo local</a:t>
            </a:r>
            <a:endParaRPr lang="pt-BR" sz="1400"/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1,43 GiB é 19.600² elementos vezes 4 bytes, sem U-Net, buffers ou cabeças. Não é medição de VRAM nem runtime. Treinamento publicado: batch16 em quatro A100. Falta relatório completo de custo e variância no paper. A inferência do estudante evita repetir o gerador, mas não remove o custo de criar sua supervisão.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Sec. 5; cálculo teórico próprio da afinidade</a:t>
            </a:r>
            <a:endParaRPr lang="pt-BR" sz="1400"/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Nossa pesquisa mede IoU/Dice de uma classe específica. Diffuse2Seg não decide que uma região é pista; a transferência requer seleção/validação semântica. Copiar intensidade em três canais só resolve formato. Não há benchmark SAR no artigo. Conceito mais prático é crops sobre SAM existente; usar affinities SD2 é uma hipótese mais incerta.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Análise própria; project/initial_project.pdf</a:t>
            </a:r>
            <a:endParaRPr lang="pt-BR" sz="1400"/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Uma alteração por ablação, seleção apenas na validação, separação geográfica quando possível, mesmo orçamento/arquitetura/inicialização. Medir aceitação das pseudo-máscaras e erros de largura. Adicionar imagens sem pista quando disponíveis para medir falso positivo. Nenhum desses experimentos SAR foi executado neste seminário.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Proposta futura • notes/research_application.md</a:t>
            </a:r>
            <a:endParaRPr lang="pt-BR" sz="1400"/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Retomar a pergunta inicial: o paper oferece evidência de estrutura reutilizável e rótulos úteis; a reprodução local confirma a operacionalização e mostra dependência da afinidade. Para SAR, tratar transferência como hipótese e priorizar avaliação de crops. Perguntar à audiência como avaliar utilidade de pseudo-rótulos além de recall de propostas.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Síntese do artigo e dos experimentos locais</a:t>
            </a:r>
            <a:endParaRPr lang="pt-BR" sz="1400"/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Referência principal https://arxiv.org/abs/2609.06491v1. Baselines e fundamentos estão nas referências do próprio artigo. As animações são próprias; figuras originais têm página atribuída. Códigos não oficiais com nomes semelhantes não foram tratados como implementação do artigo.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Fontes em notes/sources.md</a:t>
            </a:r>
            <a:endParaRPr lang="pt-BR" sz="1400"/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A figura original tem eixo da direita normalizado por máximo individual. Não comparar esses pontos como valores absolutos de AR ou mAP. Evitar inferir uma curva de treinamento: é sweep de hiperparâmetros, não loss por época.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Resultado ORIGINAL • Figura 5, p. 13</a:t>
            </a:r>
            <a:endParaRPr lang="pt-BR" sz="1400"/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Backbone multiplier0,1, clipping0,01, warmup5000 e schedule90%/96%. Reprodução numérica fiel exigiria checkpoints identificados, acesso SA-1B, variantes de refinamento e validação da implementação. Esses recursos não foram carregados nem treinados.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Apêndice A.3, p. 21</a:t>
            </a:r>
            <a:endParaRPr lang="pt-BR" sz="1400"/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Valores vêm de ablations.json. A contagem pré-NMS muda com seis níveis; o recall final não muda porque as propostas úteis não aumentam. Não somar esse ganho ao efeito de p. É uma única cena/seed, sem conclusão estatística.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RESULTADO LOCAL • p=1,6 • semente 7</a:t>
            </a:r>
            <a:endParaRPr lang="pt-BR" sz="1400"/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1"/>
          <p:nvPr>
            <p:ph type="body" idx="1"/>
          </p:nvPr>
        </p:nvSpPr>
        <p:spPr>
          <a:xfrm>
            <a:off x="457200" y="914400"/>
            <a:ext cx="5943600" cy="6400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O fator2 vem de contar pares simétricos na energia descrita. Atenção real pode ser assimétrica; uma reprodução exata precisa esclarecer o tratamento. A regularização de gradientes no código usa piso de epsilon para evitar potência negativa de zero. Parada por atualização pequena não prova ótimo global não linear.</a:t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/>
            </a:r>
            <a:endParaRPr lang="pt-BR" sz="1400"/>
          </a:p>
          <a:p>
            <a:pPr>
              <a:lnSpc>
                <a:spcPct val="110000"/>
              </a:lnSpc>
            </a:pPr>
            <a:r>
              <a:rPr lang="pt-BR" sz="1400" b="0">
                <a:solidFill>
                  <a:srgbClr val="000000"/>
                </a:solidFill>
                <a:latin typeface="DejaVu Sans"/>
              </a:rPr>
              <a:t xml:space="preserve">Fonte: Verificação própria • checks() / protocol.json</a:t>
            </a:r>
            <a:endParaRPr lang="pt-BR"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.xml"/><Relationship Id="rIdImage" Type="http://schemas.openxmlformats.org/officeDocument/2006/relationships/image" Target="../media/figure1.png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.xml"/><Relationship Id="rIdImage" Type="http://schemas.openxmlformats.org/officeDocument/2006/relationships/image" Target="../media/figure2.png"/></Relationships>
</file>

<file path=ppt/slides/_rels/slide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4.xml"/><Relationship Id="rIdImage" Type="http://schemas.openxmlformats.org/officeDocument/2006/relationships/image" Target="../media/figure4.png"/></Relationships>
</file>

<file path=ppt/slides/_rels/slide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5.xml"/><Relationship Id="rIdImage" Type="http://schemas.openxmlformats.org/officeDocument/2006/relationships/image" Target="../media/figure5.png"/></Relationships>
</file>

<file path=ppt/slides/_rels/slide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6.xml"/><Relationship Id="rIdImage" Type="http://schemas.openxmlformats.org/officeDocument/2006/relationships/image" Target="../media/figure6.png"/></Relationships>
</file>

<file path=ppt/slides/_rels/slide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7.xml"/><Relationship Id="rIdImage" Type="http://schemas.openxmlformats.org/officeDocument/2006/relationships/image" Target="../media/figure7.png"/></Relationships>
</file>

<file path=ppt/slides/_rels/slide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8.xml"/><Relationship Id="rIdImage" Type="http://schemas.openxmlformats.org/officeDocument/2006/relationships/image" Target="../media/figure8.png"/></Relationships>
</file>

<file path=ppt/slides/_rels/slide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9.xml"/><Relationship Id="rIdImage" Type="http://schemas.openxmlformats.org/officeDocument/2006/relationships/image" Target="../media/figure9.png"/></Relationships>
</file>

<file path=ppt/slides/_rels/slide1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0.xml"/><Relationship Id="rIdImage" Type="http://schemas.openxmlformats.org/officeDocument/2006/relationships/image" Target="../media/figure10.png"/></Relationships>
</file>

<file path=ppt/slides/_rels/slide1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1.xml"/><Relationship Id="rIdImage" Type="http://schemas.openxmlformats.org/officeDocument/2006/relationships/image" Target="../media/figure11.png"/></Relationships>
</file>

<file path=ppt/slides/_rels/slide1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2.xml"/><Relationship Id="rIdImage" Type="http://schemas.openxmlformats.org/officeDocument/2006/relationships/image" Target="../media/figure12.png"/></Relationships>
</file>

<file path=ppt/slides/_rels/slide1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3.xml"/><Relationship Id="rIdImage" Type="http://schemas.openxmlformats.org/officeDocument/2006/relationships/image" Target="../media/figure13.png"/></Relationships>
</file>

<file path=ppt/slides/_rels/slide1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4.xml"/><Relationship Id="rIdImage" Type="http://schemas.openxmlformats.org/officeDocument/2006/relationships/image" Target="../media/figure14.png"/></Relationships>
</file>

<file path=ppt/slides/_rels/slide1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5.xml"/><Relationship Id="rIdImage" Type="http://schemas.openxmlformats.org/officeDocument/2006/relationships/image" Target="../media/figure15.png"/></Relationships>
</file>

<file path=ppt/slides/_rels/slide1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6.xml"/><Relationship Id="rIdImage" Type="http://schemas.openxmlformats.org/officeDocument/2006/relationships/image" Target="../media/figure16.png"/></Relationships>
</file>

<file path=ppt/slides/_rels/slide1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7.xml"/><Relationship Id="rIdImage" Type="http://schemas.openxmlformats.org/officeDocument/2006/relationships/image" Target="../media/figure17.png"/></Relationships>
</file>

<file path=ppt/slides/_rels/slide1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8.xml"/><Relationship Id="rIdImage" Type="http://schemas.openxmlformats.org/officeDocument/2006/relationships/image" Target="../media/figure18.png"/></Relationships>
</file>

<file path=ppt/slides/_rels/slide1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19.xml"/><Relationship Id="rIdImage" Type="http://schemas.openxmlformats.org/officeDocument/2006/relationships/image" Target="../media/figure19.png"/></Relationships>
</file>

<file path=ppt/slides/_rels/slide2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0.xml"/><Relationship Id="rIdImage" Type="http://schemas.openxmlformats.org/officeDocument/2006/relationships/image" Target="../media/figure20.png"/></Relationships>
</file>

<file path=ppt/slides/_rels/slide2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1.xml"/><Relationship Id="rIdImage" Type="http://schemas.openxmlformats.org/officeDocument/2006/relationships/image" Target="../media/figure21.png"/></Relationships>
</file>

<file path=ppt/slides/_rels/slide2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3.xml"/><Relationship Id="rIdImage" Type="http://schemas.openxmlformats.org/officeDocument/2006/relationships/image" Target="../media/figure23.png"/></Relationships>
</file>

<file path=ppt/slides/_rels/slide2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4.xml"/><Relationship Id="rIdImage" Type="http://schemas.openxmlformats.org/officeDocument/2006/relationships/image" Target="../media/figure24.png"/></Relationships>
</file>

<file path=ppt/slides/_rels/slide2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5.xml"/><Relationship Id="rIdImage" Type="http://schemas.openxmlformats.org/officeDocument/2006/relationships/image" Target="../media/figure25.png"/></Relationships>
</file>

<file path=ppt/slides/_rels/slide2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6.xml"/><Relationship Id="rIdImage" Type="http://schemas.openxmlformats.org/officeDocument/2006/relationships/image" Target="../media/figure26.png"/></Relationships>
</file>

<file path=ppt/slides/_rels/slide27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7.xml"/><Relationship Id="rIdImage" Type="http://schemas.openxmlformats.org/officeDocument/2006/relationships/image" Target="../media/figure27.png"/></Relationships>
</file>

<file path=ppt/slides/_rels/slide28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29.xml"/><Relationship Id="rIdImage" Type="http://schemas.openxmlformats.org/officeDocument/2006/relationships/image" Target="../media/figure29.png"/></Relationships>
</file>

<file path=ppt/slides/_rels/slide30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0.xml"/></Relationships>
</file>

<file path=ppt/slides/_rels/slide3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3.xml"/><Relationship Id="rIdImage" Type="http://schemas.openxmlformats.org/officeDocument/2006/relationships/image" Target="../media/figure33.png"/></Relationships>
</file>

<file path=ppt/slides/_rels/slide34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4.xml"/></Relationships>
</file>

<file path=ppt/slides/_rels/slide35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5.xml"/><Relationship Id="rIdImage" Type="http://schemas.openxmlformats.org/officeDocument/2006/relationships/image" Target="../media/figure35.png"/></Relationships>
</file>

<file path=ppt/slides/_rels/slide36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Notes" Type="http://schemas.openxmlformats.org/officeDocument/2006/relationships/notesSlide" Target="../notesSlides/notesSlide36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Diffuse2Seg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Artigo original, pp. 1–5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01/36</a:t>
            </a:r>
            <a:endParaRPr lang="pt-BR" sz="1000"/>
          </a:p>
        </p:txBody>
      </p:sp>
      <p:sp>
        <p:nvSpPr>
          <p:cNvPr id="7" name="Elemento 7"/>
          <p:cNvSpPr txBox="1"/>
          <p:nvPr/>
        </p:nvSpPr>
        <p:spPr>
          <a:xfrm>
            <a:off x="457200" y="98755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700" b="0">
                <a:solidFill>
                  <a:srgbClr val="64748b"/>
                </a:solidFill>
                <a:latin typeface="DejaVu Sans"/>
              </a:rPr>
              <a:t xml:space="preserve">Modelos de difusão como fonte de pseudo-máscaras</a:t>
            </a:r>
            <a:endParaRPr lang="pt-BR" sz="1700"/>
          </a:p>
        </p:txBody>
      </p:sp>
      <p:pic>
        <p:nvPicPr>
          <p:cNvPr id="8" name="Elemento 8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887340" y="1234440"/>
            <a:ext cx="10417320" cy="3886200"/>
          </a:xfrm>
          <a:prstGeom prst="rect">
            <a:avLst/>
          </a:prstGeom>
        </p:spPr>
      </p:pic>
      <p:sp>
        <p:nvSpPr>
          <p:cNvPr id="9" name="Elemento 9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0" name="Elemento 10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TP558 • quarto ciclo de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seminários</a:t>
            </a:r>
            <a:endParaRPr lang="pt-BR" sz="1600"/>
          </a:p>
        </p:txBody>
      </p:sp>
      <p:sp>
        <p:nvSpPr>
          <p:cNvPr id="11" name="Elemento 11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2" name="Elemento 12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Matheus Henrique Fonseca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Afonso</a:t>
            </a:r>
            <a:endParaRPr lang="pt-BR" sz="1600"/>
          </a:p>
        </p:txBody>
      </p:sp>
      <p:sp>
        <p:nvSpPr>
          <p:cNvPr id="13" name="Elemento 13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4" name="Elemento 14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Artigo de Hümmer et al. •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arXiv:2609.06491v1</a:t>
            </a:r>
            <a:endParaRPr lang="pt-BR" sz="16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O que significa segmentar qualquer coisa?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Sec. 1 e 3.1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02/36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294448"/>
            <a:ext cx="11201400" cy="3766185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Things: objetos contáveis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Stuff: regiões como céu e solo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Partes e objetos podem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coexistir</a:t>
            </a:r>
            <a:endParaRPr lang="pt-BR" sz="16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O gargalo são os rótulos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Introdução, pp. 1–3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03/36</a:t>
            </a:r>
            <a:endParaRPr lang="pt-BR" sz="1000"/>
          </a:p>
        </p:txBody>
      </p:sp>
      <p:sp>
        <p:nvSpPr>
          <p:cNvPr id="7" name="Elemento 7"/>
          <p:cNvSpPr txBox="1"/>
          <p:nvPr/>
        </p:nvSpPr>
        <p:spPr>
          <a:xfrm>
            <a:off x="502920" y="1828800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01</a:t>
            </a:r>
            <a:endParaRPr lang="pt-BR" sz="2800"/>
          </a:p>
        </p:txBody>
      </p:sp>
      <p:sp>
        <p:nvSpPr>
          <p:cNvPr id="8" name="Elemento 8"/>
          <p:cNvSpPr txBox="1"/>
          <p:nvPr/>
        </p:nvSpPr>
        <p:spPr>
          <a:xfrm>
            <a:off x="1417320" y="1828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SAM: cerca de 11M imagens / 1B máscaras</a:t>
            </a:r>
            <a:endParaRPr lang="pt-BR" sz="2500"/>
          </a:p>
        </p:txBody>
      </p:sp>
      <p:sp>
        <p:nvSpPr>
          <p:cNvPr id="9" name="Elemento 9"/>
          <p:cNvSpPr txBox="1"/>
          <p:nvPr/>
        </p:nvSpPr>
        <p:spPr>
          <a:xfrm>
            <a:off x="502920" y="2907792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02</a:t>
            </a:r>
            <a:endParaRPr lang="pt-BR" sz="2800"/>
          </a:p>
        </p:txBody>
      </p:sp>
      <p:sp>
        <p:nvSpPr>
          <p:cNvPr id="10" name="Elemento 10"/>
          <p:cNvSpPr txBox="1"/>
          <p:nvPr/>
        </p:nvSpPr>
        <p:spPr>
          <a:xfrm>
            <a:off x="1417320" y="2907792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Anotação densa custa tempo e trabalho</a:t>
            </a:r>
            <a:endParaRPr lang="pt-BR" sz="2500"/>
          </a:p>
        </p:txBody>
      </p:sp>
      <p:sp>
        <p:nvSpPr>
          <p:cNvPr id="11" name="Elemento 11"/>
          <p:cNvSpPr txBox="1"/>
          <p:nvPr/>
        </p:nvSpPr>
        <p:spPr>
          <a:xfrm>
            <a:off x="502920" y="3986784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03</a:t>
            </a:r>
            <a:endParaRPr lang="pt-BR" sz="2800"/>
          </a:p>
        </p:txBody>
      </p:sp>
      <p:sp>
        <p:nvSpPr>
          <p:cNvPr id="12" name="Elemento 12"/>
          <p:cNvSpPr txBox="1"/>
          <p:nvPr/>
        </p:nvSpPr>
        <p:spPr>
          <a:xfrm>
            <a:off x="1417320" y="3986784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Hipótese: reutilizar estrutura aprendida na geração</a:t>
            </a:r>
            <a:endParaRPr lang="pt-BR" sz="25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Onde as abordagens anteriores param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Sec. 2 e 4.1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04/36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265177"/>
            <a:ext cx="11201400" cy="3824727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DINO / UnSAM: forte viés para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objetos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DiffSeg: fusão de atenção em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grupos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M2N2: máscara interativa por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prompt</a:t>
            </a:r>
            <a:endParaRPr lang="pt-BR" sz="16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A proposta em três etapas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Figura 2; Sec. 3.2–3.5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05/36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887340" y="1234440"/>
            <a:ext cx="10417320" cy="3886200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1. SD2 congelado → afinidade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2. Grade + propagação →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pseudo-máscaras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3. Treinar e enriquecer o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estudante</a:t>
            </a:r>
            <a:endParaRPr lang="pt-BR" sz="16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Uma passagem, não uma geração completa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Sec. 3.3 e 4.1, pp. 5–10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06/36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887340" y="1234440"/>
            <a:ext cx="10417320" cy="3886200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RGB 1120² → latent de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aproximadamente 140²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U-Net em t=150; texto nulo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Extrair autoatenção de alta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resolução</a:t>
            </a:r>
            <a:endParaRPr lang="pt-BR" sz="16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Da autoatenção ao grafo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Equação 1; Apêndice A.1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07/36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975805" y="1234440"/>
            <a:ext cx="10240389" cy="3886200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Aij representa afinidade entre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tokens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Média das cabeças; pesos 0,85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/ 0,15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Uma matriz A guia todos os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prompts</a:t>
            </a:r>
            <a:endParaRPr lang="pt-BR" sz="16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Por que propagar em vez de aplicar threshold?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Sec. 3.4; figura local com afinidade proxy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08/36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2058295"/>
            <a:ext cx="11201400" cy="2238489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Um ponto é um vetor one-hot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Afinidades fortes difundem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informação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Regularização busca mapas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coerentes</a:t>
            </a:r>
            <a:endParaRPr lang="pt-BR" sz="16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A energia equilibra coerência e ancoragem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Equação 2; Algoritmo 1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09/36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243060"/>
            <a:ext cx="11201400" cy="3868960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p=2: propagação linear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p&lt;2: comportamento que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preserva diferenças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λ mantém ligação com o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prompt inicial</a:t>
            </a:r>
            <a:endParaRPr lang="pt-BR" sz="16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Vários pontos podem descobrir a mesma região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Equação 3 e Algoritmo 2; figura local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10/36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373785"/>
            <a:ext cx="11201400" cy="3607510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Normalizar cada mapa para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soma 1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Comparar com KL simétrica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Clustering aglomerativo por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ligação média</a:t>
            </a:r>
            <a:endParaRPr lang="pt-BR" sz="16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Cortes diferentes recuperam escalas diferentes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Sec. 3.4 e Algoritmo 2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11/36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887340" y="1234440"/>
            <a:ext cx="10417320" cy="3886200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h pequeno → mais grupos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h grande → fusão em grupos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grossos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Média → upsampling → argmax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→ componentes</a:t>
            </a:r>
            <a:endParaRPr lang="pt-BR" sz="16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Deduplicar sem apagar a hierarquia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Sec. 3.4; Apêndice A.1–A.2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12/36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302523"/>
            <a:ext cx="11201400" cy="3750034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Filtrar componentes pequenos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Ordenar candidatos por área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Rejeitar IoU &gt; 0,9; até 1.000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máscaras</a:t>
            </a:r>
            <a:endParaRPr lang="pt-BR" sz="16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O estudante é outro modelo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Sec. 3.5; Apêndice A.3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13/36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901341" y="1234440"/>
            <a:ext cx="10389317" cy="3886200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Mask2Former + ResNet-50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Queries → máscaras e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objectness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Loss = 5 Dice + 5 máscara + 2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classe</a:t>
            </a:r>
            <a:endParaRPr lang="pt-BR" sz="16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Rodada 2: olhar novamente para as partes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Sec. 3.5; Tabela 5; Apêndice A.3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14/36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887340" y="1234440"/>
            <a:ext cx="10417320" cy="3886200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Inferência global encontra pais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Crops ampliados podem revelar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filhos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Validar contenção e enriquecer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rótulos</a:t>
            </a:r>
            <a:endParaRPr lang="pt-BR" sz="16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O que foi treinado e onde foi avaliado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Sec. 4.1; Tabela 3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15/36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901341" y="1234440"/>
            <a:ext cx="10389317" cy="3886200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SA-1B: 100k / 200k / 400k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imagens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Holdout de 1.000 fixa os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parâmetros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Zero-shot: objetos, entidades e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partes</a:t>
            </a:r>
            <a:endParaRPr lang="pt-BR" sz="16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AR1000 mede cobertura de propostas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Sec. 4.1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16/36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370951"/>
            <a:ext cx="11201400" cy="3613178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Até 1.000 máscaras por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imagem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Recall médio em IoU 0,50…0,95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ARS / ARM / ARL mostram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efeito da escala</a:t>
            </a:r>
            <a:endParaRPr lang="pt-BR" sz="160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Rótulos melhores, sobretudo em objetos grandes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Resultado ORIGINAL • Tabela 1, p. 10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17/36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324421"/>
            <a:ext cx="11201400" cy="3706238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AR: 20,7 vs. 16,4 do UnSAM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+4,3 pontos percentuais no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agregado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Pequenos: 2,6 vs. 5,7; limitação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real</a:t>
            </a:r>
            <a:endParaRPr lang="pt-BR" sz="160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Os ganhos transferem para cinco domínios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Resultado ORIGINAL • Tabela 2, p. 11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18/36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321989"/>
            <a:ext cx="11201400" cy="3711102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+4,3 a +7,1 p.p. frente ao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UnSAM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Inclui stuff e partes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CutLER segue maior em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ADE20K e UVO</a:t>
            </a:r>
            <a:endParaRPr lang="pt-BR" sz="16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No estudante, a fonte dos rótulos importa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Resultado ORIGINAL • Tabela 3, p. 12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19/36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438458"/>
            <a:ext cx="11201400" cy="3478163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Sem detector: +7,7 p.p. em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stuff+things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Com CutLER / 400k: 43,8 vs.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41,7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Things / 400k: 41,1 vs. 41,3</a:t>
            </a:r>
            <a:endParaRPr lang="pt-BR" sz="160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O que as imagens do artigo mostram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Resultado ORIGINAL • Figura 1, p. 2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20/36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1775460" y="1234440"/>
            <a:ext cx="8641080" cy="3886200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Comparação qualitativa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selecionada pelos autores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Cobertura de fundo e limites de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entidades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Exemplos não substituem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avaliação sistemática</a:t>
            </a:r>
            <a:endParaRPr lang="pt-BR" sz="160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Ablações: preservar propostas melhora recall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Resultado ORIGINAL • Tabelas 4–5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21/36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396423"/>
            <a:ext cx="11201400" cy="3562235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3 → 6 níveis: +1,8 p.p.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NMS 0,5 → 0,9: +3,1 p.p.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Crops em SA-1B: +3,7 p.p.</a:t>
            </a:r>
            <a:endParaRPr lang="pt-BR" sz="16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Poucos rótulos humanos: qual é a comparação?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Resultado ORIGINAL • Sec. 4.4 / Figura 4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22/36</a:t>
            </a:r>
            <a:endParaRPr lang="pt-BR" sz="1000"/>
          </a:p>
        </p:txBody>
      </p:sp>
      <p:sp>
        <p:nvSpPr>
          <p:cNvPr id="7" name="Elemento 7"/>
          <p:cNvSpPr txBox="1"/>
          <p:nvPr/>
        </p:nvSpPr>
        <p:spPr>
          <a:xfrm>
            <a:off x="502920" y="1828800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01</a:t>
            </a:r>
            <a:endParaRPr lang="pt-BR" sz="2800"/>
          </a:p>
        </p:txBody>
      </p:sp>
      <p:sp>
        <p:nvSpPr>
          <p:cNvPr id="8" name="Elemento 8"/>
          <p:cNvSpPr txBox="1"/>
          <p:nvPr/>
        </p:nvSpPr>
        <p:spPr>
          <a:xfrm>
            <a:off x="1417320" y="1828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Referência supervisionada 100k: 51,1 mAR</a:t>
            </a:r>
            <a:endParaRPr lang="pt-BR" sz="2500"/>
          </a:p>
        </p:txBody>
      </p:sp>
      <p:sp>
        <p:nvSpPr>
          <p:cNvPr id="9" name="Elemento 9"/>
          <p:cNvSpPr txBox="1"/>
          <p:nvPr/>
        </p:nvSpPr>
        <p:spPr>
          <a:xfrm>
            <a:off x="502920" y="2907792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02</a:t>
            </a:r>
            <a:endParaRPr lang="pt-BR" sz="2800"/>
          </a:p>
        </p:txBody>
      </p:sp>
      <p:sp>
        <p:nvSpPr>
          <p:cNvPr id="10" name="Elemento 10"/>
          <p:cNvSpPr txBox="1"/>
          <p:nvPr/>
        </p:nvSpPr>
        <p:spPr>
          <a:xfrm>
            <a:off x="1417320" y="2907792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100 imagens de ajuste: 93,5% da referência</a:t>
            </a:r>
            <a:endParaRPr lang="pt-BR" sz="2500"/>
          </a:p>
        </p:txBody>
      </p:sp>
      <p:sp>
        <p:nvSpPr>
          <p:cNvPr id="11" name="Elemento 11"/>
          <p:cNvSpPr txBox="1"/>
          <p:nvPr/>
        </p:nvSpPr>
        <p:spPr>
          <a:xfrm>
            <a:off x="502920" y="3986784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03</a:t>
            </a:r>
            <a:endParaRPr lang="pt-BR" sz="2800"/>
          </a:p>
        </p:txBody>
      </p:sp>
      <p:sp>
        <p:nvSpPr>
          <p:cNvPr id="12" name="Elemento 12"/>
          <p:cNvSpPr txBox="1"/>
          <p:nvPr/>
        </p:nvSpPr>
        <p:spPr>
          <a:xfrm>
            <a:off x="1417320" y="3986784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10k: ganho reportado de 1,4 p.p.</a:t>
            </a:r>
            <a:endParaRPr lang="pt-BR" sz="25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Nossa reprodução: o que entrou no teste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REPRODUÇÃO PARCIAL • scripts e NPZ locais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23/36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272455"/>
            <a:ext cx="11201400" cy="3810169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Algoritmos de propagação e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fusão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Grafo RGB/posição, 24² pixels,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16 prompts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Sem SD2, CascadePSP ou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treinamento</a:t>
            </a:r>
            <a:endParaRPr lang="pt-BR" sz="160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Protocolo pequeno, mas verificável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REPRODUÇÃO PARCIAL • protocol.json / métricas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24/36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373785"/>
            <a:ext cx="11201400" cy="3607510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p=2 / 1,6 / 1,2; sementes 7 / 23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/ 42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Mesmos grafo, λ, prompts e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cortes por semente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Caso linear validado por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solução fechada</a:t>
            </a:r>
            <a:endParaRPr lang="pt-BR" sz="16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O resultado local foi diferente do paper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RESULTADO LOCAL • 9 execuções • mean ± std amostral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25/36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652544" y="1234440"/>
            <a:ext cx="10886912" cy="3886200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p=2: 56,1% ± 9,6 de recall toy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p=1,6: 25,0%; p=1,2: 45,0%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Não houve reprodução do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ganho de p&lt;2</a:t>
            </a:r>
            <a:endParaRPr lang="pt-BR" sz="16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Por que os resultados não são comparáveis?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RESULTADO LOCAL • semente 7; análise própria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26/36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235384"/>
            <a:ext cx="11201400" cy="3884313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Autoatenção SD2 foi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substituída por similaridade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RGB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Mesma cena toy; nenhum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benchmark do paper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Pior fusão em p=1,6: entidades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desaparecem</a:t>
            </a:r>
            <a:endParaRPr lang="pt-BR" sz="160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Fotografia real: apenas demonstração conceitual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DEMONSTRAÇÃO CONCEITUAL • imagem COCO / algoritmo local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27/36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273302"/>
            <a:ext cx="11201400" cy="3808476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Imagem COCO 39769 já usada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no ciclo 3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Partições vêm do mesmo proxy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RGB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Não há benchmark COCO ou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identificação de classe</a:t>
            </a:r>
            <a:endParaRPr lang="pt-BR" sz="16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Limitações e custo: onde o método pode falhar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Sec. 5; cálculo teórico próprio da afinidade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28/36</a:t>
            </a:r>
            <a:endParaRPr lang="pt-BR" sz="1000"/>
          </a:p>
        </p:txBody>
      </p:sp>
      <p:sp>
        <p:nvSpPr>
          <p:cNvPr id="7" name="Elemento 7"/>
          <p:cNvSpPr txBox="1"/>
          <p:nvPr/>
        </p:nvSpPr>
        <p:spPr>
          <a:xfrm>
            <a:off x="502920" y="1828800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01</a:t>
            </a:r>
            <a:endParaRPr lang="pt-BR" sz="2800"/>
          </a:p>
        </p:txBody>
      </p:sp>
      <p:sp>
        <p:nvSpPr>
          <p:cNvPr id="8" name="Elemento 8"/>
          <p:cNvSpPr txBox="1"/>
          <p:nvPr/>
        </p:nvSpPr>
        <p:spPr>
          <a:xfrm>
            <a:off x="1417320" y="1828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Latent: objetos pequenos podem desaparecer</a:t>
            </a:r>
            <a:endParaRPr lang="pt-BR" sz="2500"/>
          </a:p>
        </p:txBody>
      </p:sp>
      <p:sp>
        <p:nvSpPr>
          <p:cNvPr id="9" name="Elemento 9"/>
          <p:cNvSpPr txBox="1"/>
          <p:nvPr/>
        </p:nvSpPr>
        <p:spPr>
          <a:xfrm>
            <a:off x="502920" y="2907792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02</a:t>
            </a:r>
            <a:endParaRPr lang="pt-BR" sz="2800"/>
          </a:p>
        </p:txBody>
      </p:sp>
      <p:sp>
        <p:nvSpPr>
          <p:cNvPr id="10" name="Elemento 10"/>
          <p:cNvSpPr txBox="1"/>
          <p:nvPr/>
        </p:nvSpPr>
        <p:spPr>
          <a:xfrm>
            <a:off x="1417320" y="2907792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Texturas podem produzir sobresegmentação</a:t>
            </a:r>
            <a:endParaRPr lang="pt-BR" sz="2500"/>
          </a:p>
        </p:txBody>
      </p:sp>
      <p:sp>
        <p:nvSpPr>
          <p:cNvPr id="11" name="Elemento 11"/>
          <p:cNvSpPr txBox="1"/>
          <p:nvPr/>
        </p:nvSpPr>
        <p:spPr>
          <a:xfrm>
            <a:off x="502920" y="3986784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03</a:t>
            </a:r>
            <a:endParaRPr lang="pt-BR" sz="2800"/>
          </a:p>
        </p:txBody>
      </p:sp>
      <p:sp>
        <p:nvSpPr>
          <p:cNvPr id="12" name="Elemento 12"/>
          <p:cNvSpPr txBox="1"/>
          <p:nvPr/>
        </p:nvSpPr>
        <p:spPr>
          <a:xfrm>
            <a:off x="1417320" y="3986784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Afinidade densa 140²: 1,43 GiB só em FP32</a:t>
            </a:r>
            <a:endParaRPr lang="pt-BR" sz="25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O que isso oferece para pistas SAR?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Análise própria; project/initial_project.pdf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29/36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887340" y="1234440"/>
            <a:ext cx="10417320" cy="3886200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Reutilizar crops e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enriquecimento de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pseudo-rótulos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Pistas estreitas desafiam a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resolução latente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SD2 RGB → SAR exige validar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mudança de domínio</a:t>
            </a:r>
            <a:endParaRPr lang="pt-BR" sz="16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Experimento futuro com controle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Proposta futura • notes/research_application.md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30/36</a:t>
            </a:r>
            <a:endParaRPr lang="pt-BR" sz="1000"/>
          </a:p>
        </p:txBody>
      </p:sp>
      <p:sp>
        <p:nvSpPr>
          <p:cNvPr id="7" name="Elemento 7"/>
          <p:cNvSpPr txBox="1"/>
          <p:nvPr/>
        </p:nvSpPr>
        <p:spPr>
          <a:xfrm>
            <a:off x="502920" y="1828800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01</a:t>
            </a:r>
            <a:endParaRPr lang="pt-BR" sz="2800"/>
          </a:p>
        </p:txBody>
      </p:sp>
      <p:sp>
        <p:nvSpPr>
          <p:cNvPr id="8" name="Elemento 8"/>
          <p:cNvSpPr txBox="1"/>
          <p:nvPr/>
        </p:nvSpPr>
        <p:spPr>
          <a:xfrm>
            <a:off x="1417320" y="1828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1. Congelar split, checkpoint e baseline SAM</a:t>
            </a:r>
            <a:endParaRPr lang="pt-BR" sz="2500"/>
          </a:p>
        </p:txBody>
      </p:sp>
      <p:sp>
        <p:nvSpPr>
          <p:cNvPr id="9" name="Elemento 9"/>
          <p:cNvSpPr txBox="1"/>
          <p:nvPr/>
        </p:nvSpPr>
        <p:spPr>
          <a:xfrm>
            <a:off x="502920" y="2907792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02</a:t>
            </a:r>
            <a:endParaRPr lang="pt-BR" sz="2800"/>
          </a:p>
        </p:txBody>
      </p:sp>
      <p:sp>
        <p:nvSpPr>
          <p:cNvPr id="10" name="Elemento 10"/>
          <p:cNvSpPr txBox="1"/>
          <p:nvPr/>
        </p:nvSpPr>
        <p:spPr>
          <a:xfrm>
            <a:off x="1417320" y="2907792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2. Avaliar crops; depois qualidade dos pseudo-rótulos</a:t>
            </a:r>
            <a:endParaRPr lang="pt-BR" sz="2500"/>
          </a:p>
        </p:txBody>
      </p:sp>
      <p:sp>
        <p:nvSpPr>
          <p:cNvPr id="11" name="Elemento 11"/>
          <p:cNvSpPr txBox="1"/>
          <p:nvPr/>
        </p:nvSpPr>
        <p:spPr>
          <a:xfrm>
            <a:off x="502920" y="3986784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03</a:t>
            </a:r>
            <a:endParaRPr lang="pt-BR" sz="2800"/>
          </a:p>
        </p:txBody>
      </p:sp>
      <p:sp>
        <p:nvSpPr>
          <p:cNvPr id="12" name="Elemento 12"/>
          <p:cNvSpPr txBox="1"/>
          <p:nvPr/>
        </p:nvSpPr>
        <p:spPr>
          <a:xfrm>
            <a:off x="1417320" y="3986784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3. Teste final: IoU/Dice, falsos positivos e custo</a:t>
            </a:r>
            <a:endParaRPr lang="pt-BR" sz="2500"/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Conclusões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Síntese do artigo e dos experimentos locais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31/36</a:t>
            </a:r>
            <a:endParaRPr lang="pt-BR" sz="1000"/>
          </a:p>
        </p:txBody>
      </p:sp>
      <p:sp>
        <p:nvSpPr>
          <p:cNvPr id="7" name="Elemento 7"/>
          <p:cNvSpPr txBox="1"/>
          <p:nvPr/>
        </p:nvSpPr>
        <p:spPr>
          <a:xfrm>
            <a:off x="502920" y="1828800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01</a:t>
            </a:r>
            <a:endParaRPr lang="pt-BR" sz="2800"/>
          </a:p>
        </p:txBody>
      </p:sp>
      <p:sp>
        <p:nvSpPr>
          <p:cNvPr id="8" name="Elemento 8"/>
          <p:cNvSpPr txBox="1"/>
          <p:nvPr/>
        </p:nvSpPr>
        <p:spPr>
          <a:xfrm>
            <a:off x="1417320" y="1828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Representações generativas podem supervisionar segmentação</a:t>
            </a:r>
            <a:endParaRPr lang="pt-BR" sz="2500"/>
          </a:p>
        </p:txBody>
      </p:sp>
      <p:sp>
        <p:nvSpPr>
          <p:cNvPr id="9" name="Elemento 9"/>
          <p:cNvSpPr txBox="1"/>
          <p:nvPr/>
        </p:nvSpPr>
        <p:spPr>
          <a:xfrm>
            <a:off x="502920" y="2907792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02</a:t>
            </a:r>
            <a:endParaRPr lang="pt-BR" sz="2800"/>
          </a:p>
        </p:txBody>
      </p:sp>
      <p:sp>
        <p:nvSpPr>
          <p:cNvPr id="10" name="Elemento 10"/>
          <p:cNvSpPr txBox="1"/>
          <p:nvPr/>
        </p:nvSpPr>
        <p:spPr>
          <a:xfrm>
            <a:off x="1417320" y="2907792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Propagação + hierarquia conectam pontos a entidades</a:t>
            </a:r>
            <a:endParaRPr lang="pt-BR" sz="2500"/>
          </a:p>
        </p:txBody>
      </p:sp>
      <p:sp>
        <p:nvSpPr>
          <p:cNvPr id="11" name="Elemento 11"/>
          <p:cNvSpPr txBox="1"/>
          <p:nvPr/>
        </p:nvSpPr>
        <p:spPr>
          <a:xfrm>
            <a:off x="502920" y="3986784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03</a:t>
            </a:r>
            <a:endParaRPr lang="pt-BR" sz="2800"/>
          </a:p>
        </p:txBody>
      </p:sp>
      <p:sp>
        <p:nvSpPr>
          <p:cNvPr id="12" name="Elemento 12"/>
          <p:cNvSpPr txBox="1"/>
          <p:nvPr/>
        </p:nvSpPr>
        <p:spPr>
          <a:xfrm>
            <a:off x="1417320" y="3986784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Nossa reprodução explica operações, não valida o benchmark</a:t>
            </a:r>
            <a:endParaRPr lang="pt-BR" sz="25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Referências e materiais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Fontes em notes/sources.md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32/36</a:t>
            </a:r>
            <a:endParaRPr lang="pt-BR" sz="1000"/>
          </a:p>
        </p:txBody>
      </p:sp>
      <p:sp>
        <p:nvSpPr>
          <p:cNvPr id="7" name="Elemento 7"/>
          <p:cNvSpPr txBox="1"/>
          <p:nvPr/>
        </p:nvSpPr>
        <p:spPr>
          <a:xfrm>
            <a:off x="502920" y="1828800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01</a:t>
            </a:r>
            <a:endParaRPr lang="pt-BR" sz="2800"/>
          </a:p>
        </p:txBody>
      </p:sp>
      <p:sp>
        <p:nvSpPr>
          <p:cNvPr id="8" name="Elemento 8"/>
          <p:cNvSpPr txBox="1"/>
          <p:nvPr/>
        </p:nvSpPr>
        <p:spPr>
          <a:xfrm>
            <a:off x="1417320" y="1828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Hümmer et al. • arXiv:2609.06491v1</a:t>
            </a:r>
            <a:endParaRPr lang="pt-BR" sz="2500"/>
          </a:p>
        </p:txBody>
      </p:sp>
      <p:sp>
        <p:nvSpPr>
          <p:cNvPr id="9" name="Elemento 9"/>
          <p:cNvSpPr txBox="1"/>
          <p:nvPr/>
        </p:nvSpPr>
        <p:spPr>
          <a:xfrm>
            <a:off x="502920" y="2907792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02</a:t>
            </a:r>
            <a:endParaRPr lang="pt-BR" sz="2800"/>
          </a:p>
        </p:txBody>
      </p:sp>
      <p:sp>
        <p:nvSpPr>
          <p:cNvPr id="10" name="Elemento 10"/>
          <p:cNvSpPr txBox="1"/>
          <p:nvPr/>
        </p:nvSpPr>
        <p:spPr>
          <a:xfrm>
            <a:off x="1417320" y="2907792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Código, protocolos e resultados em seminar_4</a:t>
            </a:r>
            <a:endParaRPr lang="pt-BR" sz="2500"/>
          </a:p>
        </p:txBody>
      </p:sp>
      <p:sp>
        <p:nvSpPr>
          <p:cNvPr id="11" name="Elemento 11"/>
          <p:cNvSpPr txBox="1"/>
          <p:nvPr/>
        </p:nvSpPr>
        <p:spPr>
          <a:xfrm>
            <a:off x="502920" y="3986784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03</a:t>
            </a:r>
            <a:endParaRPr lang="pt-BR" sz="2800"/>
          </a:p>
        </p:txBody>
      </p:sp>
      <p:sp>
        <p:nvSpPr>
          <p:cNvPr id="12" name="Elemento 12"/>
          <p:cNvSpPr txBox="1"/>
          <p:nvPr/>
        </p:nvSpPr>
        <p:spPr>
          <a:xfrm>
            <a:off x="1417320" y="3986784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README: execução, vídeos e notas técnicas</a:t>
            </a:r>
            <a:endParaRPr lang="pt-BR" sz="2500"/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Backup: timestep e compromisso p / precisão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Resultado ORIGINAL • Figura 5, p. 13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33/36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447481"/>
            <a:ext cx="11201400" cy="3460118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p=1,2 favorece recall; p=1,6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favorece mAP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Curvas de timestep são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normalizadas por métrica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Não extraímos valores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intermediários dessas curvas</a:t>
            </a:r>
            <a:endParaRPr lang="pt-BR" sz="1600"/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Backup: configuração para treino integral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Apêndice A.3, p. 21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34/36</a:t>
            </a:r>
            <a:endParaRPr lang="pt-BR" sz="1000"/>
          </a:p>
        </p:txBody>
      </p:sp>
      <p:sp>
        <p:nvSpPr>
          <p:cNvPr id="7" name="Elemento 7"/>
          <p:cNvSpPr txBox="1"/>
          <p:nvPr/>
        </p:nvSpPr>
        <p:spPr>
          <a:xfrm>
            <a:off x="502920" y="1828800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01</a:t>
            </a:r>
            <a:endParaRPr lang="pt-BR" sz="2800"/>
          </a:p>
        </p:txBody>
      </p:sp>
      <p:sp>
        <p:nvSpPr>
          <p:cNvPr id="8" name="Elemento 8"/>
          <p:cNvSpPr txBox="1"/>
          <p:nvPr/>
        </p:nvSpPr>
        <p:spPr>
          <a:xfrm>
            <a:off x="1417320" y="1828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AdamW; LR 5e−5; weight decay 0,05</a:t>
            </a:r>
            <a:endParaRPr lang="pt-BR" sz="2500"/>
          </a:p>
        </p:txBody>
      </p:sp>
      <p:sp>
        <p:nvSpPr>
          <p:cNvPr id="9" name="Elemento 9"/>
          <p:cNvSpPr txBox="1"/>
          <p:nvPr/>
        </p:nvSpPr>
        <p:spPr>
          <a:xfrm>
            <a:off x="502920" y="2907792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02</a:t>
            </a:r>
            <a:endParaRPr lang="pt-BR" sz="2800"/>
          </a:p>
        </p:txBody>
      </p:sp>
      <p:sp>
        <p:nvSpPr>
          <p:cNvPr id="10" name="Elemento 10"/>
          <p:cNvSpPr txBox="1"/>
          <p:nvPr/>
        </p:nvSpPr>
        <p:spPr>
          <a:xfrm>
            <a:off x="1417320" y="2907792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1024²; batch16; 2.000 queries; 4 × A100</a:t>
            </a:r>
            <a:endParaRPr lang="pt-BR" sz="2500"/>
          </a:p>
        </p:txBody>
      </p:sp>
      <p:sp>
        <p:nvSpPr>
          <p:cNvPr id="11" name="Elemento 11"/>
          <p:cNvSpPr txBox="1"/>
          <p:nvPr/>
        </p:nvSpPr>
        <p:spPr>
          <a:xfrm>
            <a:off x="502920" y="3986784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03</a:t>
            </a:r>
            <a:endParaRPr lang="pt-BR" sz="2800"/>
          </a:p>
        </p:txBody>
      </p:sp>
      <p:sp>
        <p:nvSpPr>
          <p:cNvPr id="12" name="Elemento 12"/>
          <p:cNvSpPr txBox="1"/>
          <p:nvPr/>
        </p:nvSpPr>
        <p:spPr>
          <a:xfrm>
            <a:off x="1417320" y="3986784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Round 1 ~8 épocas; Round 2 em 100k imagens</a:t>
            </a:r>
            <a:endParaRPr lang="pt-BR" sz="2500"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Backup: ablação local de fusão / NMS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RESULTADO LOCAL • p=1,6 • semente 7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35/36</a:t>
            </a:r>
            <a:endParaRPr lang="pt-BR" sz="1000"/>
          </a:p>
        </p:txBody>
      </p:sp>
      <p:pic>
        <p:nvPicPr>
          <p:cNvPr id="7" name="Elemento 7"/>
          <p:cNvPicPr>
            <a:picLocks noChangeAspect="1"/>
          </p:cNvPicPr>
          <p:nvPr/>
        </p:nvPicPr>
        <p:blipFill>
          <a:blip r:embed="rIdImage"/>
          <a:stretch>
            <a:fillRect/>
          </a:stretch>
        </p:blipFill>
        <p:spPr>
          <a:xfrm>
            <a:off x="495300" y="1291267"/>
            <a:ext cx="11201400" cy="3772547"/>
          </a:xfrm>
          <a:prstGeom prst="rect">
            <a:avLst/>
          </a:prstGeom>
        </p:spPr>
      </p:pic>
      <p:sp>
        <p:nvSpPr>
          <p:cNvPr id="8" name="Elemento 8"/>
          <p:cNvSpPr txBox="0"/>
          <p:nvPr/>
        </p:nvSpPr>
        <p:spPr>
          <a:xfrm>
            <a:off x="457200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" name="Elemento 9"/>
          <p:cNvSpPr txBox="1"/>
          <p:nvPr/>
        </p:nvSpPr>
        <p:spPr>
          <a:xfrm>
            <a:off x="585216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3 / 6 níveis têm mesmo recall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neste toy</a:t>
            </a:r>
            <a:endParaRPr lang="pt-BR" sz="1600"/>
          </a:p>
        </p:txBody>
      </p:sp>
      <p:sp>
        <p:nvSpPr>
          <p:cNvPr id="10" name="Elemento 10"/>
          <p:cNvSpPr txBox="0"/>
          <p:nvPr/>
        </p:nvSpPr>
        <p:spPr>
          <a:xfrm>
            <a:off x="4270248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1" name="Elemento 11"/>
          <p:cNvSpPr txBox="1"/>
          <p:nvPr/>
        </p:nvSpPr>
        <p:spPr>
          <a:xfrm>
            <a:off x="4398264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NMS0,5: 16,7%; NMS0,9: 25,0%</a:t>
            </a:r>
            <a:endParaRPr lang="pt-BR" sz="1600"/>
          </a:p>
        </p:txBody>
      </p:sp>
      <p:sp>
        <p:nvSpPr>
          <p:cNvPr id="12" name="Elemento 12"/>
          <p:cNvSpPr txBox="0"/>
          <p:nvPr/>
        </p:nvSpPr>
        <p:spPr>
          <a:xfrm>
            <a:off x="8083296" y="5285232"/>
            <a:ext cx="3621024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13" name="Elemento 13"/>
          <p:cNvSpPr txBox="1"/>
          <p:nvPr/>
        </p:nvSpPr>
        <p:spPr>
          <a:xfrm>
            <a:off x="8211312" y="5394960"/>
            <a:ext cx="3364992" cy="6675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Mais candidatos não garantem</a:t>
            </a:r>
            <a:endParaRPr lang="pt-BR" sz="1600"/>
          </a:p>
          <a:p>
            <a:pPr>
              <a:lnSpc>
                <a:spcPct val="110000"/>
              </a:lnSpc>
            </a:pPr>
            <a:r>
              <a:rPr lang="pt-BR" sz="1600" b="0">
                <a:solidFill>
                  <a:srgbClr val="172033"/>
                </a:solidFill>
                <a:latin typeface="DejaVu Sans"/>
              </a:rPr>
              <a:t xml:space="preserve">melhores máscaras</a:t>
            </a:r>
            <a:endParaRPr lang="pt-BR" sz="1600"/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emento 2"/>
          <p:cNvSpPr txBox="0"/>
          <p:nvPr/>
        </p:nvSpPr>
        <p:spPr>
          <a:xfrm>
            <a:off x="457200" y="320040"/>
            <a:ext cx="658368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3" name="Elemento 3"/>
          <p:cNvSpPr txBox="1"/>
          <p:nvPr/>
        </p:nvSpPr>
        <p:spPr>
          <a:xfrm>
            <a:off x="457200" y="521208"/>
            <a:ext cx="11247120" cy="777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172033"/>
                </a:solidFill>
                <a:latin typeface="DejaVu Sans"/>
              </a:rPr>
              <a:t xml:space="preserve">Backup: linearidade e detalhes numéricos</a:t>
            </a:r>
            <a:endParaRPr lang="pt-BR" sz="2800"/>
          </a:p>
        </p:txBody>
      </p:sp>
      <p:sp>
        <p:nvSpPr>
          <p:cNvPr id="4" name="Elemento 4"/>
          <p:cNvSpPr txBox="1"/>
          <p:nvPr/>
        </p:nvSpPr>
        <p:spPr>
          <a:xfrm>
            <a:off x="457200" y="6419088"/>
            <a:ext cx="182880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100" b="1">
                <a:solidFill>
                  <a:srgbClr val="2563eb"/>
                </a:solidFill>
                <a:latin typeface="DejaVu Sans"/>
              </a:rPr>
              <a:t xml:space="preserve">Inatel • TP558</a:t>
            </a:r>
            <a:endParaRPr lang="pt-BR" sz="1100"/>
          </a:p>
        </p:txBody>
      </p:sp>
      <p:sp>
        <p:nvSpPr>
          <p:cNvPr id="5" name="Elemento 5"/>
          <p:cNvSpPr txBox="1"/>
          <p:nvPr/>
        </p:nvSpPr>
        <p:spPr>
          <a:xfrm>
            <a:off x="2194560" y="6419088"/>
            <a:ext cx="92354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Verificação própria • checks() / protocol.json</a:t>
            </a:r>
            <a:endParaRPr lang="pt-BR" sz="1000"/>
          </a:p>
        </p:txBody>
      </p:sp>
      <p:sp>
        <p:nvSpPr>
          <p:cNvPr id="6" name="Elemento 6"/>
          <p:cNvSpPr txBox="1"/>
          <p:nvPr/>
        </p:nvSpPr>
        <p:spPr>
          <a:xfrm>
            <a:off x="11457432" y="6419088"/>
            <a:ext cx="548640" cy="210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1000" b="0">
                <a:solidFill>
                  <a:srgbClr val="64748b"/>
                </a:solidFill>
                <a:latin typeface="DejaVu Sans"/>
              </a:rPr>
              <a:t xml:space="preserve">36/36</a:t>
            </a:r>
            <a:endParaRPr lang="pt-BR" sz="1000"/>
          </a:p>
        </p:txBody>
      </p:sp>
      <p:sp>
        <p:nvSpPr>
          <p:cNvPr id="7" name="Elemento 7"/>
          <p:cNvSpPr txBox="1"/>
          <p:nvPr/>
        </p:nvSpPr>
        <p:spPr>
          <a:xfrm>
            <a:off x="502920" y="1828800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01</a:t>
            </a:r>
            <a:endParaRPr lang="pt-BR" sz="2800"/>
          </a:p>
        </p:txBody>
      </p:sp>
      <p:sp>
        <p:nvSpPr>
          <p:cNvPr id="8" name="Elemento 8"/>
          <p:cNvSpPr txBox="1"/>
          <p:nvPr/>
        </p:nvSpPr>
        <p:spPr>
          <a:xfrm>
            <a:off x="1417320" y="18288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p=2: [2L + λI]f = λf⁰ no grafo simétrico</a:t>
            </a:r>
            <a:endParaRPr lang="pt-BR" sz="2500"/>
          </a:p>
        </p:txBody>
      </p:sp>
      <p:sp>
        <p:nvSpPr>
          <p:cNvPr id="9" name="Elemento 9"/>
          <p:cNvSpPr txBox="1"/>
          <p:nvPr/>
        </p:nvSpPr>
        <p:spPr>
          <a:xfrm>
            <a:off x="502920" y="2907792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02</a:t>
            </a:r>
            <a:endParaRPr lang="pt-BR" sz="2800"/>
          </a:p>
        </p:txBody>
      </p:sp>
      <p:sp>
        <p:nvSpPr>
          <p:cNvPr id="10" name="Elemento 10"/>
          <p:cNvSpPr txBox="1"/>
          <p:nvPr/>
        </p:nvSpPr>
        <p:spPr>
          <a:xfrm>
            <a:off x="1417320" y="2907792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Erro máximo do check: cerca de 1,9e−9</a:t>
            </a:r>
            <a:endParaRPr lang="pt-BR" sz="2500"/>
          </a:p>
        </p:txBody>
      </p:sp>
      <p:sp>
        <p:nvSpPr>
          <p:cNvPr id="11" name="Elemento 11"/>
          <p:cNvSpPr txBox="1"/>
          <p:nvPr/>
        </p:nvSpPr>
        <p:spPr>
          <a:xfrm>
            <a:off x="502920" y="3986784"/>
            <a:ext cx="685800" cy="594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800" b="1">
                <a:solidFill>
                  <a:srgbClr val="2563eb"/>
                </a:solidFill>
                <a:latin typeface="DejaVu Sans"/>
              </a:rPr>
              <a:t xml:space="preserve">03</a:t>
            </a:r>
            <a:endParaRPr lang="pt-BR" sz="2800"/>
          </a:p>
        </p:txBody>
      </p:sp>
      <p:sp>
        <p:nvSpPr>
          <p:cNvPr id="12" name="Elemento 12"/>
          <p:cNvSpPr txBox="1"/>
          <p:nvPr/>
        </p:nvSpPr>
        <p:spPr>
          <a:xfrm>
            <a:off x="1417320" y="3986784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/>
          <a:lstStyle/>
          <a:p>
            <a:pPr>
              <a:lnSpc>
                <a:spcPct val="110000"/>
              </a:lnSpc>
            </a:pPr>
            <a:r>
              <a:rPr lang="pt-BR" sz="2500" b="0">
                <a:solidFill>
                  <a:srgbClr val="172033"/>
                </a:solidFill>
                <a:latin typeface="DejaVu Sans"/>
              </a:rPr>
              <a:t xml:space="preserve">Gradiente zero: epsilon explícito no proxy</a:t>
            </a:r>
            <a:endParaRPr lang="pt-BR" sz="2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