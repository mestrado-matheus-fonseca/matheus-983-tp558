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Apresentar o objetivo: entender o mecanismo, executar uma demonstração verificável e avaliar a relação com a pesquisa. A reprodução é conceitual em MNIST. A pesquisa SAR acrescentará DDPM para aumentar o treino e depois comparará consistência/LCM. Nenhum resultado SAR foi produzido aqui.</a:t>
            </a:r>
          </a:p>
          <a:p/>
          <a:p>
            <a:r>
              <a:t>Fonte: Luo et al. · arXiv:2310.04378v1 · 6 de outubro de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sugerido para 30–35 minutos, adaptável. Aproximadamente 12 minutos para método, 10 para evidências e demonstração e 8 para pesquisa e discussão. Os detalhes matemáticos e a auditoria estão nos notebooks e notas.</a:t>
            </a:r>
          </a:p>
          <a:p/>
          <a:p>
            <a:r>
              <a:t>Fonte: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Conectar ao seminário de DDPM. Difusão latente reduz resolução interna, enquanto o LCM reduz avaliações necessárias. Dois ramos podem ser agrupados num batch, mas isso não significa custo equivalente a um ramo. Não converter número de passos diretamente em aceleração real.</a:t>
            </a:r>
          </a:p>
          <a:p/>
          <a:p>
            <a:r>
              <a:t>Fonte: Paper, §§1–3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que o LCM não inventa difusão latente, guidance ou consistência separadamente. Sua contribuição integra esses elementos para texto e alta resolução. A comparação com Guided-Distill no paper usa uma reimplementação e recursos alterados.</a:t>
            </a:r>
          </a:p>
          <a:p/>
          <a:p>
            <a:r>
              <a:t>Fonte: Paper, §§2–3 e Apêndice 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ponto final é o da PF-ODE guiada. Não é possível recuperar uma imagem original única a partir de qualquer ruído. LCF é outra etapa proposta pelos autores, não o treinamento executado nesta demonstração.</a:t>
            </a:r>
          </a:p>
          <a:p/>
          <a:p>
            <a:r>
              <a:t>Fonte: Paper, §4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Reproduzir o vídeo por clique. Separar professor congelado, aluno treinável e alvo EMA. Na inferência, professor e solver de treino são removidos. A estimativa limpa passa pelo decoder.</a:t>
            </a:r>
          </a:p>
          <a:p/>
          <a:p>
            <a:r>
              <a:t>Fonte: Diagrama próprio · Algoritmos 1 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paper inicializa o aluno a partir do professor e acrescenta projeção do embedding de guidance. O espaço latente do paper vem do VAE e o backbone é U-Net. O esquema funcional é comum, mas a demonstração usa PCA e MLP. Não apresentar o MLP como arquitetura do artigo.</a:t>
            </a:r>
          </a:p>
          <a:p/>
          <a:p>
            <a:r>
              <a:t>Fonte: Paper, §4.2 e Apêndice 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professor aprende a prever o ruído sorteado por MSE. A previsão ideal é uma expectativa condicional. Relacionar score e epsilon: epsilon aproxima menos sigma vezes o score. Na demonstração, a agenda VP tem alpha²+sigma²=1.</a:t>
            </a:r>
          </a:p>
          <a:p/>
          <a:p>
            <a:r>
              <a:t>Fonte: Paper, Eq. 22 · exemplo numérico didático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 epsilon condicional 0,2, vazio 0,5 e omega 2, a previsão guiada é −0,4. Uma API pode usar outra convenção. Não copiar valores sem verificar a fórmula. Guidance maior não garante melhor FID ou maior diversidade.</a:t>
            </a:r>
          </a:p>
          <a:p/>
          <a:p>
            <a:r>
              <a:t>Fonte: Paper, Eqs. 12–15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dois pontos devem estar na mesma trajetória e compartilhar condição e guidance. O alvo no tempo menor é calculado sem gradiente. A condição de contorno f(z,0)=z ancora a função. A linha do vídeo é uma ilustração, não uma integração numérica da PF-ODE.</a:t>
            </a:r>
          </a:p>
          <a:p/>
          <a:p>
            <a:r>
              <a:t>Fonte: Esquema conceitual · Eqs. 4, 9 e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c_skip e c_out e a recuperação z0=(zt−sigma epsilon)/alpha. O alvo EMA acompanha o aluno sem receber gradiente. Exemplo de EMA: 0,9×2+0,1×4=2,2. A implementação verifica a condição de contorno e o passo DDIM contra identidades numéricas.</a:t>
            </a:r>
          </a:p>
          <a:p/>
          <a:p>
            <a:r>
              <a:t>Fonte: Paper, Eq. 9 e Algoritmo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ler uma perda menor entre k diferentes como uma comparação de qualidade. O paper explora k=1,5,10,20 e 50. DPM/DPM++ lidam melhor com saltos grandes em algumas condições. Os valores completos das curvas não são tabulados, portanto não foram digitalizados ou inventados.</a:t>
            </a:r>
          </a:p>
          <a:p/>
          <a:p>
            <a:r>
              <a:t>Fonte: Paper, §4.3 e Figura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LCM alterna previsão limpa e reinjeção de ruído num tempo menor. No último passo retorna a previsão limpa. A contagem de 100 versus 4 avaliações não é uma medição de speedup. O decoder e os custos de infraestrutura também existem.</a:t>
            </a:r>
          </a:p>
          <a:p/>
          <a:p>
            <a:r>
              <a:t>Fonte: Algoritmo 3 · contagem teórica de avaliações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dois modelos usam learning rate 8e−6, RAdam, EMA 0,999943, DDIM e k20. O paper informa oito A100. Não confundir o experimento visual de 4k iterações/32 horas-GPU com as tabelas principais.</a:t>
            </a:r>
          </a:p>
          <a:p/>
          <a:p>
            <a:r>
              <a:t>Fonte: Paper, §5.1 e Apêndice 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eixo menor é melhor. Em quatro passos e 512 pixels, a diferença é 11,28 pontos de FID. LCM não ganha em toda configuração. Em 768 e oito passos, DPM tem FID 14,08 contra 14,97 do LCM. A comparação não informa desempenho de segmentação.</a:t>
            </a:r>
          </a:p>
          <a:p/>
          <a:p>
            <a:r>
              <a:t>Fonte: Transcrição das Tabelas 1/2 · não executado localmente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CLIP maior e FID menor representam objetivos diferentes. Guidance pode melhorar CLIP e prejudicar FID. Nenhuma dessas medidas garante que uma máscara de pista esteja correta. Os números são os reportados no artigo, sem recálculo local da avaliação.</a:t>
            </a:r>
          </a:p>
          <a:p/>
          <a:p>
            <a:r>
              <a:t>Fonte: Transcrição das Tabelas 1/2 · ViT-g/14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figura original mostra exemplos selecionados pelos autores. O LCM é comparado com Guided-Distill e DPM-Solver++ em dois e quatro passos. Não atribuir essas imagens à demonstração local. A página original completa permanece nos assets para consulta.</a:t>
            </a:r>
          </a:p>
          <a:p/>
          <a:p>
            <a:r>
              <a:t>Fonte: Luo et al., v1, Figura 2, p. 8 · recorte da página original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operação de ruído compartilhado aparece no notebook matemático. O mecanismo difere de usar um professor para estimar outro ponto da PF-ODE. O paper não demonstra adaptação LCF para SAR ou condicionamento espacial por máscara.</a:t>
            </a:r>
          </a:p>
          <a:p/>
          <a:p>
            <a:r>
              <a:t>Fonte: Paper, §5.3 e Apêndice 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classificação é demonstração conceitual, não reprodução completa nem quantitativa parcial das tabelas. Os componentes matemáticos foram implementados e testados. As escolhas locais estão registradas, em vez de atribuídas aos autores.</a:t>
            </a:r>
          </a:p>
          <a:p/>
          <a:p>
            <a:r>
              <a:t>Fonte: experiments/configs/demo.json · protocol.json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PCA é um autoencoder linear. A dimensão 32 foi fixada antes da avaliação. Mostramos reais e reconstruções para revelar perda de informação. Em SAR, uma região fina pode ser importante apesar de ocupar poucos pixels. MSE global de reconstrução não é suficiente para validar pistas.</a:t>
            </a:r>
          </a:p>
          <a:p/>
          <a:p>
            <a:r>
              <a:t>Fonte: MNIST local · exemplos de teste · imagens 14×14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professor aprende previsão de ruído com perda DDPM. O baseline de inferência é DDIM. Os alunos começam dos mesmos pesos do professor e usam o mesmo orçamento. A perda de k1 é menor, mas isso não assegura melhor geração. Três seeds posteriores são de amostragem.</a:t>
            </a:r>
          </a:p>
          <a:p/>
          <a:p>
            <a:r>
              <a:t>Fonte: Perdas efetivamente registradas · escalas logarítmicas separadas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Comparar a aparência de um passo com quatro passos. Todas as colunas são escolhidas por regra fixa. O real da primeira linha é somente referência da classe. Não há imagem verdadeira única associada ao ruído inicial.</a:t>
            </a:r>
          </a:p>
          <a:p/>
          <a:p>
            <a:r>
              <a:t>Fonte: Demonstração MNIST · a linha real não é ground truth pareado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vídeo mostra estimativas limpas intermediárias, não os latentes ruidosos. DDIM e LCM usam o mesmo ruído inicial para esse batch, mas LCM reinjeta novos ruídos entre passos. O contraste é didático e não prova qualidade SAR.</a:t>
            </a:r>
          </a:p>
          <a:p/>
          <a:p>
            <a:r>
              <a:t>Fonte: Históricos salvos dos modelos executados · seed 101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números exatos ficam no relatório gerado do CSV. O classificador acerta 92% do teste real. Sintéticos podem ser mais fáceis ou menos diversos e ter aderência maior. A latência mede somente o sampler latente, não o pipeline inteiro. Não inferir significância de pequenas diferenças.</a:t>
            </a:r>
          </a:p>
          <a:p/>
          <a:p>
            <a:r>
              <a:t>Fonte: metrics.csv · batch 300 · CPU · não é FID/CLIP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comparação correta precisa alinhar dataset, modelo e avaliação. O valor FID 11,10 é do artigo. Não há FID local equivalente. Os resultados MNIST verificam o funcionamento da implementação. IoU/Dice SAR depois de aumento são objetivos futuros, não resultados desta apresentação.</a:t>
            </a:r>
          </a:p>
          <a:p/>
          <a:p>
            <a:r>
              <a:t>Fonte: Tabelas 1/2, protocolo local e proposta de pesquisa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auditoria separa evidência do preprint e implementação posterior. O script Diffusers consultado usa defaults diferentes, incluindo EMA 0,95 e AdamW. Não foram baixados pesos remotos, portanto não há auditoria de seu conteúdo numérico.</a:t>
            </a:r>
          </a:p>
          <a:p/>
          <a:p>
            <a:r>
              <a:t>Fonte: Paper v1 · README oficial fixado · Diffusers v0.35.1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Distinguir o estado documentado do novo plano. A entrega descreve otimização e ablações, com limites de comparação entre modelos. O usuário acrescentou DDPM e comparação futura com LCM. Não afirmar que a geração SAR já foi realizada.</a:t>
            </a:r>
          </a:p>
          <a:p/>
          <a:p>
            <a:r>
              <a:t>Fonte: project/second_part_project.pdf + orientação do usuário nesta sessão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Recomendar gerar a imagem condicionada em máscara conhecida, validando alinhamento. Só gerar imagens não fornece supervisão de segmentação. Separar a geração do treinamento do SAM/YOLO e usar teste real intocado. Condicionar por máscara é adaptação proposta, não resultado do artigo LCM.</a:t>
            </a:r>
          </a:p>
          <a:p/>
          <a:p>
            <a:r>
              <a:t>Fonte: Proposta de experimento · nenhuma execução SAR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termo latent é parte da definição. Se a pesquisa começar com DDPM em pixels, chamar seu aluno de LCM seria impreciso. Pode-se comparar sistemas completos em outro estudo, mas não atribuir o resultado apenas ao sampler.</a:t>
            </a:r>
          </a:p>
          <a:p/>
          <a:p>
            <a:r>
              <a:t>Fonte: Análise de aplicabilidade · notes/research_application.md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Propor pelo menos três sementes pareadas de treino e avaliação por pista/local. Primeiro usar mesmo número de pares aceitos. Depois fazer um experimento separado com mesmo tempo de geração. Incluir DDIM como controle de redução de passos sem destilação.</a:t>
            </a:r>
          </a:p>
          <a:p/>
          <a:p>
            <a:r>
              <a:t>Fonte: Hipóteses e protocolo propostos, não resultados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limiares são propostas de protocolo, não valores do paper. Contabilizar custo da destilação e número de imagens necessário para amortizar. Aumento não cria informação automaticamente. Critério downstream e auditoria das máscaras são decisivos.</a:t>
            </a:r>
          </a:p>
          <a:p/>
          <a:p>
            <a:r>
              <a:t>Fonte: Limiares propostos para pré-registro · não são ganhos esperados medidos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Fechar com a evidência central e o próximo passo concreto. LCM é pertinente à nova direção da pesquisa, mas o benefício deve ser demonstrado com segmentação em SAR real. Disponibilizar README, notebooks, vídeos, código e relatórios.</a:t>
            </a:r>
          </a:p>
          <a:p/>
          <a:p>
            <a:r>
              <a:t>Fonte: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Referências conceituais adicionais são listadas no resumo técnico, com a origem de cada afirmação. O README contém os comandos para executar todas as etapas. Esta apresentação contém vídeos MP4 incorporados, reproduzidos por clique.</a:t>
            </a:r>
          </a:p>
          <a:p/>
          <a:p>
            <a:r>
              <a:t>Fonte: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73152"/>
            <a:ext cx="11704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004F8B"/>
                </a:solidFill>
                <a:latin typeface="Verdana"/>
              </a:defRPr>
            </a:pPr>
            <a:r>
              <a:t>SEMINÁRIO 5 · TP558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033"/>
                </a:solidFill>
                <a:latin typeface="Verdana"/>
              </a:defRPr>
            </a:pPr>
            <a:r>
              <a:t>Latent Consistency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4F8B"/>
                </a:solidFill>
                <a:latin typeface="Verdana"/>
              </a:defRPr>
            </a:pPr>
            <a:r>
              <a:t>Inatel • TP558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Verdan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81344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Verdana"/>
              </a:defRPr>
            </a:pPr>
            <a:r>
              <a:t>Luo et al. · arXiv:2310.04378v1 · 6 de outubro de 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7899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004F8B"/>
                </a:solidFill>
                <a:latin typeface="Verdana"/>
              </a:defRPr>
            </a:pPr>
            <a:r>
              <a:t>TP558 · Tópicos avançados em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10789920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000" b="0">
                <a:solidFill>
                  <a:srgbClr val="172033"/>
                </a:solidFill>
                <a:latin typeface="Verdana"/>
              </a:defRPr>
            </a:pPr>
            <a:r>
              <a:t>Geração em poucos passos e uma ponte para aumento de dados SAR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1078992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64748B"/>
                </a:solidFill>
                <a:latin typeface="Verdana"/>
              </a:defRPr>
            </a:pPr>
            <a:r>
              <a:t>Matheus Henrique Fonseca Afonso</a:t>
            </a:r>
          </a:p>
          <a:p>
            <a:pPr>
              <a:spcAft>
                <a:spcPts val="800"/>
              </a:spcAft>
              <a:defRPr sz="1900" b="0">
                <a:solidFill>
                  <a:srgbClr val="64748B"/>
                </a:solidFill>
                <a:latin typeface="Verdana"/>
              </a:defRPr>
            </a:pPr>
            <a:r>
              <a:t>matheus.fonseca@mtel.inatel.br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73152"/>
            <a:ext cx="11704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004F8B"/>
                </a:solidFill>
                <a:latin typeface="Verdana"/>
              </a:defRPr>
            </a:pPr>
            <a:r>
              <a:t>ABERTURA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033"/>
                </a:solidFill>
                <a:latin typeface="Verdana"/>
              </a:defRPr>
            </a:pPr>
            <a:r>
              <a:t>Três perguntas para conduzir a apresentação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4F8B"/>
                </a:solidFill>
                <a:latin typeface="Verdana"/>
              </a:defRPr>
            </a:pPr>
            <a:r>
              <a:t>Inatel • TP558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Verdana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81344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Verdana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01 · Método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Como transformar muitas correções de ruído em poucas previsões da imagem limpa?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02 · Evidência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O que o artigo reporta e o que conseguimos executar nesta máquina?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2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03 · Pesquisa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2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Gerar dados SAR mais rápido preserva a utilidade para segmentação?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73152"/>
            <a:ext cx="11704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004F8B"/>
                </a:solidFill>
                <a:latin typeface="Verdana"/>
              </a:defRPr>
            </a:pPr>
            <a:r>
              <a:t>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033"/>
                </a:solidFill>
                <a:latin typeface="Verdana"/>
              </a:defRPr>
            </a:pPr>
            <a:r>
              <a:t>A geração por difusão exige repetir a rede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4F8B"/>
                </a:solidFill>
                <a:latin typeface="Verdana"/>
              </a:defRPr>
            </a:pPr>
            <a:r>
              <a:t>Inatel • TP558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Verdana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81344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Verdana"/>
              </a:defRPr>
            </a:pPr>
            <a:r>
              <a:t>Paper, §§1–3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Latente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O autoencoder reduz o custo de representar a imagem.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Iterações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O denoiser ainda é avaliado repetidamente até gerar a saída.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2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Guidance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2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CFG convencional combina os ramos condicionado e não condicionado.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73152"/>
            <a:ext cx="11704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004F8B"/>
                </a:solidFill>
                <a:latin typeface="Verdana"/>
              </a:defRPr>
            </a:pPr>
            <a:r>
              <a:t>TRABALHOS ANTERIORES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033"/>
                </a:solidFill>
                <a:latin typeface="Verdana"/>
              </a:defRPr>
            </a:pPr>
            <a:r>
              <a:t>Solvers e destilação atacam custos diferentes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4F8B"/>
                </a:solidFill>
                <a:latin typeface="Verdana"/>
              </a:defRPr>
            </a:pPr>
            <a:r>
              <a:t>Inatel • TP558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Verdana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81344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Verdana"/>
              </a:defRPr>
            </a:pPr>
            <a:r>
              <a:t>Paper, §§2–3 e Apêndice 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DDIM / DPM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Melhoram a integração usando o mesmo professor.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Guided-Distill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Treina em dois estágios para reproduzir geração guiada.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2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Consistency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2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Aprendem a origem comum de uma trajetória.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73152"/>
            <a:ext cx="11704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004F8B"/>
                </a:solidFill>
                <a:latin typeface="Verdana"/>
              </a:defRPr>
            </a:pPr>
            <a:r>
              <a:t>CONTRIBUIÇÃO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033"/>
                </a:solidFill>
                <a:latin typeface="Verdana"/>
              </a:defRPr>
            </a:pPr>
            <a:r>
              <a:t>LCM aprende o destino da trajetória guiada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4F8B"/>
                </a:solidFill>
                <a:latin typeface="Verdana"/>
              </a:defRPr>
            </a:pPr>
            <a:r>
              <a:t>Inatel • TP558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Verdana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81344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Verdana"/>
              </a:defRPr>
            </a:pPr>
            <a:r>
              <a:t>Paper, §4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Consistência latente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Predição direta da origem, preservando a estrutura do professor.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Guidance em um estágio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A intensidade ω passa a condicionar o aluno.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2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Skipping + LCF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2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Saltos temporais no LCD e adaptação posterior sem professor.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73152"/>
            <a:ext cx="11704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004F8B"/>
                </a:solidFill>
                <a:latin typeface="Verdana"/>
              </a:defRPr>
            </a:pPr>
            <a: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033"/>
                </a:solidFill>
                <a:latin typeface="Verdana"/>
              </a:defRPr>
            </a:pPr>
            <a:r>
              <a:t>Professor e alvo ajudam no treino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4F8B"/>
                </a:solidFill>
                <a:latin typeface="Verdana"/>
              </a:defRPr>
            </a:pPr>
            <a:r>
              <a:t>Inatel • TP558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Verdana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81344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Verdana"/>
              </a:defRPr>
            </a:pPr>
            <a:r>
              <a:t>Diagrama próprio · Algoritmos 1 e 3</a:t>
            </a:r>
          </a:p>
        </p:txBody>
      </p:sp>
      <p:pic>
        <p:nvPicPr>
          <p:cNvPr id="7" name="PipelineLCM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47088" y="1280160"/>
            <a:ext cx="8503920" cy="47823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73152"/>
            <a:ext cx="11704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004F8B"/>
                </a:solidFill>
                <a:latin typeface="Verdana"/>
              </a:defRPr>
            </a:pPr>
            <a:r>
              <a:t>ARQUITETURA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033"/>
                </a:solidFill>
                <a:latin typeface="Verdana"/>
              </a:defRPr>
            </a:pPr>
            <a:r>
              <a:t>O aluno recebe tempo, condição e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4F8B"/>
                </a:solidFill>
                <a:latin typeface="Verdana"/>
              </a:defRPr>
            </a:pPr>
            <a:r>
              <a:t>Inatel • TP558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Verdana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81344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Verdana"/>
              </a:defRPr>
            </a:pPr>
            <a:r>
              <a:t>Paper, §4.2 e Apêndice F</a:t>
            </a:r>
          </a:p>
        </p:txBody>
      </p:sp>
      <p:pic>
        <p:nvPicPr>
          <p:cNvPr id="7" name="ArchitectureLCM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47088" y="1280160"/>
            <a:ext cx="8503920" cy="47823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73152"/>
            <a:ext cx="11704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004F8B"/>
                </a:solidFill>
                <a:latin typeface="Verdana"/>
              </a:defRPr>
            </a:pPr>
            <a:r>
              <a:t>MATEMÁTICA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033"/>
                </a:solidFill>
                <a:latin typeface="Verdana"/>
              </a:defRPr>
            </a:pPr>
            <a:r>
              <a:t>Ruído conhecido permite treinar o professor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4F8B"/>
                </a:solidFill>
                <a:latin typeface="Verdana"/>
              </a:defRPr>
            </a:pPr>
            <a:r>
              <a:t>Inatel • TP558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Verdana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81344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Verdana"/>
              </a:defRPr>
            </a:pPr>
            <a:r>
              <a:t>Paper, Eq. 22 · exemplo numérico didático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004F8B"/>
                </a:solidFill>
                <a:latin typeface="Verdana"/>
              </a:defRPr>
            </a:pPr>
            <a:r>
              <a:t>zₜ = αₜ z₀ + σₜ 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743200"/>
            <a:ext cx="3547872" cy="301752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95351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Sinal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794760"/>
            <a:ext cx="3145536" cy="17830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αₜ controla a contribuição da imagem limpa.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2743200"/>
            <a:ext cx="3547872" cy="301752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95351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Ruído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794760"/>
            <a:ext cx="3145536" cy="17830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ε é amostrado e σₜ controla sua intensidade.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2743200"/>
            <a:ext cx="3547872" cy="301752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2" y="295351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Exemplo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3794760"/>
            <a:ext cx="3145536" cy="17830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0,8 × 2 + 0,6 × (−1) =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73152"/>
            <a:ext cx="11704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004F8B"/>
                </a:solidFill>
                <a:latin typeface="Verdana"/>
              </a:defRPr>
            </a:pPr>
            <a:r>
              <a:t>MATEMÁTICA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033"/>
                </a:solidFill>
                <a:latin typeface="Verdana"/>
              </a:defRPr>
            </a:pPr>
            <a:r>
              <a:t>Guidance altera a trajetória que será destilada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4F8B"/>
                </a:solidFill>
                <a:latin typeface="Verdana"/>
              </a:defRPr>
            </a:pPr>
            <a:r>
              <a:t>Inatel • TP558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Verdana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81344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Verdana"/>
              </a:defRPr>
            </a:pPr>
            <a:r>
              <a:t>Paper, Eqs. 12–15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004F8B"/>
                </a:solidFill>
                <a:latin typeface="Verdana"/>
              </a:defRPr>
            </a:pPr>
            <a:r>
              <a:t>ε̃ = (1 + ω) εcond − ω εvazio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743200"/>
            <a:ext cx="3547872" cy="301752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95351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Dois ramos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794760"/>
            <a:ext cx="3145536" cy="17830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O professor compara predição condicionada e vazia.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2743200"/>
            <a:ext cx="3547872" cy="301752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95351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Um aluno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794760"/>
            <a:ext cx="3145536" cy="17830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LCM aprende a incorporar a intensidade ω.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2743200"/>
            <a:ext cx="3547872" cy="301752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2" y="295351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Convenção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3794760"/>
            <a:ext cx="3145536" cy="17830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Na forma εvazio + s(εcond − εvazio), s = 1 + ω.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73152"/>
            <a:ext cx="11704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004F8B"/>
                </a:solidFill>
                <a:latin typeface="Verdana"/>
              </a:defRPr>
            </a:pPr>
            <a:r>
              <a:t>MATEMÁTICA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033"/>
                </a:solidFill>
                <a:latin typeface="Verdana"/>
              </a:defRPr>
            </a:pPr>
            <a:r>
              <a:t>A consistência une dois tempos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4F8B"/>
                </a:solidFill>
                <a:latin typeface="Verdana"/>
              </a:defRPr>
            </a:pPr>
            <a:r>
              <a:t>Inatel • TP558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Verdana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81344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Verdana"/>
              </a:defRPr>
            </a:pPr>
            <a:r>
              <a:t>Esquema conceitual · Eqs. 4, 9 e 16</a:t>
            </a:r>
          </a:p>
        </p:txBody>
      </p:sp>
      <p:pic>
        <p:nvPicPr>
          <p:cNvPr id="7" name="ConsistencyMath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47088" y="1280160"/>
            <a:ext cx="8503920" cy="47823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73152"/>
            <a:ext cx="11704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004F8B"/>
                </a:solidFill>
                <a:latin typeface="Verdana"/>
              </a:defRPr>
            </a:pPr>
            <a:r>
              <a:t>TREINAMENTO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033"/>
                </a:solidFill>
                <a:latin typeface="Verdana"/>
              </a:defRPr>
            </a:pPr>
            <a:r>
              <a:t>O aluno deve concordar com o alvo 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4F8B"/>
                </a:solidFill>
                <a:latin typeface="Verdana"/>
              </a:defRPr>
            </a:pPr>
            <a:r>
              <a:t>Inatel • TP558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Verdana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81344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Verdana"/>
              </a:defRPr>
            </a:pPr>
            <a:r>
              <a:t>Paper, Eq. 9 e Algoritmo 1</a:t>
            </a:r>
          </a:p>
        </p:txBody>
      </p:sp>
      <p:pic>
        <p:nvPicPr>
          <p:cNvPr id="7" name="Picture 6" descr="equ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85407"/>
            <a:ext cx="10881360" cy="27443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797296"/>
            <a:ext cx="108813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4748B"/>
                </a:solidFill>
                <a:latin typeface="Verdana"/>
              </a:defRPr>
            </a:pPr>
            <a:r>
              <a:t>Gradiente no aluno · professor congelado · EMA nos pesos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73152"/>
            <a:ext cx="11704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004F8B"/>
                </a:solidFill>
                <a:latin typeface="Verdana"/>
              </a:defRPr>
            </a:pPr>
            <a:r>
              <a:t>SKIPPING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033"/>
                </a:solidFill>
                <a:latin typeface="Verdana"/>
              </a:defRPr>
            </a:pPr>
            <a:r>
              <a:t>Pares próximos demais podem ensinar pouco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4F8B"/>
                </a:solidFill>
                <a:latin typeface="Verdana"/>
              </a:defRPr>
            </a:pPr>
            <a:r>
              <a:t>Inatel • TP558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Verdana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81344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Verdana"/>
              </a:defRPr>
            </a:pPr>
            <a:r>
              <a:t>Paper, §4.3 e Figura 3</a:t>
            </a:r>
          </a:p>
        </p:txBody>
      </p:sp>
      <p:pic>
        <p:nvPicPr>
          <p:cNvPr id="7" name="Picture 6" descr="paper_figur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95126"/>
            <a:ext cx="10881360" cy="35249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797296"/>
            <a:ext cx="108813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4748B"/>
                </a:solidFill>
                <a:latin typeface="Verdana"/>
              </a:defRPr>
            </a:pPr>
            <a:r>
              <a:t>k pequeno: convergência lenta · k grande: erro do solver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73152"/>
            <a:ext cx="11704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004F8B"/>
                </a:solidFill>
                <a:latin typeface="Verdana"/>
              </a:defRPr>
            </a:pPr>
            <a:r>
              <a:t>INFERÊNCIA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033"/>
                </a:solidFill>
                <a:latin typeface="Verdana"/>
              </a:defRPr>
            </a:pPr>
            <a:r>
              <a:t>Poucos passos, sem consultar o professor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4F8B"/>
                </a:solidFill>
                <a:latin typeface="Verdana"/>
              </a:defRPr>
            </a:pPr>
            <a:r>
              <a:t>Inatel • TP558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Verdana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81344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Verdana"/>
              </a:defRPr>
            </a:pPr>
            <a:r>
              <a:t>Algoritmo 3 · contagem teórica de avaliações</a:t>
            </a:r>
          </a:p>
        </p:txBody>
      </p:sp>
      <p:pic>
        <p:nvPicPr>
          <p:cNvPr id="7" name="CompareSampling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47088" y="1280160"/>
            <a:ext cx="8503920" cy="47823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73152"/>
            <a:ext cx="11704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004F8B"/>
                </a:solidFill>
                <a:latin typeface="Verdana"/>
              </a:defRPr>
            </a:pPr>
            <a:r>
              <a:t>PROTOCOLO DO ARTIGO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033"/>
                </a:solidFill>
                <a:latin typeface="Verdana"/>
              </a:defRPr>
            </a:pPr>
            <a:r>
              <a:t>As tabelas usam 100 mil iterações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4F8B"/>
                </a:solidFill>
                <a:latin typeface="Verdana"/>
              </a:defRPr>
            </a:pPr>
            <a:r>
              <a:t>Inatel • TP558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Verdana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81344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Verdana"/>
              </a:defRPr>
            </a:pPr>
            <a:r>
              <a:t>Paper, §5.1 e Apêndice 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512 × 512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SD2.1-Base · ε-prediction · LAION 6+ · batch 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768 × 768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SD2.1 · v-prediction · LAION 6.5+ · batch 16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2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Avaliação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2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30 mil imagens · 10 mil prompts · FID e CLIP ViT-g/14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73152"/>
            <a:ext cx="11704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004F8B"/>
                </a:solidFill>
                <a:latin typeface="Verdana"/>
              </a:defRPr>
            </a:pPr>
            <a:r>
              <a:t>RESULTADOS PUBLICADOS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033"/>
                </a:solidFill>
                <a:latin typeface="Verdana"/>
              </a:defRPr>
            </a:pPr>
            <a:r>
              <a:t>O ganho de FID se concentra em poucos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4F8B"/>
                </a:solidFill>
                <a:latin typeface="Verdana"/>
              </a:defRPr>
            </a:pPr>
            <a:r>
              <a:t>Inatel • TP558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Verdana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81344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Verdana"/>
              </a:defRPr>
            </a:pPr>
            <a:r>
              <a:t>Transcrição das Tabelas 1/2 · não executado localmente</a:t>
            </a:r>
          </a:p>
        </p:txBody>
      </p:sp>
      <p:pic>
        <p:nvPicPr>
          <p:cNvPr id="7" name="Picture 6" descr="paper_f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0470"/>
            <a:ext cx="10881360" cy="38542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797296"/>
            <a:ext cx="108813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4748B"/>
                </a:solidFill>
                <a:latin typeface="Verdana"/>
              </a:defRPr>
            </a:pPr>
            <a:r>
              <a:t>512 / 4 passos: DDIM 22,38 → LCM 11,10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73152"/>
            <a:ext cx="11704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004F8B"/>
                </a:solidFill>
                <a:latin typeface="Verdana"/>
              </a:defRPr>
            </a:pPr>
            <a:r>
              <a:t>RESULTADOS PUBLICADOS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033"/>
                </a:solidFill>
                <a:latin typeface="Verdana"/>
              </a:defRPr>
            </a:pPr>
            <a:r>
              <a:t>Alinhamento e distribuição não são a mesma métrica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4F8B"/>
                </a:solidFill>
                <a:latin typeface="Verdana"/>
              </a:defRPr>
            </a:pPr>
            <a:r>
              <a:t>Inatel • TP558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Verdana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81344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Verdana"/>
              </a:defRPr>
            </a:pPr>
            <a:r>
              <a:t>Transcrição das Tabelas 1/2 · ViT-g/14</a:t>
            </a:r>
          </a:p>
        </p:txBody>
      </p:sp>
      <p:pic>
        <p:nvPicPr>
          <p:cNvPr id="7" name="Picture 6" descr="paper_c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0470"/>
            <a:ext cx="10881360" cy="38542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797296"/>
            <a:ext cx="108813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4748B"/>
                </a:solidFill>
                <a:latin typeface="Verdana"/>
              </a:defRPr>
            </a:pPr>
            <a:r>
              <a:t>CLIP avalia alinhamento · FID compara distribuições de features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73152"/>
            <a:ext cx="11704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004F8B"/>
                </a:solidFill>
                <a:latin typeface="Verdana"/>
              </a:defRPr>
            </a:pPr>
            <a:r>
              <a:t>QUALITATIVO E ABLAÇÃO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033"/>
                </a:solidFill>
                <a:latin typeface="Verdana"/>
              </a:defRPr>
            </a:pPr>
            <a:r>
              <a:t>Exemplos selecionados pelos autores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4F8B"/>
                </a:solidFill>
                <a:latin typeface="Verdana"/>
              </a:defRPr>
            </a:pPr>
            <a:r>
              <a:t>Inatel • TP558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Verdana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81344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Verdana"/>
              </a:defRPr>
            </a:pPr>
            <a:r>
              <a:t>Luo et al., v1, Figura 2, p. 8 · recorte da página original</a:t>
            </a:r>
          </a:p>
        </p:txBody>
      </p:sp>
      <p:pic>
        <p:nvPicPr>
          <p:cNvPr id="7" name="Picture 6" descr="paper_figur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03552"/>
            <a:ext cx="10881360" cy="39080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797296"/>
            <a:ext cx="108813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4748B"/>
                </a:solidFill>
                <a:latin typeface="Verdana"/>
              </a:defRPr>
            </a:pPr>
            <a:r>
              <a:t>Comparação qualitativa em 2 e 4 passos · amostras dos autores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73152"/>
            <a:ext cx="11704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004F8B"/>
                </a:solidFill>
                <a:latin typeface="Verdana"/>
              </a:defRPr>
            </a:pPr>
            <a:r>
              <a:t>ADAPTAÇÃO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033"/>
                </a:solidFill>
                <a:latin typeface="Verdana"/>
              </a:defRPr>
            </a:pPr>
            <a:r>
              <a:t>LCF ajusta um LCM sem um professor novo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4F8B"/>
                </a:solidFill>
                <a:latin typeface="Verdana"/>
              </a:defRPr>
            </a:pPr>
            <a:r>
              <a:t>Inatel • TP558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Verdana"/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81344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Verdana"/>
              </a:defRPr>
            </a:pPr>
            <a:r>
              <a:t>Paper, §5.3 e Apêndice 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Pareamento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A mesma imagem e o mesmo ruído são usados em dois tempos.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Dados personalizados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Pokémon e Simpsons · divisão 90/10 · 30k updates.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2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Alcance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2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Evidência qualitativa no artigo. LCF não foi treinado nesta demo.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73152"/>
            <a:ext cx="11704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004F8B"/>
                </a:solidFill>
                <a:latin typeface="Verdana"/>
              </a:defRPr>
            </a:pPr>
            <a:r>
              <a:t>REPRODUÇÃO LOCAL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033"/>
                </a:solidFill>
                <a:latin typeface="Verdana"/>
              </a:defRPr>
            </a:pPr>
            <a:r>
              <a:t>Uma demonstração conceitual executada em CPU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4F8B"/>
                </a:solidFill>
                <a:latin typeface="Verdana"/>
              </a:defRPr>
            </a:pPr>
            <a:r>
              <a:t>Inatel • TP558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Verdana"/>
              </a:defRPr>
            </a:pPr>
            <a: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81344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Verdana"/>
              </a:defRPr>
            </a:pPr>
            <a:r>
              <a:t>experiments/configs/demo.json · protocol.json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Mantido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Professor de difusão, guidance, DDIM, consistency loss, EMA e amostragem.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Reduzido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MNIST 14×14 · PCA 32D · classe · MLP.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2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Não reproduzido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2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Stable Diffusion, texto, VAE, LAION, FID/CLIP e LCF.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73152"/>
            <a:ext cx="11704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004F8B"/>
                </a:solidFill>
                <a:latin typeface="Verdana"/>
              </a:defRPr>
            </a:pPr>
            <a:r>
              <a:t>DADOS LOCAIS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033"/>
                </a:solidFill>
                <a:latin typeface="Verdana"/>
              </a:defRPr>
            </a:pPr>
            <a:r>
              <a:t>A compressão também impõe um limite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4F8B"/>
                </a:solidFill>
                <a:latin typeface="Verdana"/>
              </a:defRPr>
            </a:pPr>
            <a:r>
              <a:t>Inatel • TP558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Verdana"/>
              </a:defRPr>
            </a:pPr>
            <a: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81344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Verdana"/>
              </a:defRPr>
            </a:pPr>
            <a:r>
              <a:t>MNIST local · exemplos de teste · imagens 14×14</a:t>
            </a:r>
          </a:p>
        </p:txBody>
      </p:sp>
      <p:pic>
        <p:nvPicPr>
          <p:cNvPr id="7" name="Picture 6" descr="pca_reconstr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64607"/>
            <a:ext cx="10881360" cy="27859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797296"/>
            <a:ext cx="108813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4748B"/>
                </a:solidFill>
                <a:latin typeface="Verdana"/>
              </a:defRPr>
            </a:pPr>
            <a:r>
              <a:t>6000 treino · 1000 validação · 1000 teste · PCA só no treino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73152"/>
            <a:ext cx="11704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004F8B"/>
                </a:solidFill>
                <a:latin typeface="Verdana"/>
              </a:defRPr>
            </a:pPr>
            <a:r>
              <a:t>TREINO LOCAL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033"/>
                </a:solidFill>
                <a:latin typeface="Verdana"/>
              </a:defRPr>
            </a:pPr>
            <a:r>
              <a:t>Professor e dois alunos foram treinados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4F8B"/>
                </a:solidFill>
                <a:latin typeface="Verdana"/>
              </a:defRPr>
            </a:pPr>
            <a:r>
              <a:t>Inatel • TP558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Verdana"/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81344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Verdana"/>
              </a:defRPr>
            </a:pPr>
            <a:r>
              <a:t>Perdas efetivamente registradas · escalas logarítmicas separadas</a:t>
            </a:r>
          </a:p>
        </p:txBody>
      </p:sp>
      <p:pic>
        <p:nvPicPr>
          <p:cNvPr id="7" name="Picture 6" descr="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1012"/>
            <a:ext cx="10881360" cy="35731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797296"/>
            <a:ext cx="108813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4748B"/>
                </a:solidFill>
                <a:latin typeface="Verdana"/>
              </a:defRPr>
            </a:pPr>
            <a:r>
              <a:t>5000 updates por modelo · ablação k=1/20 · uma seed de treino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73152"/>
            <a:ext cx="11704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004F8B"/>
                </a:solidFill>
                <a:latin typeface="Verdana"/>
              </a:defRPr>
            </a:pPr>
            <a:r>
              <a:t>EXEMPLOS LOCAIS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033"/>
                </a:solidFill>
                <a:latin typeface="Verdana"/>
              </a:defRPr>
            </a:pPr>
            <a:r>
              <a:t>Saídas salvas, sem seleção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4F8B"/>
                </a:solidFill>
                <a:latin typeface="Verdana"/>
              </a:defRPr>
            </a:pPr>
            <a:r>
              <a:t>Inatel • TP558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Verdana"/>
              </a:defRPr>
            </a:pPr>
            <a: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81344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Verdana"/>
              </a:defRPr>
            </a:pPr>
            <a:r>
              <a:t>Demonstração MNIST · a linha real não é ground truth pareado</a:t>
            </a:r>
          </a:p>
        </p:txBody>
      </p:sp>
      <p:pic>
        <p:nvPicPr>
          <p:cNvPr id="7" name="Picture 6" descr="generation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709" y="1508760"/>
            <a:ext cx="7008101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797296"/>
            <a:ext cx="108813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4748B"/>
                </a:solidFill>
                <a:latin typeface="Verdana"/>
              </a:defRPr>
            </a:pPr>
            <a:r>
              <a:t>Primeira amostra de cada classe · seed 101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73152"/>
            <a:ext cx="11704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004F8B"/>
                </a:solidFill>
                <a:latin typeface="Verdana"/>
              </a:defRPr>
            </a:pPr>
            <a:r>
              <a:t>INFERÊNCIA LOCAL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033"/>
                </a:solidFill>
                <a:latin typeface="Verdana"/>
              </a:defRPr>
            </a:pPr>
            <a:r>
              <a:t>Quatro previsões limpas durante a geração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4F8B"/>
                </a:solidFill>
                <a:latin typeface="Verdana"/>
              </a:defRPr>
            </a:pPr>
            <a:r>
              <a:t>Inatel • TP558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Verdana"/>
              </a:defRPr>
            </a:pPr>
            <a: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81344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Verdana"/>
              </a:defRPr>
            </a:pPr>
            <a:r>
              <a:t>Históricos salvos dos modelos executados · seed 101</a:t>
            </a:r>
          </a:p>
        </p:txBody>
      </p:sp>
      <p:pic>
        <p:nvPicPr>
          <p:cNvPr id="7" name="LocalGener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47088" y="1280160"/>
            <a:ext cx="8503920" cy="47823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73152"/>
            <a:ext cx="11704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004F8B"/>
                </a:solidFill>
                <a:latin typeface="Verdana"/>
              </a:defRPr>
            </a:pPr>
            <a:r>
              <a:t>RESULTADOS LOCAIS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033"/>
                </a:solidFill>
                <a:latin typeface="Verdana"/>
              </a:defRPr>
            </a:pPr>
            <a:r>
              <a:t>Aderência de classe e custo de amostragem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4F8B"/>
                </a:solidFill>
                <a:latin typeface="Verdana"/>
              </a:defRPr>
            </a:pPr>
            <a:r>
              <a:t>Inatel • TP558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Verdana"/>
              </a:defRPr>
            </a:pPr>
            <a: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81344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Verdana"/>
              </a:defRPr>
            </a:pPr>
            <a:r>
              <a:t>metrics.csv · batch 300 · CPU · não é FID/CLIP</a:t>
            </a:r>
          </a:p>
        </p:txBody>
      </p:sp>
      <p:pic>
        <p:nvPicPr>
          <p:cNvPr id="7" name="Picture 6" descr="local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83623"/>
            <a:ext cx="10881360" cy="39479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797296"/>
            <a:ext cx="108813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4748B"/>
                </a:solidFill>
                <a:latin typeface="Verdana"/>
              </a:defRPr>
            </a:pPr>
            <a:r>
              <a:t>Média ± DP de 3 seeds de geração · um treino por modelo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73152"/>
            <a:ext cx="11704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004F8B"/>
                </a:solidFill>
                <a:latin typeface="Verdana"/>
              </a:defRPr>
            </a:pPr>
            <a:r>
              <a:t>COMPARABILIDADE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033"/>
                </a:solidFill>
                <a:latin typeface="Verdana"/>
              </a:defRPr>
            </a:pPr>
            <a:r>
              <a:t>O que cada resultado permite afirmar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4F8B"/>
                </a:solidFill>
                <a:latin typeface="Verdana"/>
              </a:defRPr>
            </a:pPr>
            <a:r>
              <a:t>Inatel • TP558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Verdana"/>
              </a:defRPr>
            </a:pPr>
            <a: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81344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Verdana"/>
              </a:defRPr>
            </a:pPr>
            <a:r>
              <a:t>Tabelas 1/2, protocolo local e proposta de pesquisa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45920"/>
          <a:ext cx="1088136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676656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Medida</a:t>
                      </a:r>
                    </a:p>
                  </a:txBody>
                  <a:tcPr>
                    <a:solidFill>
                      <a:srgbClr val="004F8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Artigo</a:t>
                      </a:r>
                    </a:p>
                  </a:txBody>
                  <a:tcPr>
                    <a:solidFill>
                      <a:srgbClr val="004F8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Demonstração</a:t>
                      </a:r>
                    </a:p>
                  </a:txBody>
                  <a:tcPr>
                    <a:solidFill>
                      <a:srgbClr val="004F8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SAR</a:t>
                      </a:r>
                    </a:p>
                  </a:txBody>
                  <a:tcPr>
                    <a:solidFill>
                      <a:srgbClr val="004F8B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72033"/>
                          </a:solidFill>
                          <a:latin typeface="Verdana"/>
                        </a:defRPr>
                      </a:pPr>
                      <a:r>
                        <a:t>FID, 512/4 passos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72033"/>
                          </a:solidFill>
                          <a:latin typeface="Verdana"/>
                        </a:defRPr>
                      </a:pPr>
                      <a:r>
                        <a:t>11,10 (LCM)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72033"/>
                          </a:solidFill>
                          <a:latin typeface="Verdana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72033"/>
                          </a:solidFill>
                          <a:latin typeface="Verdana"/>
                        </a:defRPr>
                      </a:pPr>
                      <a:r>
                        <a:t>Não avaliado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72033"/>
                          </a:solidFill>
                          <a:latin typeface="Verdana"/>
                        </a:defRPr>
                      </a:pPr>
                      <a:r>
                        <a:t>CLIP, 512/4 passos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72033"/>
                          </a:solidFill>
                          <a:latin typeface="Verdana"/>
                        </a:defRPr>
                      </a:pPr>
                      <a:r>
                        <a:t>28,69 (LCM)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72033"/>
                          </a:solidFill>
                          <a:latin typeface="Verdana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72033"/>
                          </a:solidFill>
                          <a:latin typeface="Verdana"/>
                        </a:defRPr>
                      </a:pPr>
                      <a:r>
                        <a:t>Não avaliado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72033"/>
                          </a:solidFill>
                          <a:latin typeface="Verdana"/>
                        </a:defRPr>
                      </a:pPr>
                      <a:r>
                        <a:t>Aderência à classe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72033"/>
                          </a:solidFill>
                          <a:latin typeface="Verdana"/>
                        </a:defRPr>
                      </a:pPr>
                      <a:r>
                        <a:t>Não reportada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72033"/>
                          </a:solidFill>
                          <a:latin typeface="Verdana"/>
                        </a:defRPr>
                      </a:pPr>
                      <a:r>
                        <a:t>CSV local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72033"/>
                          </a:solidFill>
                          <a:latin typeface="Verdana"/>
                        </a:defRPr>
                      </a:pPr>
                      <a:r>
                        <a:t>Não aplicável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72033"/>
                          </a:solidFill>
                          <a:latin typeface="Verdana"/>
                        </a:defRPr>
                      </a:pPr>
                      <a:r>
                        <a:t>IoU / Dice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72033"/>
                          </a:solidFill>
                          <a:latin typeface="Verdana"/>
                        </a:defRPr>
                      </a:pPr>
                      <a:r>
                        <a:t>Não reportados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72033"/>
                          </a:solidFill>
                          <a:latin typeface="Verdana"/>
                        </a:defRPr>
                      </a:pPr>
                      <a:r>
                        <a:t>Não avaliados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72033"/>
                          </a:solidFill>
                          <a:latin typeface="Verdana"/>
                        </a:defRPr>
                      </a:pPr>
                      <a:r>
                        <a:t>Experimento futuro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349240"/>
            <a:ext cx="107899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64748B"/>
                </a:solidFill>
                <a:latin typeface="Verdana"/>
              </a:defRPr>
            </a:pPr>
            <a:r>
              <a:t>N/A: configuração experimental diferente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73152"/>
            <a:ext cx="11704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004F8B"/>
                </a:solidFill>
                <a:latin typeface="Verdana"/>
              </a:defRPr>
            </a:pPr>
            <a:r>
              <a:t>AUDITORIA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033"/>
                </a:solidFill>
                <a:latin typeface="Verdana"/>
              </a:defRPr>
            </a:pPr>
            <a:r>
              <a:t>Paper, defaults de código e checkpoint diferem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4F8B"/>
                </a:solidFill>
                <a:latin typeface="Verdana"/>
              </a:defRPr>
            </a:pPr>
            <a:r>
              <a:t>Inatel • TP558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Verdana"/>
              </a:defRPr>
            </a:pPr>
            <a: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81344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Verdana"/>
              </a:defRPr>
            </a:pPr>
            <a:r>
              <a:t>Paper v1 · README oficial fixado · Diffusers v0.35.1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Orçamento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100k nas tabelas ≠ 4k no showcase de 32 horas-GPU.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Configuração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EMA, otimizador e convenção de guidance exigem verificação.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2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Pesos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2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Dreamshaper divulgado ≠ identidade automática dos modelos SD2.1 das tabelas.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73152"/>
            <a:ext cx="11704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004F8B"/>
                </a:solidFill>
                <a:latin typeface="Verdana"/>
              </a:defRPr>
            </a:pPr>
            <a:r>
              <a:t>PESQUISA DE MESTRADO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033"/>
                </a:solidFill>
                <a:latin typeface="Verdana"/>
              </a:defRPr>
            </a:pPr>
            <a:r>
              <a:t>Nova direção: DDPM para aumentar o treino 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4F8B"/>
                </a:solidFill>
                <a:latin typeface="Verdana"/>
              </a:defRPr>
            </a:pPr>
            <a:r>
              <a:t>Inatel • TP558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Verdana"/>
              </a:defRPr>
            </a:pPr>
            <a: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81344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Verdana"/>
              </a:defRPr>
            </a:pPr>
            <a:r>
              <a:t>project/second_part_project.pdf + orientação do usuário nesta sessão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Problema atual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Segmentar pistas estreitas em SAR Sentinel-1 com SAM e YOLO.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Etapa planejada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Treinar DDPM para gerar novos pares úteis ao treinamento.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2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Comparação posterior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2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Avaliar consistência/LCM no custo e no efeito downstream.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73152"/>
            <a:ext cx="11704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004F8B"/>
                </a:solidFill>
                <a:latin typeface="Verdana"/>
              </a:defRPr>
            </a:pPr>
            <a:r>
              <a:t>APLICAÇÃO PROPOSTA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033"/>
                </a:solidFill>
                <a:latin typeface="Verdana"/>
              </a:defRPr>
            </a:pPr>
            <a:r>
              <a:t>A máscara precisa continuar sendo verdadeira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4F8B"/>
                </a:solidFill>
                <a:latin typeface="Verdana"/>
              </a:defRPr>
            </a:pPr>
            <a:r>
              <a:t>Inatel • TP558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Verdana"/>
              </a:defRPr>
            </a:pPr>
            <a: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81344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Verdana"/>
              </a:defRPr>
            </a:pPr>
            <a:r>
              <a:t>Proposta de experimento · nenhuma execução SAR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3547872" cy="210312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1907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Treino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560320"/>
            <a:ext cx="3145536" cy="8686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SAR + máscaras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50791" y="2194560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004F8B"/>
                </a:solidFill>
                <a:latin typeface="Verdana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508760"/>
            <a:ext cx="3547872" cy="210312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71907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Professor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560320"/>
            <a:ext cx="3145536" cy="8686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DDPM condicionado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1544" y="2194560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004F8B"/>
                </a:solidFill>
                <a:latin typeface="Verdana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508760"/>
            <a:ext cx="3547872" cy="210312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171907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Aluno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2560320"/>
            <a:ext cx="3145536" cy="8686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Consistência / LCM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023360"/>
            <a:ext cx="5349240" cy="192024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4233672"/>
            <a:ext cx="4946903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Pares sintéticos auditados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5074920"/>
            <a:ext cx="4946903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Imagem e máscara alinhadas. Apenas treino.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023360"/>
            <a:ext cx="5349240" cy="192024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4233672"/>
            <a:ext cx="4946903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Mesmo SAM / YOLO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5074920"/>
            <a:ext cx="4946903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Avaliação em SAR real intocado: IoU e Dice.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73152"/>
            <a:ext cx="11704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004F8B"/>
                </a:solidFill>
                <a:latin typeface="Verdana"/>
              </a:defRPr>
            </a:pPr>
            <a:r>
              <a:t>DECISÃO ARQUITETURAL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033"/>
                </a:solidFill>
                <a:latin typeface="Verdana"/>
              </a:defRPr>
            </a:pPr>
            <a:r>
              <a:t>DDPM em pixels não vira LCM automaticamente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4F8B"/>
                </a:solidFill>
                <a:latin typeface="Verdana"/>
              </a:defRPr>
            </a:pPr>
            <a:r>
              <a:t>Inatel • TP558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Verdana"/>
              </a:defRPr>
            </a:pPr>
            <a: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81344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Verdana"/>
              </a:defRPr>
            </a:pPr>
            <a:r>
              <a:t>Análise de aplicabilidade · notes/research_application.md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Professor em pixels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Primeiro comparador: destilação por consistência em pixels.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Professor em latentes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LCD pode manter o mesmo encoder, decoder e condicionamento.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2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Comparação justa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2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Mesmo professor e dados. Autoencoder novo é outra intervenção.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73152"/>
            <a:ext cx="11704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004F8B"/>
                </a:solidFill>
                <a:latin typeface="Verdana"/>
              </a:defRPr>
            </a:pPr>
            <a:r>
              <a:t>EXPERIMENTO FUTURO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033"/>
                </a:solidFill>
                <a:latin typeface="Verdana"/>
              </a:defRPr>
            </a:pPr>
            <a:r>
              <a:t>Primeiro utilidade, depois aceleração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4F8B"/>
                </a:solidFill>
                <a:latin typeface="Verdana"/>
              </a:defRPr>
            </a:pPr>
            <a:r>
              <a:t>Inatel • TP558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Verdana"/>
              </a:defRPr>
            </a:pPr>
            <a: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81344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Verdana"/>
              </a:defRPr>
            </a:pPr>
            <a:r>
              <a:t>Hipóteses e protocolo propostos, não resultados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A · Aumento DDPM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Real + aumento convencional versus real + sintéticos, mesmo segmentador.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B · Destilação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Mesmo professor, mesmos pares aceitos e mesmo orçamento de treino.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2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Avaliação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2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IoU/Dice no teste real, contorno, custo por par aceito e memória.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73152"/>
            <a:ext cx="11704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004F8B"/>
                </a:solidFill>
                <a:latin typeface="Verdana"/>
              </a:defRPr>
            </a:pPr>
            <a:r>
              <a:t>CRITÉRIOS E LIMITAÇÕES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033"/>
                </a:solidFill>
                <a:latin typeface="Verdana"/>
              </a:defRPr>
            </a:pPr>
            <a:r>
              <a:t>Velocidade só compensa se preservar utilidade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4F8B"/>
                </a:solidFill>
                <a:latin typeface="Verdana"/>
              </a:defRPr>
            </a:pPr>
            <a:r>
              <a:t>Inatel • TP558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Verdana"/>
              </a:defRPr>
            </a:pPr>
            <a: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81344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Verdana"/>
              </a:defRPr>
            </a:pPr>
            <a:r>
              <a:t>Limiares propostos para pré-registro · não são ganhos esperados medidos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Não inferioridade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Proposta: limite inferior de ΔIoU LCM−DDPM acima de −1 p.p.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Custo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Proposta: pelo menos 2× menos custo por par aceito, incluindo rejeições.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2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Riscos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2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Máscara desalinhada, perda de pistas no latente, vazamento e baixa diversidade.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73152"/>
            <a:ext cx="11704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004F8B"/>
                </a:solidFill>
                <a:latin typeface="Verdana"/>
              </a:defRPr>
            </a:pPr>
            <a: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033"/>
                </a:solidFill>
                <a:latin typeface="Verdana"/>
              </a:defRPr>
            </a:pPr>
            <a:r>
              <a:t>Aprender o destino pode reduzir a geração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4F8B"/>
                </a:solidFill>
                <a:latin typeface="Verdana"/>
              </a:defRPr>
            </a:pPr>
            <a:r>
              <a:t>Inatel • TP558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Verdana"/>
              </a:defRPr>
            </a:pPr>
            <a: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81344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Verdana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Artigo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LCD combina latentes, guidance, consistência e skipping.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Demonstração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Treino e inferência executados, com checkpoints e resultados auditáveis.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2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Pesquisa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2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Validar DDPM-SAR e então comparar custo e benefício do aluno destilado.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73152"/>
            <a:ext cx="11704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004F8B"/>
                </a:solidFill>
                <a:latin typeface="Verdana"/>
              </a:defRPr>
            </a:pPr>
            <a:r>
              <a:t>REFERÊNCIAS E MATERIAL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033"/>
                </a:solidFill>
                <a:latin typeface="Verdana"/>
              </a:defRPr>
            </a:pPr>
            <a:r>
              <a:t>Fontes e trilha de reprodução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4F8B"/>
                </a:solidFill>
                <a:latin typeface="Verdana"/>
              </a:defRPr>
            </a:pPr>
            <a:r>
              <a:t>Inatel • TP558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Verdana"/>
              </a:defRPr>
            </a:pPr>
            <a: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81344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Verdana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Artigo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Luo et al. (2023). arXiv:2310.04378v1. Texto e apêndices.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Código consultado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Repositório oficial fixado por commit e Diffusers v0.35.1.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691640"/>
            <a:ext cx="3547872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2" y="1901952"/>
            <a:ext cx="31455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4F8B"/>
                </a:solidFill>
                <a:latin typeface="Verdana"/>
              </a:defRPr>
            </a:pPr>
            <a:r>
              <a:t>Entrega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2" y="2743200"/>
            <a:ext cx="3145536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033"/>
                </a:solidFill>
                <a:latin typeface="Verdana"/>
              </a:defRPr>
            </a:pPr>
            <a:r>
              <a:t>README · 7 notebooks · checkpoints · CSV/JSON · 5 vídeos/GIFs.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