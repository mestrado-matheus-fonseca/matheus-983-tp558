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7" r:id="rId3"/>
    <p:sldId id="315" r:id="rId4"/>
    <p:sldId id="317" r:id="rId5"/>
    <p:sldId id="318" r:id="rId6"/>
    <p:sldId id="308" r:id="rId7"/>
    <p:sldId id="319" r:id="rId8"/>
    <p:sldId id="320" r:id="rId9"/>
    <p:sldId id="325" r:id="rId10"/>
    <p:sldId id="323" r:id="rId11"/>
    <p:sldId id="322" r:id="rId12"/>
    <p:sldId id="326" r:id="rId13"/>
    <p:sldId id="327" r:id="rId14"/>
    <p:sldId id="328" r:id="rId15"/>
    <p:sldId id="329" r:id="rId16"/>
    <p:sldId id="330" r:id="rId17"/>
    <p:sldId id="331" r:id="rId18"/>
    <p:sldId id="312" r:id="rId19"/>
    <p:sldId id="316" r:id="rId20"/>
    <p:sldId id="306" r:id="rId21"/>
    <p:sldId id="314" r:id="rId22"/>
    <p:sldId id="293" r:id="rId23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9808-AE8F-1235-47F7-570875996AB1}" v="6" dt="2026-08-17T20:02:19.560"/>
    <p1510:client id="{2624D192-4866-54D1-6606-95CAFC995D3A}" v="8" dt="2026-08-17T23:29:55.123"/>
    <p1510:client id="{8072DE11-811F-7C33-5AE1-ACD963E8BDAA}" v="118" dt="2026-08-17T22:19:57.900"/>
    <p1510:client id="{B1D78056-AB19-D24F-9A75-ADDD81A2FB9A}" v="242" dt="2026-08-17T17:56:30.599"/>
    <p1510:client id="{DDF58D53-DAE6-4F1F-4D93-7ACDA72E2C7A}" v="245" dt="2026-08-17T23:22:00.438"/>
    <p1510:client id="{F3D44F90-85C5-EF0B-420E-0AB9B74C18C7}" v="309" dt="2026-08-17T17:33:29.271"/>
    <p1510:client id="{FF401C5F-981D-563C-858C-BFF0F3AE8D83}" v="93" dt="2026-08-17T20:01:06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79540" autoAdjust="0"/>
  </p:normalViewPr>
  <p:slideViewPr>
    <p:cSldViewPr snapToGrid="0">
      <p:cViewPr varScale="1">
        <p:scale>
          <a:sx n="88" d="100"/>
          <a:sy n="88" d="100"/>
        </p:scale>
        <p:origin x="1698" y="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17/08/2026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Apresente o objetivo do seminário: explicar a intuição do DDPM, conectar a teoria aos notebooks e discutir quando o uso é viável. Evite começar pela matemática: destaque que a ideia principal é aprender a desfazer ruído progressivamente.</a:t>
            </a:r>
            <a:endParaRPr lang="pt-BR"/>
          </a:p>
          <a:p>
            <a:endParaRPr lang="pt-BR" baseline="0" dirty="0">
              <a:ea typeface="Calibri"/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Explique que o seminário não é apenas um resumo de artigo: ele parte da motivação, passa pela formulação do DDPM, mostra a reprodução feita nos notebooks e fecha com uma visão crítica de uso prático.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990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Diferencie classificação de geração. Em classificação, escolhemos um rótulo; em geração, queremos amostrar novos pontos de uma distribuição. O DDPM é uma forma de aprender essa distribuição por meio de um processo de ruído reversível.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146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25BD-2322-B35F-9437-471DA61F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00B1F-5EB1-5551-5CF5-C43F29C31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BB8D2-1E69-92A9-6CEE-48BC82127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ideia de usar difusão para geração não começou em 2020. Já em 2015 existia a proposta de degradar progressivamente os dados com ruído e aprender o caminho inverso. O problema era que essa abordagem ainda não havia mostrado geração de imagens realmente competitiva. Em 2020, Ho, Jain e Abbeel mostram que uma parametrização baseada na predição do ruído, conectada a score matching, torna esse tipo de modelo competitivo e relativamente simples de treinar.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AADCB-AB5F-3CAC-487C-78A4061B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65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85B6-2541-9340-AF92-C7E0CBD1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CB077-2999-8F3B-9999-2B802898F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5237A-B737-0AFC-E67A-00ADD5328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Explique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forward </a:t>
            </a:r>
            <a:r>
              <a:rPr lang="en-US" dirty="0" err="1"/>
              <a:t>produz</a:t>
            </a:r>
            <a:r>
              <a:rPr lang="en-US" dirty="0"/>
              <a:t> </a:t>
            </a:r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ruidosos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níveis</a:t>
            </a:r>
            <a:r>
              <a:rPr lang="en-US" dirty="0"/>
              <a:t> </a:t>
            </a:r>
            <a:r>
              <a:rPr lang="en-US" dirty="0" err="1"/>
              <a:t>conhecidos</a:t>
            </a:r>
            <a:r>
              <a:rPr lang="en-US" dirty="0"/>
              <a:t>. O reverse </a:t>
            </a:r>
            <a:r>
              <a:rPr lang="en-US" dirty="0" err="1"/>
              <a:t>aprende</a:t>
            </a:r>
            <a:r>
              <a:rPr lang="en-US" dirty="0"/>
              <a:t> a </a:t>
            </a:r>
            <a:r>
              <a:rPr lang="en-US" dirty="0" err="1"/>
              <a:t>direção</a:t>
            </a:r>
            <a:r>
              <a:rPr lang="en-US" dirty="0"/>
              <a:t> </a:t>
            </a:r>
            <a:r>
              <a:rPr lang="en-US" dirty="0" err="1"/>
              <a:t>oposta</a:t>
            </a:r>
            <a:r>
              <a:rPr lang="en-US" dirty="0"/>
              <a:t>. Ao final do forward, </a:t>
            </a:r>
            <a:r>
              <a:rPr lang="en-US" dirty="0" err="1"/>
              <a:t>x_T</a:t>
            </a:r>
            <a:r>
              <a:rPr lang="en-US" dirty="0"/>
              <a:t> se </a:t>
            </a:r>
            <a:r>
              <a:rPr lang="en-US" dirty="0" err="1"/>
              <a:t>aproxima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normal </a:t>
            </a:r>
            <a:r>
              <a:rPr lang="en-US" dirty="0" err="1"/>
              <a:t>padrão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amostrar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FB942-8602-A210-3DC5-C1A8A533C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7565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a imagem/vídeo como ponte visual. Destaque os níveis t=0, 250, 500, 750 e 999. O forward é uma cadeia de Markov fixa; cada passo preserva parte do estado e adiciona ruído gaussiano.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028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Enfatize</a:t>
            </a:r>
            <a:r>
              <a:rPr lang="en-US" dirty="0"/>
              <a:t> a </a:t>
            </a:r>
            <a:r>
              <a:rPr lang="en-US" dirty="0" err="1"/>
              <a:t>parametrização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ruído</a:t>
            </a:r>
            <a:r>
              <a:rPr lang="en-US" dirty="0"/>
              <a:t>. A rede </a:t>
            </a:r>
            <a:r>
              <a:rPr lang="en-US" dirty="0" err="1"/>
              <a:t>recebe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ruidosa</a:t>
            </a:r>
            <a:r>
              <a:rPr lang="en-US" dirty="0"/>
              <a:t> e o tempo t, e </a:t>
            </a:r>
            <a:r>
              <a:rPr lang="en-US" dirty="0" err="1"/>
              <a:t>estima</a:t>
            </a:r>
            <a:r>
              <a:rPr lang="en-US" dirty="0"/>
              <a:t> o </a:t>
            </a:r>
            <a:r>
              <a:rPr lang="en-US" dirty="0" err="1"/>
              <a:t>ruído</a:t>
            </a:r>
            <a:r>
              <a:rPr lang="en-US" dirty="0"/>
              <a:t>. A </a:t>
            </a:r>
            <a:r>
              <a:rPr lang="en-US" dirty="0" err="1"/>
              <a:t>média</a:t>
            </a:r>
            <a:r>
              <a:rPr lang="en-US" dirty="0"/>
              <a:t> </a:t>
            </a:r>
            <a:r>
              <a:rPr lang="en-US" dirty="0" err="1"/>
              <a:t>μθ</a:t>
            </a:r>
            <a:r>
              <a:rPr lang="en-US" dirty="0"/>
              <a:t> define a </a:t>
            </a:r>
            <a:r>
              <a:rPr lang="en-US" dirty="0" err="1"/>
              <a:t>direção</a:t>
            </a:r>
            <a:r>
              <a:rPr lang="en-US" dirty="0"/>
              <a:t> do </a:t>
            </a:r>
            <a:r>
              <a:rPr lang="en-US" dirty="0" err="1"/>
              <a:t>passo</a:t>
            </a:r>
            <a:r>
              <a:rPr lang="en-US" dirty="0"/>
              <a:t> de </a:t>
            </a:r>
            <a:r>
              <a:rPr lang="en-US" dirty="0" err="1"/>
              <a:t>remoção</a:t>
            </a:r>
            <a:r>
              <a:rPr lang="en-US" dirty="0"/>
              <a:t>. No DDPM </a:t>
            </a:r>
            <a:r>
              <a:rPr lang="en-US" dirty="0" err="1"/>
              <a:t>há</a:t>
            </a:r>
            <a:r>
              <a:rPr lang="en-US" dirty="0"/>
              <a:t> um </a:t>
            </a:r>
            <a:r>
              <a:rPr lang="en-US" dirty="0" err="1"/>
              <a:t>termo</a:t>
            </a:r>
            <a:r>
              <a:rPr lang="en-US" dirty="0"/>
              <a:t> </a:t>
            </a:r>
            <a:r>
              <a:rPr lang="en-US" dirty="0" err="1"/>
              <a:t>estocástico</a:t>
            </a:r>
            <a:r>
              <a:rPr lang="en-US" dirty="0"/>
              <a:t>, </a:t>
            </a:r>
            <a:r>
              <a:rPr lang="en-US" dirty="0" err="1"/>
              <a:t>exceto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última</a:t>
            </a:r>
            <a:r>
              <a:rPr lang="en-US" dirty="0"/>
              <a:t> </a:t>
            </a:r>
            <a:r>
              <a:rPr lang="en-US" dirty="0" err="1"/>
              <a:t>etapa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84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t, T e S. t é </a:t>
            </a:r>
            <a:r>
              <a:rPr lang="en-US" dirty="0" err="1"/>
              <a:t>informação</a:t>
            </a:r>
            <a:r>
              <a:rPr lang="en-US" dirty="0"/>
              <a:t> de </a:t>
            </a:r>
            <a:r>
              <a:rPr lang="en-US" dirty="0" err="1"/>
              <a:t>condicionamento</a:t>
            </a:r>
            <a:r>
              <a:rPr lang="en-US" dirty="0"/>
              <a:t> da rede; T é o </a:t>
            </a:r>
            <a:r>
              <a:rPr lang="en-US" dirty="0" err="1"/>
              <a:t>cronograma</a:t>
            </a:r>
            <a:r>
              <a:rPr lang="en-US" dirty="0"/>
              <a:t> </a:t>
            </a:r>
            <a:r>
              <a:rPr lang="en-US" dirty="0" err="1"/>
              <a:t>usado</a:t>
            </a:r>
            <a:r>
              <a:rPr lang="en-US" dirty="0"/>
              <a:t> no </a:t>
            </a:r>
            <a:r>
              <a:rPr lang="en-US" dirty="0" err="1"/>
              <a:t>treinamento</a:t>
            </a:r>
            <a:r>
              <a:rPr lang="en-US" dirty="0"/>
              <a:t>; S é a 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avaliações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inferência</a:t>
            </a:r>
            <a:r>
              <a:rPr lang="en-US" dirty="0"/>
              <a:t>. </a:t>
            </a:r>
            <a:r>
              <a:rPr lang="en-US" dirty="0" err="1"/>
              <a:t>Aumentar</a:t>
            </a:r>
            <a:r>
              <a:rPr lang="en-US" dirty="0"/>
              <a:t> 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ensina</a:t>
            </a:r>
            <a:r>
              <a:rPr lang="en-US" dirty="0"/>
              <a:t> nada novo à rede, </a:t>
            </a:r>
            <a:r>
              <a:rPr lang="en-US" dirty="0" err="1"/>
              <a:t>apenas</a:t>
            </a:r>
            <a:r>
              <a:rPr lang="en-US" dirty="0"/>
              <a:t> resolve a </a:t>
            </a:r>
            <a:r>
              <a:rPr lang="en-US" dirty="0" err="1"/>
              <a:t>trajetória</a:t>
            </a:r>
            <a:r>
              <a:rPr lang="en-US" dirty="0"/>
              <a:t> com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granularidade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971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Percorra</a:t>
            </a:r>
            <a:r>
              <a:rPr lang="en-US" dirty="0"/>
              <a:t> as </a:t>
            </a:r>
            <a:r>
              <a:rPr lang="en-US" dirty="0" err="1"/>
              <a:t>quatro</a:t>
            </a:r>
            <a:r>
              <a:rPr lang="en-US" dirty="0"/>
              <a:t> </a:t>
            </a:r>
            <a:r>
              <a:rPr lang="en-US" dirty="0" err="1"/>
              <a:t>etapas</a:t>
            </a:r>
            <a:r>
              <a:rPr lang="en-US" dirty="0"/>
              <a:t>. O </a:t>
            </a:r>
            <a:r>
              <a:rPr lang="en-US" dirty="0" err="1"/>
              <a:t>alvo</a:t>
            </a:r>
            <a:r>
              <a:rPr lang="en-US" dirty="0"/>
              <a:t> </a:t>
            </a:r>
            <a:r>
              <a:rPr lang="en-US" dirty="0" err="1"/>
              <a:t>supervisionado</a:t>
            </a:r>
            <a:r>
              <a:rPr lang="en-US" dirty="0"/>
              <a:t> é </a:t>
            </a:r>
            <a:r>
              <a:rPr lang="en-US" dirty="0" err="1"/>
              <a:t>conhecido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o </a:t>
            </a:r>
            <a:r>
              <a:rPr lang="en-US" dirty="0" err="1"/>
              <a:t>próprio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sorteou</a:t>
            </a:r>
            <a:r>
              <a:rPr lang="en-US" dirty="0"/>
              <a:t> ε. Cada </a:t>
            </a:r>
            <a:r>
              <a:rPr lang="en-US" dirty="0" err="1"/>
              <a:t>lote</a:t>
            </a:r>
            <a:r>
              <a:rPr lang="en-US" dirty="0"/>
              <a:t> </a:t>
            </a:r>
            <a:r>
              <a:rPr lang="en-US" dirty="0" err="1"/>
              <a:t>cobre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imagens e </a:t>
            </a:r>
            <a:r>
              <a:rPr lang="en-US" dirty="0" err="1"/>
              <a:t>níveis</a:t>
            </a:r>
            <a:r>
              <a:rPr lang="en-US" dirty="0"/>
              <a:t> de </a:t>
            </a:r>
            <a:r>
              <a:rPr lang="en-US" dirty="0" err="1"/>
              <a:t>ruído</a:t>
            </a:r>
            <a:r>
              <a:rPr lang="en-US" dirty="0"/>
              <a:t>. O </a:t>
            </a:r>
            <a:r>
              <a:rPr lang="en-US" dirty="0" err="1"/>
              <a:t>objetivo</a:t>
            </a:r>
            <a:r>
              <a:rPr lang="en-US" dirty="0"/>
              <a:t> simples é </a:t>
            </a:r>
            <a:r>
              <a:rPr lang="en-US" dirty="0" err="1"/>
              <a:t>uma</a:t>
            </a:r>
            <a:r>
              <a:rPr lang="en-US" dirty="0"/>
              <a:t> das </a:t>
            </a:r>
            <a:r>
              <a:rPr lang="en-US" dirty="0" err="1"/>
              <a:t>razões</a:t>
            </a:r>
            <a:r>
              <a:rPr lang="en-US" dirty="0"/>
              <a:t> da </a:t>
            </a:r>
            <a:r>
              <a:rPr lang="en-US" dirty="0" err="1"/>
              <a:t>estabilidade</a:t>
            </a:r>
            <a:r>
              <a:rPr lang="en-US" dirty="0"/>
              <a:t> do DDPM.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3827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Exemplos</a:t>
            </a:r>
            <a:r>
              <a:rPr lang="en-US" dirty="0"/>
              <a:t> </a:t>
            </a:r>
            <a:r>
              <a:rPr lang="en-US" dirty="0" err="1"/>
              <a:t>rápidos</a:t>
            </a:r>
            <a:r>
              <a:rPr lang="en-US" dirty="0"/>
              <a:t>. Em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inversos</a:t>
            </a:r>
            <a:r>
              <a:rPr lang="en-US" dirty="0"/>
              <a:t>, </a:t>
            </a:r>
            <a:r>
              <a:rPr lang="en-US" dirty="0" err="1"/>
              <a:t>observações</a:t>
            </a:r>
            <a:r>
              <a:rPr lang="en-US" dirty="0"/>
              <a:t> </a:t>
            </a:r>
            <a:r>
              <a:rPr lang="en-US" dirty="0" err="1"/>
              <a:t>conhecidas</a:t>
            </a:r>
            <a:r>
              <a:rPr lang="en-US" dirty="0"/>
              <a:t> </a:t>
            </a:r>
            <a:r>
              <a:rPr lang="en-US" dirty="0" err="1"/>
              <a:t>guiam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etapa</a:t>
            </a:r>
            <a:r>
              <a:rPr lang="en-US" dirty="0"/>
              <a:t> do reverse. Em </a:t>
            </a:r>
            <a:r>
              <a:rPr lang="en-US" dirty="0" err="1"/>
              <a:t>geração</a:t>
            </a:r>
            <a:r>
              <a:rPr lang="en-US" dirty="0"/>
              <a:t> </a:t>
            </a:r>
            <a:r>
              <a:rPr lang="en-US" dirty="0" err="1"/>
              <a:t>condicional</a:t>
            </a:r>
            <a:r>
              <a:rPr lang="en-US" dirty="0"/>
              <a:t>, a </a:t>
            </a:r>
            <a:r>
              <a:rPr lang="en-US" dirty="0" err="1"/>
              <a:t>condição</a:t>
            </a:r>
            <a:r>
              <a:rPr lang="en-US" dirty="0"/>
              <a:t> </a:t>
            </a:r>
            <a:r>
              <a:rPr lang="en-US" dirty="0" err="1"/>
              <a:t>restringe</a:t>
            </a:r>
            <a:r>
              <a:rPr lang="en-US" dirty="0"/>
              <a:t> a </a:t>
            </a:r>
            <a:r>
              <a:rPr lang="en-US" dirty="0" err="1"/>
              <a:t>região</a:t>
            </a:r>
            <a:r>
              <a:rPr lang="en-US" dirty="0"/>
              <a:t> da </a:t>
            </a:r>
            <a:r>
              <a:rPr lang="en-US" dirty="0" err="1"/>
              <a:t>distribuição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amostrada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916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Conecte</a:t>
            </a:r>
            <a:r>
              <a:rPr lang="en-US" dirty="0"/>
              <a:t> com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prático</a:t>
            </a:r>
            <a:r>
              <a:rPr lang="en-US" dirty="0"/>
              <a:t>. Em dados </a:t>
            </a:r>
            <a:r>
              <a:rPr lang="en-US" dirty="0" err="1"/>
              <a:t>sintéticos</a:t>
            </a:r>
            <a:r>
              <a:rPr lang="en-US" dirty="0"/>
              <a:t>, a </a:t>
            </a:r>
            <a:r>
              <a:rPr lang="en-US" dirty="0" err="1"/>
              <a:t>avaliação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 </a:t>
            </a:r>
            <a:r>
              <a:rPr lang="en-US" dirty="0" err="1"/>
              <a:t>passar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desempenho</a:t>
            </a:r>
            <a:r>
              <a:rPr lang="en-US" dirty="0"/>
              <a:t> da </a:t>
            </a:r>
            <a:r>
              <a:rPr lang="en-US" dirty="0" err="1"/>
              <a:t>tarefa</a:t>
            </a:r>
            <a:r>
              <a:rPr lang="en-US" dirty="0"/>
              <a:t> downstream, pela </a:t>
            </a:r>
            <a:r>
              <a:rPr lang="en-US" dirty="0" err="1"/>
              <a:t>cobertura</a:t>
            </a:r>
            <a:r>
              <a:rPr lang="en-US" dirty="0"/>
              <a:t> das classes 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análise</a:t>
            </a:r>
            <a:r>
              <a:rPr lang="en-US" dirty="0"/>
              <a:t> de </a:t>
            </a:r>
            <a:r>
              <a:rPr lang="en-US" dirty="0" err="1"/>
              <a:t>risco</a:t>
            </a:r>
            <a:r>
              <a:rPr lang="en-US" dirty="0"/>
              <a:t> de </a:t>
            </a:r>
            <a:r>
              <a:rPr lang="en-US" dirty="0" err="1"/>
              <a:t>viés</a:t>
            </a:r>
            <a:r>
              <a:rPr lang="en-US" dirty="0"/>
              <a:t> e </a:t>
            </a:r>
            <a:r>
              <a:rPr lang="en-US" dirty="0" err="1"/>
              <a:t>memorização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255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Mostre</a:t>
            </a:r>
            <a:r>
              <a:rPr lang="en-US" dirty="0"/>
              <a:t> a </a:t>
            </a:r>
            <a:r>
              <a:rPr lang="en-US" dirty="0" err="1"/>
              <a:t>convergência</a:t>
            </a:r>
            <a:r>
              <a:rPr lang="en-US" dirty="0"/>
              <a:t> e a </a:t>
            </a:r>
            <a:r>
              <a:rPr lang="en-US" dirty="0" err="1"/>
              <a:t>proximidade</a:t>
            </a:r>
            <a:r>
              <a:rPr lang="en-US" dirty="0"/>
              <a:t> entre </a:t>
            </a:r>
            <a:r>
              <a:rPr lang="en-US" dirty="0" err="1"/>
              <a:t>treino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r>
              <a:rPr lang="en-US" dirty="0"/>
              <a:t>. </a:t>
            </a:r>
            <a:r>
              <a:rPr lang="en-US" dirty="0" err="1"/>
              <a:t>Explique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dificuldade</a:t>
            </a:r>
            <a:r>
              <a:rPr lang="en-US" dirty="0"/>
              <a:t> varia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faixa</a:t>
            </a:r>
            <a:r>
              <a:rPr lang="en-US" dirty="0"/>
              <a:t> de </a:t>
            </a:r>
            <a:r>
              <a:rPr lang="en-US" dirty="0" err="1"/>
              <a:t>ruído</a:t>
            </a:r>
            <a:r>
              <a:rPr lang="en-US" dirty="0"/>
              <a:t> 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métricas</a:t>
            </a:r>
            <a:r>
              <a:rPr lang="en-US" dirty="0"/>
              <a:t> de </a:t>
            </a:r>
            <a:r>
              <a:rPr lang="en-US" dirty="0" err="1"/>
              <a:t>geração</a:t>
            </a:r>
            <a:r>
              <a:rPr lang="en-US" dirty="0"/>
              <a:t> </a:t>
            </a:r>
            <a:r>
              <a:rPr lang="en-US" dirty="0" err="1"/>
              <a:t>ainda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necessárias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61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Separe</a:t>
            </a:r>
            <a:r>
              <a:rPr lang="en-US" dirty="0"/>
              <a:t> </a:t>
            </a:r>
            <a:r>
              <a:rPr lang="en-US" dirty="0" err="1"/>
              <a:t>limitações</a:t>
            </a:r>
            <a:r>
              <a:rPr lang="en-US" dirty="0"/>
              <a:t> </a:t>
            </a:r>
            <a:r>
              <a:rPr lang="en-US" dirty="0" err="1"/>
              <a:t>estruturais</a:t>
            </a:r>
            <a:r>
              <a:rPr lang="en-US" dirty="0"/>
              <a:t> do </a:t>
            </a:r>
            <a:r>
              <a:rPr lang="en-US" dirty="0" err="1"/>
              <a:t>algoritmo</a:t>
            </a:r>
            <a:r>
              <a:rPr lang="en-US" dirty="0"/>
              <a:t> das </a:t>
            </a:r>
            <a:r>
              <a:rPr lang="en-US" dirty="0" err="1"/>
              <a:t>limitações</a:t>
            </a:r>
            <a:r>
              <a:rPr lang="en-US" dirty="0"/>
              <a:t> do </a:t>
            </a:r>
            <a:r>
              <a:rPr lang="en-US" dirty="0" err="1"/>
              <a:t>sistema</a:t>
            </a:r>
            <a:r>
              <a:rPr lang="en-US" dirty="0"/>
              <a:t>. A </a:t>
            </a:r>
            <a:r>
              <a:rPr lang="en-US" dirty="0" err="1"/>
              <a:t>amostragem</a:t>
            </a:r>
            <a:r>
              <a:rPr lang="en-US" dirty="0"/>
              <a:t> </a:t>
            </a:r>
            <a:r>
              <a:rPr lang="en-US" dirty="0" err="1"/>
              <a:t>iterativa</a:t>
            </a:r>
            <a:r>
              <a:rPr lang="en-US" dirty="0"/>
              <a:t> é a principal </a:t>
            </a:r>
            <a:r>
              <a:rPr lang="en-US" dirty="0" err="1"/>
              <a:t>limitação</a:t>
            </a:r>
            <a:r>
              <a:rPr lang="en-US" dirty="0"/>
              <a:t> </a:t>
            </a:r>
            <a:r>
              <a:rPr lang="en-US" dirty="0" err="1"/>
              <a:t>operacional</a:t>
            </a:r>
            <a:r>
              <a:rPr lang="en-US" dirty="0"/>
              <a:t> do DDPM original, mas </a:t>
            </a:r>
            <a:r>
              <a:rPr lang="en-US" dirty="0" err="1"/>
              <a:t>uso</a:t>
            </a:r>
            <a:r>
              <a:rPr lang="en-US" dirty="0"/>
              <a:t> real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segurança</a:t>
            </a:r>
            <a:r>
              <a:rPr lang="en-US" dirty="0"/>
              <a:t>, dados e </a:t>
            </a:r>
            <a:r>
              <a:rPr lang="en-US" dirty="0" err="1"/>
              <a:t>avaliação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925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Explique que aceleração deve ser avaliada junto com fidelidade e diversidade. Solvers diminuem passos; difusão latente reduz resolução interna; guidance melhora controle, mas pode reduzir diversidade.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105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DDIM define um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Markoviano</a:t>
            </a:r>
            <a:r>
              <a:rPr lang="en-US" dirty="0"/>
              <a:t> com as </a:t>
            </a:r>
            <a:r>
              <a:rPr lang="en-US" dirty="0" err="1"/>
              <a:t>mesmas</a:t>
            </a:r>
            <a:r>
              <a:rPr lang="en-US" dirty="0"/>
              <a:t> </a:t>
            </a:r>
            <a:r>
              <a:rPr lang="en-US" dirty="0" err="1"/>
              <a:t>marginais</a:t>
            </a:r>
            <a:r>
              <a:rPr lang="en-US" dirty="0"/>
              <a:t> e 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do DDPM. </a:t>
            </a:r>
            <a:r>
              <a:rPr lang="en-US" dirty="0" err="1"/>
              <a:t>Explique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η </a:t>
            </a:r>
            <a:r>
              <a:rPr lang="en-US" dirty="0" err="1"/>
              <a:t>controla</a:t>
            </a:r>
            <a:r>
              <a:rPr lang="en-US" dirty="0"/>
              <a:t> a </a:t>
            </a:r>
            <a:r>
              <a:rPr lang="en-US" dirty="0" err="1"/>
              <a:t>estocasticidade</a:t>
            </a:r>
            <a:r>
              <a:rPr lang="en-US" dirty="0"/>
              <a:t> e </a:t>
            </a:r>
            <a:r>
              <a:rPr lang="en-US" dirty="0" err="1"/>
              <a:t>que</a:t>
            </a:r>
            <a:r>
              <a:rPr lang="en-US" dirty="0"/>
              <a:t> S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ajustado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inferência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novo </a:t>
            </a:r>
            <a:r>
              <a:rPr lang="en-US" dirty="0" err="1"/>
              <a:t>treinamento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766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Latent diffusion </a:t>
            </a:r>
            <a:r>
              <a:rPr lang="en-US" dirty="0" err="1"/>
              <a:t>reduz</a:t>
            </a:r>
            <a:r>
              <a:rPr lang="en-US" dirty="0"/>
              <a:t> </a:t>
            </a:r>
            <a:r>
              <a:rPr lang="en-US" dirty="0" err="1"/>
              <a:t>custo</a:t>
            </a:r>
            <a:r>
              <a:rPr lang="en-US" dirty="0"/>
              <a:t>, mas </a:t>
            </a:r>
            <a:r>
              <a:rPr lang="en-US" dirty="0" err="1"/>
              <a:t>herda</a:t>
            </a:r>
            <a:r>
              <a:rPr lang="en-US" dirty="0"/>
              <a:t> </a:t>
            </a:r>
            <a:r>
              <a:rPr lang="en-US" dirty="0" err="1"/>
              <a:t>limitações</a:t>
            </a:r>
            <a:r>
              <a:rPr lang="en-US" dirty="0"/>
              <a:t> do autoencoder. Guidance </a:t>
            </a:r>
            <a:r>
              <a:rPr lang="en-US" dirty="0" err="1"/>
              <a:t>excessivo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reduzir</a:t>
            </a:r>
            <a:r>
              <a:rPr lang="en-US" dirty="0"/>
              <a:t> </a:t>
            </a:r>
            <a:r>
              <a:rPr lang="en-US" dirty="0" err="1"/>
              <a:t>diversidade</a:t>
            </a:r>
            <a:r>
              <a:rPr lang="en-US" dirty="0"/>
              <a:t>. </a:t>
            </a:r>
            <a:r>
              <a:rPr lang="en-US" dirty="0" err="1"/>
              <a:t>Distilação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treinamento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. Use </a:t>
            </a:r>
            <a:r>
              <a:rPr lang="en-US" dirty="0" err="1"/>
              <a:t>este</a:t>
            </a:r>
            <a:r>
              <a:rPr lang="en-US" dirty="0"/>
              <a:t> slide para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DDIM é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peça</a:t>
            </a:r>
            <a:r>
              <a:rPr lang="en-US" dirty="0"/>
              <a:t> do </a:t>
            </a:r>
            <a:r>
              <a:rPr lang="en-US" dirty="0" err="1"/>
              <a:t>ecossistema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940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Formule</a:t>
            </a:r>
            <a:r>
              <a:rPr lang="en-US" dirty="0"/>
              <a:t> a </a:t>
            </a:r>
            <a:r>
              <a:rPr lang="en-US" dirty="0" err="1"/>
              <a:t>decisão</a:t>
            </a:r>
            <a:r>
              <a:rPr lang="en-US" dirty="0"/>
              <a:t> </a:t>
            </a:r>
            <a:r>
              <a:rPr lang="en-US" dirty="0" err="1"/>
              <a:t>prática</a:t>
            </a:r>
            <a:r>
              <a:rPr lang="en-US" dirty="0"/>
              <a:t>: o </a:t>
            </a:r>
            <a:r>
              <a:rPr lang="en-US" dirty="0" err="1"/>
              <a:t>benefício</a:t>
            </a:r>
            <a:r>
              <a:rPr lang="en-US" dirty="0"/>
              <a:t> de </a:t>
            </a:r>
            <a:r>
              <a:rPr lang="en-US" dirty="0" err="1"/>
              <a:t>modelar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distribuição</a:t>
            </a:r>
            <a:r>
              <a:rPr lang="en-US" dirty="0"/>
              <a:t> </a:t>
            </a:r>
            <a:r>
              <a:rPr lang="en-US" dirty="0" err="1"/>
              <a:t>justifica</a:t>
            </a:r>
            <a:r>
              <a:rPr lang="en-US" dirty="0"/>
              <a:t> </a:t>
            </a:r>
            <a:r>
              <a:rPr lang="en-US" dirty="0" err="1"/>
              <a:t>custo</a:t>
            </a:r>
            <a:r>
              <a:rPr lang="en-US" dirty="0"/>
              <a:t> </a:t>
            </a:r>
            <a:r>
              <a:rPr lang="en-US" dirty="0" err="1"/>
              <a:t>iterativo</a:t>
            </a:r>
            <a:r>
              <a:rPr lang="en-US" dirty="0"/>
              <a:t>, </a:t>
            </a:r>
            <a:r>
              <a:rPr lang="en-US" dirty="0" err="1"/>
              <a:t>risco</a:t>
            </a:r>
            <a:r>
              <a:rPr lang="en-US" dirty="0"/>
              <a:t> dos dados e </a:t>
            </a:r>
            <a:r>
              <a:rPr lang="en-US" dirty="0" err="1"/>
              <a:t>complexidade</a:t>
            </a:r>
            <a:r>
              <a:rPr lang="en-US" dirty="0"/>
              <a:t> </a:t>
            </a:r>
            <a:r>
              <a:rPr lang="en-US" dirty="0" err="1"/>
              <a:t>operacional</a:t>
            </a:r>
            <a:r>
              <a:rPr lang="en-US" dirty="0"/>
              <a:t> </a:t>
            </a:r>
            <a:r>
              <a:rPr lang="en-US" dirty="0" err="1"/>
              <a:t>neste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?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apresente</a:t>
            </a:r>
            <a:r>
              <a:rPr lang="en-US" dirty="0"/>
              <a:t> DDPM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solução</a:t>
            </a:r>
            <a:r>
              <a:rPr lang="en-US" dirty="0"/>
              <a:t> universal.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286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Recapitule os três pontos sem introduzir conteúdo novo. Encerre afirmando que a praticidade atual veio da evolução de amostradores, condicionamentos e representações latentes.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890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Reforce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repositório</a:t>
            </a:r>
            <a:r>
              <a:rPr lang="en-US" dirty="0"/>
              <a:t> </a:t>
            </a:r>
            <a:r>
              <a:rPr lang="en-US" dirty="0" err="1"/>
              <a:t>contém</a:t>
            </a:r>
            <a:r>
              <a:rPr lang="en-US" dirty="0"/>
              <a:t> notebooks, </a:t>
            </a:r>
            <a:r>
              <a:rPr lang="en-US" dirty="0" err="1"/>
              <a:t>vídeos</a:t>
            </a:r>
            <a:r>
              <a:rPr lang="en-US" dirty="0"/>
              <a:t>, </a:t>
            </a:r>
            <a:r>
              <a:rPr lang="en-US" dirty="0" err="1"/>
              <a:t>métricas</a:t>
            </a:r>
            <a:r>
              <a:rPr lang="en-US" dirty="0"/>
              <a:t> e </a:t>
            </a:r>
            <a:r>
              <a:rPr lang="en-US" dirty="0" err="1"/>
              <a:t>referências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071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b="1" i="1" dirty="0" err="1">
                <a:ea typeface="+mj-lt"/>
                <a:cs typeface="+mj-lt"/>
              </a:rPr>
              <a:t>Denoising</a:t>
            </a:r>
            <a:r>
              <a:rPr lang="pt-BR" b="1" i="1" dirty="0">
                <a:ea typeface="+mj-lt"/>
                <a:cs typeface="+mj-lt"/>
              </a:rPr>
              <a:t> </a:t>
            </a:r>
            <a:r>
              <a:rPr lang="pt-BR" b="1" i="1" dirty="0" err="1">
                <a:ea typeface="+mj-lt"/>
                <a:cs typeface="+mj-lt"/>
              </a:rPr>
              <a:t>Diffusion</a:t>
            </a:r>
            <a:r>
              <a:rPr lang="pt-BR" b="1" i="1" dirty="0">
                <a:ea typeface="+mj-lt"/>
                <a:cs typeface="+mj-lt"/>
              </a:rPr>
              <a:t> </a:t>
            </a:r>
            <a:r>
              <a:rPr lang="pt-BR" b="1" i="1" dirty="0" err="1">
                <a:ea typeface="+mj-lt"/>
                <a:cs typeface="+mj-lt"/>
              </a:rPr>
              <a:t>Probabilistc</a:t>
            </a:r>
            <a:r>
              <a:rPr lang="pt-BR" b="1" i="1" dirty="0">
                <a:ea typeface="+mj-lt"/>
                <a:cs typeface="+mj-lt"/>
              </a:rPr>
              <a:t> Models - DDPM</a:t>
            </a:r>
            <a:endParaRPr lang="pt-BR" b="1" i="1" dirty="0">
              <a:ea typeface="Calibri Light"/>
              <a:cs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dirty="0"/>
              <a:t>Matheus Henrique Fonseca </a:t>
            </a:r>
            <a:r>
              <a:rPr lang="pt-BR" sz="2000"/>
              <a:t>Afonso</a:t>
            </a:r>
            <a:endParaRPr lang="en-US"/>
          </a:p>
          <a:p>
            <a:r>
              <a:rPr lang="pt-BR" i="1"/>
              <a:t>matheus.fonseca@mtel.inatel.br</a:t>
            </a:r>
            <a:endParaRPr lang="pt-BR" i="1">
              <a:ea typeface="Calibri"/>
              <a:cs typeface="Calibri"/>
            </a:endParaRP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F90F197-8023-858A-D615-E50C3683C52A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0C1116"/>
                </a:solidFill>
                <a:latin typeface="Aptos Display"/>
              </a:rPr>
              <a:t>Agenda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92EE0E2-A84E-7B5B-2190-A75A84887C6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2931DD-0FB6-2777-E363-ED2AE0FDEB51}"/>
              </a:ext>
            </a:extLst>
          </p:cNvPr>
          <p:cNvSpPr/>
          <p:nvPr/>
        </p:nvSpPr>
        <p:spPr>
          <a:xfrm>
            <a:off x="777240" y="1508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000000"/>
                </a:solidFill>
                <a:ea typeface="Calibri"/>
                <a:cs typeface="Calibri"/>
              </a:rPr>
              <a:t>1</a:t>
            </a:r>
            <a:endParaRPr lang="en-US" sz="1200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CD3F45-D919-E16E-FA97-BD2C5035C29A}"/>
              </a:ext>
            </a:extLst>
          </p:cNvPr>
          <p:cNvSpPr/>
          <p:nvPr/>
        </p:nvSpPr>
        <p:spPr>
          <a:xfrm>
            <a:off x="1417320" y="1477597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Motivação</a:t>
            </a:r>
            <a:endParaRPr lang="en-US" sz="17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0BB7B3D-E4A6-5E2C-31F7-95A3B9E239FD}"/>
              </a:ext>
            </a:extLst>
          </p:cNvPr>
          <p:cNvSpPr/>
          <p:nvPr/>
        </p:nvSpPr>
        <p:spPr>
          <a:xfrm>
            <a:off x="4343400" y="1465177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modelos de difusão?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E205E9-A0DD-156A-52FC-50B1EC961DEB}"/>
              </a:ext>
            </a:extLst>
          </p:cNvPr>
          <p:cNvSpPr/>
          <p:nvPr/>
        </p:nvSpPr>
        <p:spPr>
          <a:xfrm>
            <a:off x="777240" y="23317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2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1E1D5B-4468-21B8-A503-5E21C29B7550}"/>
              </a:ext>
            </a:extLst>
          </p:cNvPr>
          <p:cNvSpPr/>
          <p:nvPr/>
        </p:nvSpPr>
        <p:spPr>
          <a:xfrm>
            <a:off x="1417320" y="2259836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0029EA-B8B4-B404-6A87-67ED3586D696}"/>
              </a:ext>
            </a:extLst>
          </p:cNvPr>
          <p:cNvSpPr/>
          <p:nvPr/>
        </p:nvSpPr>
        <p:spPr>
          <a:xfrm>
            <a:off x="4343400" y="2260880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Forward, reverse e treinamento</a:t>
            </a:r>
            <a:endParaRPr lang="en-US" sz="16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170E5AB-66E6-6E5B-5E1B-A50294C2F882}"/>
              </a:ext>
            </a:extLst>
          </p:cNvPr>
          <p:cNvSpPr/>
          <p:nvPr/>
        </p:nvSpPr>
        <p:spPr>
          <a:xfrm>
            <a:off x="777240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E19A191-D207-644F-A17D-893209B864EE}"/>
              </a:ext>
            </a:extLst>
          </p:cNvPr>
          <p:cNvSpPr/>
          <p:nvPr/>
        </p:nvSpPr>
        <p:spPr>
          <a:xfrm>
            <a:off x="1417320" y="3080062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Reprodução</a:t>
            </a:r>
            <a:endParaRPr lang="en-US" sz="17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EF4F8EE-C98B-5699-7F39-648AA2C2C41B}"/>
              </a:ext>
            </a:extLst>
          </p:cNvPr>
          <p:cNvSpPr/>
          <p:nvPr/>
        </p:nvSpPr>
        <p:spPr>
          <a:xfrm>
            <a:off x="4343400" y="3076244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Notebooks, vídeos e métricas</a:t>
            </a:r>
            <a:endParaRPr lang="en-US" sz="16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F865062A-5751-F387-0BAD-FE74DC52D247}"/>
              </a:ext>
            </a:extLst>
          </p:cNvPr>
          <p:cNvSpPr/>
          <p:nvPr/>
        </p:nvSpPr>
        <p:spPr>
          <a:xfrm>
            <a:off x="777240" y="39776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4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1ABD1A8-5D6F-DE8C-0EE0-AD5B8E0F1AC5}"/>
              </a:ext>
            </a:extLst>
          </p:cNvPr>
          <p:cNvSpPr/>
          <p:nvPr/>
        </p:nvSpPr>
        <p:spPr>
          <a:xfrm>
            <a:off x="1417320" y="3940177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crítica</a:t>
            </a:r>
            <a:endParaRPr lang="en-US" sz="17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B7D8B929-D110-D5FE-2B49-D216C6AE98C9}"/>
              </a:ext>
            </a:extLst>
          </p:cNvPr>
          <p:cNvSpPr/>
          <p:nvPr/>
        </p:nvSpPr>
        <p:spPr>
          <a:xfrm>
            <a:off x="4343400" y="3907163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Limitações, DDIM e soluções</a:t>
            </a:r>
            <a:endParaRPr lang="en-US" sz="16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21864F92-6F0A-CB14-5E52-5D7E599D3CF6}"/>
              </a:ext>
            </a:extLst>
          </p:cNvPr>
          <p:cNvSpPr/>
          <p:nvPr/>
        </p:nvSpPr>
        <p:spPr>
          <a:xfrm>
            <a:off x="777240" y="4781337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5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DE4EAA46-FB83-6716-F582-FD589805C08B}"/>
              </a:ext>
            </a:extLst>
          </p:cNvPr>
          <p:cNvSpPr/>
          <p:nvPr/>
        </p:nvSpPr>
        <p:spPr>
          <a:xfrm>
            <a:off x="1417320" y="4711255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</a:t>
            </a:r>
            <a:endParaRPr lang="en-US" sz="17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EAB4290B-F2F1-121B-F881-A29C04A2A565}"/>
              </a:ext>
            </a:extLst>
          </p:cNvPr>
          <p:cNvSpPr/>
          <p:nvPr/>
        </p:nvSpPr>
        <p:spPr>
          <a:xfrm>
            <a:off x="4343400" y="4710102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Usos viáveis e conclusão</a:t>
            </a:r>
            <a:endParaRPr lang="en-US" sz="16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19825A3-DD2B-5B10-3738-2BF9528E4181}"/>
              </a:ext>
            </a:extLst>
          </p:cNvPr>
          <p:cNvSpPr/>
          <p:nvPr/>
        </p:nvSpPr>
        <p:spPr>
          <a:xfrm>
            <a:off x="777240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3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7E39198-2360-7DD1-653F-575B036222A2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9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C4919290-F346-118D-150C-CC681BC9F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FD93830B-E489-9298-1CBF-A934497799E5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de geração</a:t>
            </a:r>
            <a:endParaRPr lang="en-US" sz="2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5A01B53-A34E-BE5C-A1EA-B79B2343237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D8254B4-9B64-752C-92AD-AE94641DD078}"/>
              </a:ext>
            </a:extLst>
          </p:cNvPr>
          <p:cNvSpPr/>
          <p:nvPr/>
        </p:nvSpPr>
        <p:spPr>
          <a:xfrm>
            <a:off x="828250" y="199948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observados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9FBC347-0885-A458-B66C-DC4CF6CC6293}"/>
              </a:ext>
            </a:extLst>
          </p:cNvPr>
          <p:cNvSpPr/>
          <p:nvPr/>
        </p:nvSpPr>
        <p:spPr>
          <a:xfrm>
            <a:off x="828250" y="2328666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Amostras reais disponíveis no dataset </a:t>
            </a:r>
            <a:r>
              <a:rPr lang="en-US" sz="120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são limitados para treinamento do modelo.</a:t>
            </a:r>
            <a:endParaRPr lang="en-US" sz="1200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0EC0757-3F45-6397-459A-AAFBF77DE967}"/>
              </a:ext>
            </a:extLst>
          </p:cNvPr>
          <p:cNvSpPr/>
          <p:nvPr/>
        </p:nvSpPr>
        <p:spPr>
          <a:xfrm>
            <a:off x="4714450" y="199948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aprendida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0D6FE34-A5F0-A39B-33EF-F5BC804F0A1E}"/>
              </a:ext>
            </a:extLst>
          </p:cNvPr>
          <p:cNvSpPr/>
          <p:nvPr/>
        </p:nvSpPr>
        <p:spPr>
          <a:xfrm>
            <a:off x="4714450" y="2328666"/>
            <a:ext cx="264261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Modelo aproxima regularidades dos </a:t>
            </a:r>
            <a:r>
              <a:rPr lang="en-US" sz="120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dados gerados por conta de similaridade.</a:t>
            </a:r>
            <a:endParaRPr lang="en-US" sz="1200" dirty="0">
              <a:solidFill>
                <a:srgbClr val="0C1116"/>
              </a:solidFill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5DF43A0-A79B-00D7-6CDB-E4B415683288}"/>
              </a:ext>
            </a:extLst>
          </p:cNvPr>
          <p:cNvSpPr/>
          <p:nvPr/>
        </p:nvSpPr>
        <p:spPr>
          <a:xfrm>
            <a:off x="8554930" y="199948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Novas amostras</a:t>
            </a:r>
            <a:endParaRPr lang="en-US" sz="13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FB0403A-CE04-E2A9-2391-F2FAC1587737}"/>
              </a:ext>
            </a:extLst>
          </p:cNvPr>
          <p:cNvSpPr/>
          <p:nvPr/>
        </p:nvSpPr>
        <p:spPr>
          <a:xfrm>
            <a:off x="8554930" y="2328666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Saídas plausíveis, não cópias diretas.</a:t>
            </a:r>
            <a:endParaRPr lang="en-US" sz="1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F697F47-5F28-679E-9F7E-B4DE376D4224}"/>
              </a:ext>
            </a:extLst>
          </p:cNvPr>
          <p:cNvSpPr/>
          <p:nvPr/>
        </p:nvSpPr>
        <p:spPr>
          <a:xfrm>
            <a:off x="1117108" y="5091963"/>
            <a:ext cx="10058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Geração pode ser incondicional ou guiada por classe, texto, imagem, mapa semântico ou medidas.</a:t>
            </a:r>
            <a:endParaRPr lang="en-US" sz="21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3B90553-1FCF-6EA9-2C5C-63D58221CC1F}"/>
              </a:ext>
            </a:extLst>
          </p:cNvPr>
          <p:cNvSpPr/>
          <p:nvPr/>
        </p:nvSpPr>
        <p:spPr>
          <a:xfrm>
            <a:off x="1391428" y="5869203"/>
            <a:ext cx="9326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prática: como gerar dados novos mantendo qualidade, diversidade e controle?</a:t>
            </a:r>
            <a:endParaRPr lang="en-US" sz="17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5B35569-4C32-9E15-72FA-3B5DD1926F97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MOTIVAÇÃO</a:t>
            </a:r>
            <a:endParaRPr lang="en-US" sz="9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C3E06466-9CD4-91E3-7CE7-0D655DD304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1EAB-6D69-C804-4894-AD8C97D4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6EA7B73-7439-EECF-F984-7C9E2AC89FD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MOTIVAÇÃO</a:t>
            </a:r>
            <a:endParaRPr lang="en-US" sz="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F77372B-AF20-F362-37E5-B7D46CA9A881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surgiu o DDPM?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D5DCAD-6F03-1B9A-6069-B8AD03499D69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191A82B-6A69-325B-A2A5-DA158A01E1B6}"/>
              </a:ext>
            </a:extLst>
          </p:cNvPr>
          <p:cNvSpPr/>
          <p:nvPr/>
        </p:nvSpPr>
        <p:spPr>
          <a:xfrm>
            <a:off x="1078992" y="1724673"/>
            <a:ext cx="3329239" cy="3006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2015</a:t>
            </a:r>
            <a:endParaRPr lang="en-US" sz="1600">
              <a:latin typeface="Aptos"/>
            </a:endParaRPr>
          </a:p>
          <a:p>
            <a:r>
              <a:rPr lang="en-US" sz="1500" b="1">
                <a:solidFill>
                  <a:srgbClr val="005CB9"/>
                </a:solidFill>
                <a:latin typeface="Aptos"/>
                <a:ea typeface="+mn-lt"/>
                <a:cs typeface="+mn-lt"/>
              </a:rPr>
              <a:t>Diffusion Probabilistic Models</a:t>
            </a:r>
            <a:endParaRPr lang="en-US" sz="1500" b="1">
              <a:latin typeface="Aptos"/>
              <a:ea typeface="Calibri"/>
              <a:cs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76E4959-34FC-8238-144E-2A2B680C8A32}"/>
              </a:ext>
            </a:extLst>
          </p:cNvPr>
          <p:cNvSpPr/>
          <p:nvPr/>
        </p:nvSpPr>
        <p:spPr>
          <a:xfrm>
            <a:off x="1078992" y="2167128"/>
            <a:ext cx="2505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Surge a ideia de destruir os dados progressivamente com ruído e aprender o processo inverso.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300" dirty="0">
              <a:solidFill>
                <a:srgbClr val="0C1116"/>
              </a:solidFill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7C6A860-6529-4891-5010-3971918A229F}"/>
              </a:ext>
            </a:extLst>
          </p:cNvPr>
          <p:cNvSpPr/>
          <p:nvPr/>
        </p:nvSpPr>
        <p:spPr>
          <a:xfrm>
            <a:off x="8278038" y="1765863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2020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DDPM</a:t>
            </a:r>
            <a:endParaRPr lang="en-US" sz="15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19E2DA9-751D-C477-4ADB-641322F54E10}"/>
              </a:ext>
            </a:extLst>
          </p:cNvPr>
          <p:cNvSpPr/>
          <p:nvPr/>
        </p:nvSpPr>
        <p:spPr>
          <a:xfrm>
            <a:off x="8278038" y="2167128"/>
            <a:ext cx="2505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Ho et al. tornam a difusão competitiva em geração de imagens com uma formulação baseada em </a:t>
            </a:r>
            <a:r>
              <a:rPr lang="en-US" sz="1300" b="1">
                <a:solidFill>
                  <a:srgbClr val="0C1116"/>
                </a:solidFill>
                <a:ea typeface="+mn-lt"/>
                <a:cs typeface="+mn-lt"/>
              </a:rPr>
              <a:t>predição de ruído</a:t>
            </a:r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 e conexão com </a:t>
            </a:r>
            <a:r>
              <a:rPr lang="en-US" sz="1300" b="1">
                <a:solidFill>
                  <a:srgbClr val="0C1116"/>
                </a:solidFill>
                <a:ea typeface="+mn-lt"/>
                <a:cs typeface="+mn-lt"/>
              </a:rPr>
              <a:t>score matching</a:t>
            </a:r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C5838106-EB0C-6067-1B0F-D2591086050A}"/>
              </a:ext>
            </a:extLst>
          </p:cNvPr>
          <p:cNvSpPr/>
          <p:nvPr/>
        </p:nvSpPr>
        <p:spPr>
          <a:xfrm>
            <a:off x="4757599" y="1879133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rgbClr val="005CB9"/>
                </a:solidFill>
                <a:latin typeface="Aptos"/>
                <a:ea typeface="+mn-lt"/>
                <a:cs typeface="+mn-lt"/>
              </a:rPr>
              <a:t>Desafio</a:t>
            </a:r>
            <a:endParaRPr 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06C6EC46-7FC4-1395-7FB1-1EB9CB88A490}"/>
              </a:ext>
            </a:extLst>
          </p:cNvPr>
          <p:cNvSpPr/>
          <p:nvPr/>
        </p:nvSpPr>
        <p:spPr>
          <a:xfrm>
            <a:off x="4757599" y="2177426"/>
            <a:ext cx="2505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A abordagem ainda não demonstrava geração de imagens com qualidade competitiva.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300" dirty="0">
              <a:solidFill>
                <a:srgbClr val="0C1116"/>
              </a:solidFill>
              <a:latin typeface="Calibri"/>
              <a:ea typeface="Calibri"/>
              <a:cs typeface="Calibri"/>
            </a:endParaRPr>
          </a:p>
          <a:p>
            <a:endParaRPr lang="en-US" sz="1300" dirty="0">
              <a:solidFill>
                <a:srgbClr val="0C1116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96E7B7F-86D3-E1CD-3B0C-89CA5C20C916}"/>
              </a:ext>
            </a:extLst>
          </p:cNvPr>
          <p:cNvSpPr/>
          <p:nvPr/>
        </p:nvSpPr>
        <p:spPr>
          <a:xfrm>
            <a:off x="765707" y="4603304"/>
            <a:ext cx="10515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>
                <a:solidFill>
                  <a:srgbClr val="0C1116"/>
                </a:solidFill>
                <a:ea typeface="+mn-lt"/>
                <a:cs typeface="+mn-lt"/>
              </a:rPr>
              <a:t>O DDPM não surgiu para substituir GANs, mas para tornar modelos de difusão competitivos em qualidade com um treinamento simples e estável.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2CA4C2D-1E15-731B-059B-58CB9E1CED86}"/>
              </a:ext>
            </a:extLst>
          </p:cNvPr>
          <p:cNvSpPr/>
          <p:nvPr/>
        </p:nvSpPr>
        <p:spPr>
          <a:xfrm>
            <a:off x="1085747" y="5517704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Treino não adversarial  •  predição de ruído  •  formulação probabilística</a:t>
            </a:r>
            <a:endParaRPr lang="en-US" sz="1600">
              <a:latin typeface="Aptos"/>
            </a:endParaRPr>
          </a:p>
        </p:txBody>
      </p:sp>
      <p:pic>
        <p:nvPicPr>
          <p:cNvPr id="10" name="Picture 2" descr="Logo">
            <a:extLst>
              <a:ext uri="{FF2B5EF4-FFF2-40B4-BE49-F238E27FC236}">
                <a16:creationId xmlns:a16="http://schemas.microsoft.com/office/drawing/2014/main" id="{4FD3FF9F-5270-EC3D-9BCC-3807B5E373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14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078A9-7D51-3895-E149-E1B48E22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25C302-98B9-8414-4EB5-701FE3208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9" y="0"/>
            <a:ext cx="1028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3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A97660-ADC7-74B8-D8DA-EB301B0DDFDF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37C08D-AE4A-C743-6DAE-5490218F3107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Forward: a imagem perde informação</a:t>
            </a:r>
            <a:endParaRPr lang="en-US" sz="2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7D0D126-0BBC-93D1-6EBD-50BC22AA2229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99DB918-9685-4DF5-B475-493DDBA8D49E}"/>
              </a:ext>
            </a:extLst>
          </p:cNvPr>
          <p:cNvSpPr/>
          <p:nvPr/>
        </p:nvSpPr>
        <p:spPr>
          <a:xfrm>
            <a:off x="8394192" y="170078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do vídeo</a:t>
            </a:r>
            <a:endParaRPr lang="en-US" sz="14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BEF5E0A-FDCE-D579-8696-9CCA2E077A59}"/>
              </a:ext>
            </a:extLst>
          </p:cNvPr>
          <p:cNvSpPr/>
          <p:nvPr/>
        </p:nvSpPr>
        <p:spPr>
          <a:xfrm>
            <a:off x="8394192" y="2029968"/>
            <a:ext cx="241401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t → menos sinal → mais ruído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fórmula produz os estados intermediários do processo.</a:t>
            </a:r>
            <a:endParaRPr lang="en-US" sz="13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B86922E-13D8-FB8F-AD48-21110A04B2C6}"/>
              </a:ext>
            </a:extLst>
          </p:cNvPr>
          <p:cNvSpPr/>
          <p:nvPr/>
        </p:nvSpPr>
        <p:spPr>
          <a:xfrm>
            <a:off x="8394192" y="384962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Ponto-chave</a:t>
            </a:r>
            <a:endParaRPr lang="en-US" sz="14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68614BBA-D40C-A5B1-3CEE-6DEE870699DF}"/>
              </a:ext>
            </a:extLst>
          </p:cNvPr>
          <p:cNvSpPr/>
          <p:nvPr/>
        </p:nvSpPr>
        <p:spPr>
          <a:xfrm>
            <a:off x="8394192" y="4178808"/>
            <a:ext cx="24140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 forward é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fixo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conhecido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. Ele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não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aprende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nada,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apenas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cria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versões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ruidosas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do dado.</a:t>
            </a:r>
            <a:endParaRPr lang="en-US" sz="1300" dirty="0">
              <a:latin typeface="Aptos"/>
            </a:endParaRPr>
          </a:p>
        </p:txBody>
      </p:sp>
      <p:pic>
        <p:nvPicPr>
          <p:cNvPr id="10" name="ForwardDiffusionScene">
            <a:hlinkClick r:id="" action="ppaction://media"/>
            <a:extLst>
              <a:ext uri="{FF2B5EF4-FFF2-40B4-BE49-F238E27FC236}">
                <a16:creationId xmlns:a16="http://schemas.microsoft.com/office/drawing/2014/main" id="{9BDB675B-56F1-6DB2-C852-05370B18F6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8918" y="1698811"/>
            <a:ext cx="7646895" cy="4294095"/>
          </a:xfrm>
          <a:prstGeom prst="rect">
            <a:avLst/>
          </a:prstGeom>
        </p:spPr>
      </p:pic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772A009E-7B85-C5EF-F899-E711665064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0855BC4-C2F2-AB05-0346-E79C940DB0F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6ACD0C0-E0A6-1F74-DC8D-E131B10D071D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Backward: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aprendendo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a remover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ruído</a:t>
            </a:r>
            <a:endParaRPr lang="en-US" sz="2400" dirty="0" err="1">
              <a:latin typeface="Aptos Display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C3A6274-C695-928D-D49D-A49DDEE135B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37E392-9233-130A-8533-97EAB31ABF0A}"/>
              </a:ext>
            </a:extLst>
          </p:cNvPr>
          <p:cNvSpPr/>
          <p:nvPr/>
        </p:nvSpPr>
        <p:spPr>
          <a:xfrm>
            <a:off x="8364695" y="170422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reversa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27C9705-BB1F-81BD-7C43-E7883FD09D9E}"/>
              </a:ext>
            </a:extLst>
          </p:cNvPr>
          <p:cNvSpPr/>
          <p:nvPr/>
        </p:nvSpPr>
        <p:spPr>
          <a:xfrm>
            <a:off x="8364695" y="2033410"/>
            <a:ext cx="33284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pθ(xₜ₋₁ | xₜ) = N(μθ(xₜ,t), σₜ²I)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417D19F-0091-FC70-F3EC-340E73AC260F}"/>
              </a:ext>
            </a:extLst>
          </p:cNvPr>
          <p:cNvSpPr/>
          <p:nvPr/>
        </p:nvSpPr>
        <p:spPr>
          <a:xfrm>
            <a:off x="8364695" y="312154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 rede estima?</a:t>
            </a:r>
            <a:endParaRPr lang="en-US" sz="1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477C36B-0E18-78EF-0D39-3FC4BC4F208C}"/>
              </a:ext>
            </a:extLst>
          </p:cNvPr>
          <p:cNvSpPr/>
          <p:nvPr/>
        </p:nvSpPr>
        <p:spPr>
          <a:xfrm>
            <a:off x="8364695" y="3450730"/>
            <a:ext cx="33284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εθ(xₜ,t): o ruído presente no estado atual.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36A5A00-B543-DAB7-C8CD-BF26E713E8AF}"/>
              </a:ext>
            </a:extLst>
          </p:cNvPr>
          <p:cNvSpPr/>
          <p:nvPr/>
        </p:nvSpPr>
        <p:spPr>
          <a:xfrm>
            <a:off x="840658" y="6264787"/>
            <a:ext cx="10515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 rede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não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desenha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tudo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uma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vez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: resolve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repetidamente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um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pequeno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denoising.</a:t>
            </a:r>
            <a:endParaRPr lang="en-US" sz="1800" dirty="0">
              <a:latin typeface="Aptos"/>
            </a:endParaRPr>
          </a:p>
        </p:txBody>
      </p:sp>
      <p:pic>
        <p:nvPicPr>
          <p:cNvPr id="13" name="BackwardDiffusionScene">
            <a:hlinkClick r:id="" action="ppaction://media"/>
            <a:extLst>
              <a:ext uri="{FF2B5EF4-FFF2-40B4-BE49-F238E27FC236}">
                <a16:creationId xmlns:a16="http://schemas.microsoft.com/office/drawing/2014/main" id="{62AA1B21-26D3-2394-3140-FFFC32A7F2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0942" y="1677219"/>
            <a:ext cx="7647858" cy="4273756"/>
          </a:xfrm>
          <a:prstGeom prst="rect">
            <a:avLst/>
          </a:prstGeom>
        </p:spPr>
      </p:pic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344782A4-BD0F-3F76-431D-6136CB448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70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FDCF-C221-564F-D1C4-38DA263A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30FE2D2C-0DE5-6510-D364-BD88084B47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25CB5B-E075-0348-F017-AECD15E0D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763" y="2185988"/>
            <a:ext cx="6848475" cy="2486025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6D62B250-596E-AEFA-47A7-6363E570B84E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A374F5A-3F3E-275F-33F9-A6B1303A3038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significam t, T e os passos?</a:t>
            </a:r>
            <a:endParaRPr lang="en-US" sz="2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354D0493-6308-9892-D1C5-A797214EA08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34">
            <a:extLst>
              <a:ext uri="{FF2B5EF4-FFF2-40B4-BE49-F238E27FC236}">
                <a16:creationId xmlns:a16="http://schemas.microsoft.com/office/drawing/2014/main" id="{8759FD2B-3C4E-27F7-F27F-BB532C3218CD}"/>
              </a:ext>
            </a:extLst>
          </p:cNvPr>
          <p:cNvSpPr/>
          <p:nvPr/>
        </p:nvSpPr>
        <p:spPr>
          <a:xfrm>
            <a:off x="1006302" y="5410662"/>
            <a:ext cx="10058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Mais S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geralmente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reduz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erro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discretização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, mas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aumenta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latência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e o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ganho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pode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saturar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8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7384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0B4F7-15B4-2451-DBC0-02BF293E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244A28B-796A-2D76-8E6F-50D117AC5957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19B5BAB-A079-92D7-F5F4-D3D6DCCBF00E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DDPM é treinado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622930D-2967-D6F2-9A8A-AB0D0A34B4E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30">
            <a:extLst>
              <a:ext uri="{FF2B5EF4-FFF2-40B4-BE49-F238E27FC236}">
                <a16:creationId xmlns:a16="http://schemas.microsoft.com/office/drawing/2014/main" id="{3E23E0FD-4D38-5302-057C-624E682E9E8E}"/>
              </a:ext>
            </a:extLst>
          </p:cNvPr>
          <p:cNvSpPr/>
          <p:nvPr/>
        </p:nvSpPr>
        <p:spPr>
          <a:xfrm>
            <a:off x="1157438" y="5558589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treino, não é necessário executar todos os T passos por imagem.</a:t>
            </a:r>
            <a:endParaRPr lang="en-US" sz="1700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B24142F8-6D84-E2A2-6DA0-B5C45E4990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9C9323-3F89-3E83-E524-558CFC795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396" y="1112921"/>
            <a:ext cx="9017207" cy="507331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61219DA-B791-74D3-07EF-9DCF1D6828A7}"/>
              </a:ext>
            </a:extLst>
          </p:cNvPr>
          <p:cNvSpPr/>
          <p:nvPr/>
        </p:nvSpPr>
        <p:spPr>
          <a:xfrm>
            <a:off x="1183105" y="4762500"/>
            <a:ext cx="9354552" cy="792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8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7D18-77B3-3949-4078-1AE072EB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5373E2C-B82E-A48A-E2DD-56EA4F89CD18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5D20778-E788-447B-D657-9D3375761FE7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0C1116"/>
                </a:solidFill>
                <a:latin typeface="Aptos Display"/>
              </a:rPr>
              <a:t>DDPM</a:t>
            </a:r>
            <a:endParaRPr lang="en-US" sz="2400" b="1" dirty="0">
              <a:solidFill>
                <a:srgbClr val="0C1116"/>
              </a:solidFill>
              <a:latin typeface="Aptos Display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7FF900-3CEB-7722-EB6D-99183A67313A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E5DB1E48-FE60-B8D8-06E0-F783AC9D6D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ompleteDDPMScene">
            <a:hlinkClick r:id="" action="ppaction://media"/>
            <a:extLst>
              <a:ext uri="{FF2B5EF4-FFF2-40B4-BE49-F238E27FC236}">
                <a16:creationId xmlns:a16="http://schemas.microsoft.com/office/drawing/2014/main" id="{BBEC366B-41F7-666D-81D6-34E0E22BB6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21042" y="1377616"/>
            <a:ext cx="8359943" cy="47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6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E2D5A2-FDEE-0A50-9FF4-E0EC839443C3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APLICAÇÕES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DEDD31-03AE-228C-247C-762C2C2BE08B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que modelos de difusão servem?</a:t>
            </a:r>
            <a:endParaRPr lang="en-US" sz="2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1A2C3DE-5B35-4871-91AF-3A566CCAFBC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F1606C8-FF98-4624-0F6B-3EA640F8B82D}"/>
              </a:ext>
            </a:extLst>
          </p:cNvPr>
          <p:cNvSpPr/>
          <p:nvPr/>
        </p:nvSpPr>
        <p:spPr>
          <a:xfrm>
            <a:off x="987552" y="165506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</a:t>
            </a:r>
            <a:endParaRPr lang="en-US" sz="1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77AAD91-3D78-9E03-7CBA-280E19D2DC4A}"/>
              </a:ext>
            </a:extLst>
          </p:cNvPr>
          <p:cNvSpPr/>
          <p:nvPr/>
        </p:nvSpPr>
        <p:spPr>
          <a:xfrm>
            <a:off x="987552" y="198424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texto→imagem, classe→imagem, imagem→imagem</a:t>
            </a:r>
            <a:endParaRPr lang="en-US" sz="12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729AC74-B2DF-B148-4BD7-E3D1DEC4B55B}"/>
              </a:ext>
            </a:extLst>
          </p:cNvPr>
          <p:cNvSpPr/>
          <p:nvPr/>
        </p:nvSpPr>
        <p:spPr>
          <a:xfrm>
            <a:off x="4690872" y="165506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Restauração</a:t>
            </a:r>
            <a:endParaRPr lang="en-US" sz="14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D6F3F37-A025-2D14-04FD-3B4B85DD318D}"/>
              </a:ext>
            </a:extLst>
          </p:cNvPr>
          <p:cNvSpPr/>
          <p:nvPr/>
        </p:nvSpPr>
        <p:spPr>
          <a:xfrm>
            <a:off x="4690872" y="198424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super-resolução, inpainting, deblurring</a:t>
            </a:r>
            <a:endParaRPr lang="en-US" sz="125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D4CD7C4-7A37-34C7-F852-5A127BC4F7F4}"/>
              </a:ext>
            </a:extLst>
          </p:cNvPr>
          <p:cNvSpPr/>
          <p:nvPr/>
        </p:nvSpPr>
        <p:spPr>
          <a:xfrm>
            <a:off x="8394192" y="165506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sintéticos</a:t>
            </a:r>
            <a:endParaRPr lang="en-US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78929E80-1288-4837-986D-74B1A943957C}"/>
              </a:ext>
            </a:extLst>
          </p:cNvPr>
          <p:cNvSpPr/>
          <p:nvPr/>
        </p:nvSpPr>
        <p:spPr>
          <a:xfrm>
            <a:off x="8394192" y="198424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aumento de dados e conjuntos para tarefas posteriores</a:t>
            </a:r>
            <a:endParaRPr lang="en-US" sz="125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8DFE2AAB-6B38-2212-BACF-13A921F618FE}"/>
              </a:ext>
            </a:extLst>
          </p:cNvPr>
          <p:cNvSpPr/>
          <p:nvPr/>
        </p:nvSpPr>
        <p:spPr>
          <a:xfrm>
            <a:off x="987552" y="334670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</a:t>
            </a:r>
            <a:endParaRPr lang="en-US" sz="14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434280C5-2177-ACE9-B60C-31004B99C713}"/>
              </a:ext>
            </a:extLst>
          </p:cNvPr>
          <p:cNvSpPr/>
          <p:nvPr/>
        </p:nvSpPr>
        <p:spPr>
          <a:xfrm>
            <a:off x="987552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vídeo, áudio, linguagem e séries temporais</a:t>
            </a:r>
            <a:endParaRPr lang="en-US" sz="1250" dirty="0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A22214BD-FADC-D133-E750-D968F27DC3EE}"/>
              </a:ext>
            </a:extLst>
          </p:cNvPr>
          <p:cNvSpPr/>
          <p:nvPr/>
        </p:nvSpPr>
        <p:spPr>
          <a:xfrm>
            <a:off x="4690872" y="334670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Ciência</a:t>
            </a:r>
            <a:endParaRPr lang="en-US" sz="140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8E48D8C2-484C-0AC0-69BF-2797C7FF5118}"/>
              </a:ext>
            </a:extLst>
          </p:cNvPr>
          <p:cNvSpPr/>
          <p:nvPr/>
        </p:nvSpPr>
        <p:spPr>
          <a:xfrm>
            <a:off x="4690872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moléculas, proteínas, estruturas 3D</a:t>
            </a:r>
            <a:endParaRPr lang="en-US" sz="125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6C9A516F-02D8-A005-9E2B-7E40107C5D02}"/>
              </a:ext>
            </a:extLst>
          </p:cNvPr>
          <p:cNvSpPr/>
          <p:nvPr/>
        </p:nvSpPr>
        <p:spPr>
          <a:xfrm>
            <a:off x="8394192" y="334670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Saúde</a:t>
            </a:r>
            <a:endParaRPr lang="en-US" sz="1400" dirty="0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751B0D15-424E-262B-77BB-891CFCA0772E}"/>
              </a:ext>
            </a:extLst>
          </p:cNvPr>
          <p:cNvSpPr/>
          <p:nvPr/>
        </p:nvSpPr>
        <p:spPr>
          <a:xfrm>
            <a:off x="8394192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reconstrução de MRI e problemas inversos</a:t>
            </a:r>
            <a:endParaRPr lang="en-US" sz="1250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267F537E-439C-4F66-7E5D-9A0E0BB94E73}"/>
              </a:ext>
            </a:extLst>
          </p:cNvPr>
          <p:cNvSpPr/>
          <p:nvPr/>
        </p:nvSpPr>
        <p:spPr>
          <a:xfrm>
            <a:off x="914400" y="5303520"/>
            <a:ext cx="10332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ideia — transportar uma distribuição simples de ruído para dados complexos — se adapta a diferentes modalidades.</a:t>
            </a:r>
            <a:endParaRPr lang="en-US" sz="1700" dirty="0"/>
          </a:p>
        </p:txBody>
      </p:sp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E60BE545-B0EC-6155-BC2A-325ED7D916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097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3F50B0A-B7EF-0899-C14D-FCEEC135B4D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APLICAÇÕES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5A9C7AE-9430-3C70-3161-AFE569EF7C11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prático: geração de dados sintéticos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826580F-3CC4-BA1D-F1D3-8C33F91B74D0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96E3724-B3D8-FBAE-2FA7-97ECEFB31626}"/>
              </a:ext>
            </a:extLst>
          </p:cNvPr>
          <p:cNvSpPr/>
          <p:nvPr/>
        </p:nvSpPr>
        <p:spPr>
          <a:xfrm>
            <a:off x="2655418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127138-0B4B-7A6E-A721-5618752C178E}"/>
              </a:ext>
            </a:extLst>
          </p:cNvPr>
          <p:cNvSpPr/>
          <p:nvPr/>
        </p:nvSpPr>
        <p:spPr>
          <a:xfrm>
            <a:off x="4798771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FFA71BD-8266-0A37-BF79-3E332ADD7E5C}"/>
              </a:ext>
            </a:extLst>
          </p:cNvPr>
          <p:cNvSpPr/>
          <p:nvPr/>
        </p:nvSpPr>
        <p:spPr>
          <a:xfrm>
            <a:off x="6942125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9FB953F-3DB7-83C8-43BD-8A878297A5B4}"/>
              </a:ext>
            </a:extLst>
          </p:cNvPr>
          <p:cNvSpPr/>
          <p:nvPr/>
        </p:nvSpPr>
        <p:spPr>
          <a:xfrm>
            <a:off x="9085478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42EF9FD-EA3B-0CBE-7B97-661F7E30134B}"/>
              </a:ext>
            </a:extLst>
          </p:cNvPr>
          <p:cNvSpPr/>
          <p:nvPr/>
        </p:nvSpPr>
        <p:spPr>
          <a:xfrm>
            <a:off x="877824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05CB9"/>
                </a:solidFill>
              </a:rPr>
              <a:t>Dataset pequeno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5CB9"/>
                </a:solidFill>
              </a:rPr>
              <a:t>ou desbalanceado</a:t>
            </a:r>
            <a:endParaRPr lang="en-US" sz="12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B57C2F8-65D5-BB5C-5861-F7C5037CD901}"/>
              </a:ext>
            </a:extLst>
          </p:cNvPr>
          <p:cNvSpPr/>
          <p:nvPr/>
        </p:nvSpPr>
        <p:spPr>
          <a:xfrm>
            <a:off x="3021178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DDPM treinado</a:t>
            </a:r>
            <a:endParaRPr lang="en-US" sz="12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502511B-6B2F-BDD4-409F-E5C4AC85FFF5}"/>
              </a:ext>
            </a:extLst>
          </p:cNvPr>
          <p:cNvSpPr/>
          <p:nvPr/>
        </p:nvSpPr>
        <p:spPr>
          <a:xfrm>
            <a:off x="5164531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Dados sintéticos</a:t>
            </a:r>
            <a:endParaRPr lang="en-US" sz="12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3F948B16-7CE3-D713-CAB0-AD8BD881A27F}"/>
              </a:ext>
            </a:extLst>
          </p:cNvPr>
          <p:cNvSpPr/>
          <p:nvPr/>
        </p:nvSpPr>
        <p:spPr>
          <a:xfrm>
            <a:off x="7307885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Dataset ampliado</a:t>
            </a:r>
            <a:endParaRPr lang="en-US" sz="12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0275EEE3-7992-97E4-7F08-E1DC3CC20657}"/>
              </a:ext>
            </a:extLst>
          </p:cNvPr>
          <p:cNvSpPr/>
          <p:nvPr/>
        </p:nvSpPr>
        <p:spPr>
          <a:xfrm>
            <a:off x="9451238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Modelo posterior</a:t>
            </a:r>
            <a:endParaRPr lang="en-US" sz="1200" dirty="0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2CF49FD8-CC6A-1C07-5572-D433DD9D08AB}"/>
              </a:ext>
            </a:extLst>
          </p:cNvPr>
          <p:cNvSpPr/>
          <p:nvPr/>
        </p:nvSpPr>
        <p:spPr>
          <a:xfrm>
            <a:off x="1170432" y="339242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Cenários úteis</a:t>
            </a:r>
            <a:endParaRPr lang="en-US" sz="140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24FF30AD-02A8-B484-EE09-3DB8E322CF56}"/>
              </a:ext>
            </a:extLst>
          </p:cNvPr>
          <p:cNvSpPr/>
          <p:nvPr/>
        </p:nvSpPr>
        <p:spPr>
          <a:xfrm>
            <a:off x="1170432" y="3721608"/>
            <a:ext cx="44256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raras • imagens médicas • defeitos industriais • condições adversas</a:t>
            </a:r>
            <a:endParaRPr lang="en-US" sz="14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79E71531-E80A-81AC-C27A-AA834A686190}"/>
              </a:ext>
            </a:extLst>
          </p:cNvPr>
          <p:cNvSpPr/>
          <p:nvPr/>
        </p:nvSpPr>
        <p:spPr>
          <a:xfrm>
            <a:off x="6565392" y="339242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Cuidados</a:t>
            </a:r>
            <a:endParaRPr lang="en-US" sz="1400" dirty="0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C80D9A0C-F4BF-5778-B28B-37A14CF6CFC0}"/>
              </a:ext>
            </a:extLst>
          </p:cNvPr>
          <p:cNvSpPr/>
          <p:nvPr/>
        </p:nvSpPr>
        <p:spPr>
          <a:xfrm>
            <a:off x="6565392" y="3721608"/>
            <a:ext cx="44256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sintéticos podem amplificar vieses, memorizar padrões e distorcer a distribuição real</a:t>
            </a:r>
            <a:endParaRPr lang="en-US" sz="1400" dirty="0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D22F43A4-11D1-B29E-E82D-1E3F96A752C2}"/>
              </a:ext>
            </a:extLst>
          </p:cNvPr>
          <p:cNvSpPr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não é “a imagem parece bonita?”, mas “ela melhora uma tarefa real sem introduzir risco?”.</a:t>
            </a:r>
            <a:endParaRPr lang="en-US" sz="1900" dirty="0"/>
          </a:p>
        </p:txBody>
      </p:sp>
      <p:pic>
        <p:nvPicPr>
          <p:cNvPr id="22" name="Picture 21" descr="Logo">
            <a:extLst>
              <a:ext uri="{FF2B5EF4-FFF2-40B4-BE49-F238E27FC236}">
                <a16:creationId xmlns:a16="http://schemas.microsoft.com/office/drawing/2014/main" id="{50FD7C68-6CFA-B3BB-6C10-CCA67C6F4F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77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999E6193-4ACE-5300-7ECE-96013CA65948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3BBB515-08EB-8D92-F37F-E0F30799FF84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modelo realmente aprendeu?</a:t>
            </a:r>
            <a:endParaRPr lang="en-US" sz="2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15FB909-638B-7B55-190E-8AEBBA398E53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>
            <a:extLst>
              <a:ext uri="{FF2B5EF4-FFF2-40B4-BE49-F238E27FC236}">
                <a16:creationId xmlns:a16="http://schemas.microsoft.com/office/drawing/2014/main" id="{619E5B32-BDA7-3F79-7C55-A937ADF34B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731520" y="1463040"/>
            <a:ext cx="7315200" cy="4251960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A4389625-8B3F-C655-2FC0-6B0AFE793E18}"/>
              </a:ext>
            </a:extLst>
          </p:cNvPr>
          <p:cNvSpPr/>
          <p:nvPr/>
        </p:nvSpPr>
        <p:spPr>
          <a:xfrm>
            <a:off x="8622792" y="165506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 de validação</a:t>
            </a:r>
            <a:endParaRPr lang="en-US" sz="13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27B680E-432A-2A0B-E778-22C9289C73B9}"/>
              </a:ext>
            </a:extLst>
          </p:cNvPr>
          <p:cNvSpPr/>
          <p:nvPr/>
        </p:nvSpPr>
        <p:spPr>
          <a:xfrm>
            <a:off x="8622792" y="1984248"/>
            <a:ext cx="2276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0,04963 → 0,03229</a:t>
            </a:r>
            <a:endParaRPr lang="en-US" sz="18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C7B042E-015F-8EBD-2FC2-8A99F0067C77}"/>
              </a:ext>
            </a:extLst>
          </p:cNvPr>
          <p:cNvSpPr/>
          <p:nvPr/>
        </p:nvSpPr>
        <p:spPr>
          <a:xfrm>
            <a:off x="8622792" y="284378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Redução relativa</a:t>
            </a:r>
            <a:endParaRPr lang="en-US" sz="13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35127A8-2A44-F939-54A1-ED7CF475AF9D}"/>
              </a:ext>
            </a:extLst>
          </p:cNvPr>
          <p:cNvSpPr/>
          <p:nvPr/>
        </p:nvSpPr>
        <p:spPr>
          <a:xfrm>
            <a:off x="8622792" y="3172968"/>
            <a:ext cx="2276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34,93% após o ajuste</a:t>
            </a:r>
            <a:endParaRPr lang="en-US" sz="16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ADD874C1-F410-9EE3-9E9C-3628D063B6DE}"/>
              </a:ext>
            </a:extLst>
          </p:cNvPr>
          <p:cNvSpPr/>
          <p:nvPr/>
        </p:nvSpPr>
        <p:spPr>
          <a:xfrm>
            <a:off x="8622792" y="403250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3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520F7600-138D-E664-8E29-AAF7F9FBD33D}"/>
              </a:ext>
            </a:extLst>
          </p:cNvPr>
          <p:cNvSpPr/>
          <p:nvPr/>
        </p:nvSpPr>
        <p:spPr>
          <a:xfrm>
            <a:off x="8622792" y="4361688"/>
            <a:ext cx="22768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 de ruído não mede sozinha realismo ou diversidade.</a:t>
            </a:r>
            <a:endParaRPr lang="en-US" sz="1250" dirty="0"/>
          </a:p>
        </p:txBody>
      </p:sp>
      <p:pic>
        <p:nvPicPr>
          <p:cNvPr id="25" name="Picture 24" descr="Logo">
            <a:extLst>
              <a:ext uri="{FF2B5EF4-FFF2-40B4-BE49-F238E27FC236}">
                <a16:creationId xmlns:a16="http://schemas.microsoft.com/office/drawing/2014/main" id="{F6897552-9EF1-B1CB-3E57-120A06184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315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4A414CC-76A2-8AC4-7E4B-67BECA4125E7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CRÍTICA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7F20F43-1FC1-C5BE-D4AD-C1692942EA06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do DDPM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979E716-0459-CFDE-D821-492CAA224670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CA4DFF-EBCC-1D79-1ADD-05A89A9F3EC4}"/>
              </a:ext>
            </a:extLst>
          </p:cNvPr>
          <p:cNvSpPr/>
          <p:nvPr/>
        </p:nvSpPr>
        <p:spPr>
          <a:xfrm>
            <a:off x="960120" y="1618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1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0AE0AFC-6ABE-5CCF-8CBE-BDC0B8C66193}"/>
              </a:ext>
            </a:extLst>
          </p:cNvPr>
          <p:cNvSpPr/>
          <p:nvPr/>
        </p:nvSpPr>
        <p:spPr>
          <a:xfrm>
            <a:off x="1415636" y="159193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Latência</a:t>
            </a:r>
            <a:endParaRPr lang="en-US" sz="15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B938D92-6B62-FC42-2162-8263D6639328}"/>
              </a:ext>
            </a:extLst>
          </p:cNvPr>
          <p:cNvSpPr/>
          <p:nvPr/>
        </p:nvSpPr>
        <p:spPr>
          <a:xfrm>
            <a:off x="1415636" y="192112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Centenas ou milhares de avaliações sequenciais.</a:t>
            </a:r>
            <a:endParaRPr lang="en-US" sz="13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05EB1A8-2792-0A0B-4761-94C7E53AB8D8}"/>
              </a:ext>
            </a:extLst>
          </p:cNvPr>
          <p:cNvSpPr/>
          <p:nvPr/>
        </p:nvSpPr>
        <p:spPr>
          <a:xfrm>
            <a:off x="6126480" y="1618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2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EDA4D178-2AA6-8D59-B9E2-47EC56EAFEB6}"/>
              </a:ext>
            </a:extLst>
          </p:cNvPr>
          <p:cNvSpPr/>
          <p:nvPr/>
        </p:nvSpPr>
        <p:spPr>
          <a:xfrm>
            <a:off x="6602048" y="159193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</a:t>
            </a:r>
            <a:endParaRPr lang="en-US" sz="15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F4C8EEE-DAFD-CE10-1A02-6E5B4A8F4625}"/>
              </a:ext>
            </a:extLst>
          </p:cNvPr>
          <p:cNvSpPr/>
          <p:nvPr/>
        </p:nvSpPr>
        <p:spPr>
          <a:xfrm>
            <a:off x="6602048" y="192112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Memória, energia e treinamento de redes grandes.</a:t>
            </a:r>
            <a:endParaRPr lang="en-US" sz="13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6C9C0F67-ABA9-F271-23BE-A80C3CDE1A35}"/>
              </a:ext>
            </a:extLst>
          </p:cNvPr>
          <p:cNvSpPr/>
          <p:nvPr/>
        </p:nvSpPr>
        <p:spPr>
          <a:xfrm>
            <a:off x="960120" y="3493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3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0260AE76-36FD-9B2F-EEEB-1A307B1EC8D6}"/>
              </a:ext>
            </a:extLst>
          </p:cNvPr>
          <p:cNvSpPr/>
          <p:nvPr/>
        </p:nvSpPr>
        <p:spPr>
          <a:xfrm>
            <a:off x="1415636" y="346645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1500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26875350-55A3-D4BF-5F9A-6F41248798D4}"/>
              </a:ext>
            </a:extLst>
          </p:cNvPr>
          <p:cNvSpPr/>
          <p:nvPr/>
        </p:nvSpPr>
        <p:spPr>
          <a:xfrm>
            <a:off x="1415636" y="379564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bonita não garante cobertura ou diversidade.</a:t>
            </a:r>
            <a:endParaRPr lang="en-US" sz="1300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FDF9FB3E-4876-BDCD-6B0D-70F6E4F1F59E}"/>
              </a:ext>
            </a:extLst>
          </p:cNvPr>
          <p:cNvSpPr/>
          <p:nvPr/>
        </p:nvSpPr>
        <p:spPr>
          <a:xfrm>
            <a:off x="6126480" y="3493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4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D6757F90-5F3C-54F3-EEB9-3CE382FFA6E0}"/>
              </a:ext>
            </a:extLst>
          </p:cNvPr>
          <p:cNvSpPr/>
          <p:nvPr/>
        </p:nvSpPr>
        <p:spPr>
          <a:xfrm>
            <a:off x="6602048" y="346645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e segurança</a:t>
            </a:r>
            <a:endParaRPr lang="en-US" sz="15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36041781-7B75-54EA-012D-4B59316C5FE9}"/>
              </a:ext>
            </a:extLst>
          </p:cNvPr>
          <p:cNvSpPr/>
          <p:nvPr/>
        </p:nvSpPr>
        <p:spPr>
          <a:xfrm>
            <a:off x="6602048" y="379564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Vieses, memorização, licenças e conteúdo indevido.</a:t>
            </a:r>
            <a:endParaRPr lang="en-US" sz="1300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D3E58DCA-1F40-005A-11C2-40096DCE5D19}"/>
              </a:ext>
            </a:extLst>
          </p:cNvPr>
          <p:cNvSpPr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principal limitação operacional do DDPM original é a amostragem iterativa.</a:t>
            </a:r>
            <a:endParaRPr lang="en-US" sz="1800" dirty="0"/>
          </a:p>
        </p:txBody>
      </p:sp>
      <p:pic>
        <p:nvPicPr>
          <p:cNvPr id="21" name="Picture 20" descr="Logo">
            <a:extLst>
              <a:ext uri="{FF2B5EF4-FFF2-40B4-BE49-F238E27FC236}">
                <a16:creationId xmlns:a16="http://schemas.microsoft.com/office/drawing/2014/main" id="{C3DD903F-9414-AD1E-B1F1-E0E7867F3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04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B63C05F-2853-CCB2-AD70-3427E73C721C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SOLUÇÕES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A33A371-D244-985F-BECF-ADFA87D83333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pesquisa ataca as limitações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73AC9FC-DCF1-323C-9EEA-29034DA71B8A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132B3A-6688-ED9E-1FE8-8D180242A552}"/>
              </a:ext>
            </a:extLst>
          </p:cNvPr>
          <p:cNvSpPr/>
          <p:nvPr/>
        </p:nvSpPr>
        <p:spPr>
          <a:xfrm>
            <a:off x="941832" y="147218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Muitos </a:t>
            </a:r>
            <a:r>
              <a:rPr lang="en-US" sz="1200" b="1" dirty="0" err="1">
                <a:solidFill>
                  <a:srgbClr val="FFFFFF"/>
                </a:solidFill>
              </a:rPr>
              <a:t>passos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3E9235-224B-FFC8-EBD6-C6FA21D12788}"/>
              </a:ext>
            </a:extLst>
          </p:cNvPr>
          <p:cNvSpPr/>
          <p:nvPr/>
        </p:nvSpPr>
        <p:spPr>
          <a:xfrm>
            <a:off x="3246120" y="147218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DDIM - solvers ODE/SDE 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Distilação</a:t>
            </a:r>
            <a:endParaRPr lang="en-US" sz="1600" dirty="0" err="1">
              <a:latin typeface="Aptos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077C0C5-ED2D-4F95-5B67-EDA61A49C144}"/>
              </a:ext>
            </a:extLst>
          </p:cNvPr>
          <p:cNvSpPr/>
          <p:nvPr/>
        </p:nvSpPr>
        <p:spPr>
          <a:xfrm>
            <a:off x="941832" y="224942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Alto </a:t>
            </a:r>
            <a:r>
              <a:rPr lang="en-US" sz="1200" b="1" dirty="0" err="1">
                <a:solidFill>
                  <a:srgbClr val="FFFFFF"/>
                </a:solidFill>
              </a:rPr>
              <a:t>custo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93BEBAE-FB60-4AFD-7E13-6DD136AE1249}"/>
              </a:ext>
            </a:extLst>
          </p:cNvPr>
          <p:cNvSpPr/>
          <p:nvPr/>
        </p:nvSpPr>
        <p:spPr>
          <a:xfrm>
            <a:off x="3246120" y="224942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Difusão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latente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 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Arquiteturas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eficientes</a:t>
            </a:r>
            <a:endParaRPr lang="en-US" sz="1600" dirty="0" err="1">
              <a:latin typeface="Aptos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D75D965-5ADA-38CA-2CE9-6AFEA704DE00}"/>
              </a:ext>
            </a:extLst>
          </p:cNvPr>
          <p:cNvSpPr/>
          <p:nvPr/>
        </p:nvSpPr>
        <p:spPr>
          <a:xfrm>
            <a:off x="941832" y="302666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Baixo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controle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4BF02B0-6283-18A3-ED71-510AF8C4BE15}"/>
              </a:ext>
            </a:extLst>
          </p:cNvPr>
          <p:cNvSpPr/>
          <p:nvPr/>
        </p:nvSpPr>
        <p:spPr>
          <a:xfrm>
            <a:off x="3246120" y="302666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Condicionamento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 - Guidance</a:t>
            </a:r>
            <a:endParaRPr lang="en-US" sz="1600" dirty="0">
              <a:latin typeface="Aptos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E34BE6D9-C98A-7D39-F38C-3CDD8F0CBFA5}"/>
              </a:ext>
            </a:extLst>
          </p:cNvPr>
          <p:cNvSpPr/>
          <p:nvPr/>
        </p:nvSpPr>
        <p:spPr>
          <a:xfrm>
            <a:off x="941832" y="380390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Qualidade</a:t>
            </a:r>
            <a:endParaRPr lang="en-US" sz="1200" dirty="0" err="1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29812B2-462A-8179-C5EC-EEA95BA12F30}"/>
              </a:ext>
            </a:extLst>
          </p:cNvPr>
          <p:cNvSpPr/>
          <p:nvPr/>
        </p:nvSpPr>
        <p:spPr>
          <a:xfrm>
            <a:off x="3246120" y="380390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Agendas 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Variância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aprendida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 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Cascatas</a:t>
            </a:r>
            <a:endParaRPr lang="en-US" sz="1600" dirty="0" err="1">
              <a:latin typeface="Aptos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04318E92-F9CC-E7F9-9B99-F608927B11FA}"/>
              </a:ext>
            </a:extLst>
          </p:cNvPr>
          <p:cNvSpPr/>
          <p:nvPr/>
        </p:nvSpPr>
        <p:spPr>
          <a:xfrm>
            <a:off x="941832" y="458114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Avaliação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4D294AB4-299D-46C0-0E07-EB7B3916932A}"/>
              </a:ext>
            </a:extLst>
          </p:cNvPr>
          <p:cNvSpPr/>
          <p:nvPr/>
        </p:nvSpPr>
        <p:spPr>
          <a:xfrm>
            <a:off x="3246120" y="458114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FID/KID +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Cobertura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+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Inspeção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humana</a:t>
            </a:r>
            <a:endParaRPr lang="en-US" sz="1600" dirty="0">
              <a:latin typeface="Aptos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63BFC11E-140C-471C-B418-D0254C3669DE}"/>
              </a:ext>
            </a:extLst>
          </p:cNvPr>
          <p:cNvSpPr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solução reduz um gargalo e cria outro compromisso.</a:t>
            </a:r>
            <a:endParaRPr lang="en-US" sz="1900" dirty="0"/>
          </a:p>
        </p:txBody>
      </p:sp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1DD1D8F2-330C-9FB7-B8FA-9C9FAB6421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324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D90B-AB01-227D-0972-F6BE2AE5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87301944-8563-3EAE-C378-7FEA8C3D8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30231C5-3A01-ED13-E9EB-17F937156310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SOLUÇÕES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719BFE-28C1-A5BE-08E2-66084D51D5AD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DDIM: a solução demonstrada</a:t>
            </a:r>
            <a:endParaRPr lang="en-US" sz="24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928CFE1C-5BB4-6FA2-80F4-6E3C24C07DC6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1CEFDCF-2134-7748-749F-75092BA43B97}"/>
              </a:ext>
            </a:extLst>
          </p:cNvPr>
          <p:cNvSpPr/>
          <p:nvPr/>
        </p:nvSpPr>
        <p:spPr>
          <a:xfrm>
            <a:off x="7571232" y="165506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treinamento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1657663C-2CAE-0463-4C19-11F06CE7676F}"/>
              </a:ext>
            </a:extLst>
          </p:cNvPr>
          <p:cNvSpPr/>
          <p:nvPr/>
        </p:nvSpPr>
        <p:spPr>
          <a:xfrm>
            <a:off x="7571232" y="1984248"/>
            <a:ext cx="30083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 o preditor de ruído do DDPM.</a:t>
            </a:r>
            <a:endParaRPr lang="en-US" sz="13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F90DDDD-BAD8-BB79-EF0C-56CFC9486D54}"/>
              </a:ext>
            </a:extLst>
          </p:cNvPr>
          <p:cNvSpPr/>
          <p:nvPr/>
        </p:nvSpPr>
        <p:spPr>
          <a:xfrm>
            <a:off x="7571232" y="279806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passos</a:t>
            </a:r>
            <a:endParaRPr lang="en-US" sz="14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AD4FE2A-74E3-38B6-05D4-2A0D6EB6C8EA}"/>
              </a:ext>
            </a:extLst>
          </p:cNvPr>
          <p:cNvSpPr/>
          <p:nvPr/>
        </p:nvSpPr>
        <p:spPr>
          <a:xfrm>
            <a:off x="7571232" y="3127248"/>
            <a:ext cx="30083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 uma subsequência de níveis t.</a:t>
            </a:r>
            <a:endParaRPr lang="en-US" sz="13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A4383BBD-CA88-7760-51F6-4967D3EE899A}"/>
              </a:ext>
            </a:extLst>
          </p:cNvPr>
          <p:cNvSpPr/>
          <p:nvPr/>
        </p:nvSpPr>
        <p:spPr>
          <a:xfrm>
            <a:off x="7571232" y="394106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η = 0</a:t>
            </a:r>
            <a:endParaRPr lang="en-US" sz="14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54CBC7F2-CBBF-A092-D19F-0174100658F3}"/>
              </a:ext>
            </a:extLst>
          </p:cNvPr>
          <p:cNvSpPr/>
          <p:nvPr/>
        </p:nvSpPr>
        <p:spPr>
          <a:xfrm>
            <a:off x="7571232" y="4270248"/>
            <a:ext cx="30083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Trajetória determinística com xT fixo.</a:t>
            </a:r>
            <a:endParaRPr lang="en-US" sz="13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27FC13D-F1D3-4F9F-8BDF-E35D747AF304}"/>
              </a:ext>
            </a:extLst>
          </p:cNvPr>
          <p:cNvSpPr/>
          <p:nvPr/>
        </p:nvSpPr>
        <p:spPr>
          <a:xfrm>
            <a:off x="923059" y="5848696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passos: geralmente mais fidelidade, maior tempo e ganho eventualmente saturado.</a:t>
            </a:r>
            <a:endParaRPr lang="en-US" sz="1700" dirty="0"/>
          </a:p>
        </p:txBody>
      </p:sp>
      <p:pic>
        <p:nvPicPr>
          <p:cNvPr id="28" name="DDIMDiffusionScene">
            <a:hlinkClick r:id="" action="ppaction://media"/>
            <a:extLst>
              <a:ext uri="{FF2B5EF4-FFF2-40B4-BE49-F238E27FC236}">
                <a16:creationId xmlns:a16="http://schemas.microsoft.com/office/drawing/2014/main" id="{53A679A6-A023-1A26-598B-24A1074F8E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0646" y="1658957"/>
            <a:ext cx="6696941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6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ECDA-AD57-524F-33C3-0699C406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51957C77-1D82-7BAA-EBC3-E02F8838E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B6AC20C-4328-9502-F3E6-61DDE93CEB93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SOLUÇÕES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F3E8481-B972-E1ED-2EF0-C515C4ADCB55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Outras soluções importantes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3EC8C3C-776D-4381-6500-BA28C35D2724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BFBF8B-5AB7-8370-A950-AB38B1ACF755}"/>
              </a:ext>
            </a:extLst>
          </p:cNvPr>
          <p:cNvSpPr/>
          <p:nvPr/>
        </p:nvSpPr>
        <p:spPr>
          <a:xfrm>
            <a:off x="1033272" y="17465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Solvers eficientes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7BA485-B96B-5B04-B867-BE67A6B799D9}"/>
              </a:ext>
            </a:extLst>
          </p:cNvPr>
          <p:cNvSpPr/>
          <p:nvPr/>
        </p:nvSpPr>
        <p:spPr>
          <a:xfrm>
            <a:off x="1033272" y="207568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erro numérico com poucas avaliações.</a:t>
            </a:r>
            <a:endParaRPr lang="en-US" sz="13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0BD3FB1-89A9-4643-4F9B-ED878E29F943}"/>
              </a:ext>
            </a:extLst>
          </p:cNvPr>
          <p:cNvSpPr/>
          <p:nvPr/>
        </p:nvSpPr>
        <p:spPr>
          <a:xfrm>
            <a:off x="6565392" y="17465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Distilação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39C22D6-AC50-EC7C-1627-00A20B05721D}"/>
              </a:ext>
            </a:extLst>
          </p:cNvPr>
          <p:cNvSpPr/>
          <p:nvPr/>
        </p:nvSpPr>
        <p:spPr>
          <a:xfrm>
            <a:off x="6565392" y="207568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Condensa várias etapas em poucas etapas aprendidas.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2B5931D7-95C7-BD5D-A59A-800930EA88F8}"/>
              </a:ext>
            </a:extLst>
          </p:cNvPr>
          <p:cNvSpPr/>
          <p:nvPr/>
        </p:nvSpPr>
        <p:spPr>
          <a:xfrm>
            <a:off x="1033272" y="330098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diffusion</a:t>
            </a:r>
            <a:endParaRPr lang="en-US" sz="15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6BD46C2-C2FE-0D0A-A602-C8F2847C26CD}"/>
              </a:ext>
            </a:extLst>
          </p:cNvPr>
          <p:cNvSpPr/>
          <p:nvPr/>
        </p:nvSpPr>
        <p:spPr>
          <a:xfrm>
            <a:off x="1033272" y="363016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 denoising em uma representação comprimida.</a:t>
            </a:r>
            <a:endParaRPr lang="en-US" sz="13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560FA7BC-2398-CD04-9FE1-631BF3528EF4}"/>
              </a:ext>
            </a:extLst>
          </p:cNvPr>
          <p:cNvSpPr/>
          <p:nvPr/>
        </p:nvSpPr>
        <p:spPr>
          <a:xfrm>
            <a:off x="6565392" y="330098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</a:t>
            </a:r>
            <a:endParaRPr lang="en-US" sz="15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FBA358C-951D-2ECC-F546-2F0226657462}"/>
              </a:ext>
            </a:extLst>
          </p:cNvPr>
          <p:cNvSpPr/>
          <p:nvPr/>
        </p:nvSpPr>
        <p:spPr>
          <a:xfrm>
            <a:off x="6565392" y="363016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 aderência à classe, texto ou observação.</a:t>
            </a:r>
            <a:endParaRPr lang="en-US" sz="13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EF238289-DC89-78AE-6894-FEC5266F768A}"/>
              </a:ext>
            </a:extLst>
          </p:cNvPr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Essas soluções tornaram modelos de difusão mais aplicáveis fora de ambientes puramente acadêmicos.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4531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1">
            <a:extLst>
              <a:ext uri="{FF2B5EF4-FFF2-40B4-BE49-F238E27FC236}">
                <a16:creationId xmlns:a16="http://schemas.microsoft.com/office/drawing/2014/main" id="{BEF97023-16DD-4703-954D-6BC8D1200C9F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Onde o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uso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é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mais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viável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?</a:t>
            </a:r>
            <a:endParaRPr lang="en-US" sz="2400" dirty="0">
              <a:latin typeface="Aptos Display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6FCBA94F-A924-ACE5-FBA7-62B7BB807D5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950E03D-4488-0ABC-A0E7-FDCF82653DF2}"/>
              </a:ext>
            </a:extLst>
          </p:cNvPr>
          <p:cNvSpPr/>
          <p:nvPr/>
        </p:nvSpPr>
        <p:spPr>
          <a:xfrm>
            <a:off x="1033272" y="160934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 escolha quando</a:t>
            </a:r>
            <a:endParaRPr lang="en-US" sz="16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F68B540-9090-B7BC-23B4-769802B172D3}"/>
              </a:ext>
            </a:extLst>
          </p:cNvPr>
          <p:cNvSpPr/>
          <p:nvPr/>
        </p:nvSpPr>
        <p:spPr>
          <a:xfrm>
            <a:off x="1033272" y="1938528"/>
            <a:ext cx="479145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Qualidade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importa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mais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que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poucos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milissegundos</a:t>
            </a:r>
            <a:endParaRPr lang="en-US" sz="1400" dirty="0" err="1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Há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edição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, inpainting, super-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resolução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ou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condicionamento</a:t>
            </a:r>
            <a:endParaRPr lang="en-US" sz="1400" dirty="0" err="1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Múltiplas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soluções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plausíveis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são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úteis</a:t>
            </a:r>
            <a:endParaRPr lang="en-US" sz="1400" dirty="0" err="1">
              <a:latin typeface="Aptos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08C5020-F76D-6922-7C78-8493DD73F73E}"/>
              </a:ext>
            </a:extLst>
          </p:cNvPr>
          <p:cNvSpPr/>
          <p:nvPr/>
        </p:nvSpPr>
        <p:spPr>
          <a:xfrm>
            <a:off x="6428232" y="160934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05CB9"/>
                </a:solidFill>
                <a:latin typeface="Aptos"/>
              </a:rPr>
              <a:t>Não recomendado quando</a:t>
            </a:r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3ED1597-5114-068B-533D-8906CB96AEEC}"/>
              </a:ext>
            </a:extLst>
          </p:cNvPr>
          <p:cNvSpPr/>
          <p:nvPr/>
        </p:nvSpPr>
        <p:spPr>
          <a:xfrm>
            <a:off x="6428232" y="1938528"/>
            <a:ext cx="479145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Há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hardware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restrito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ou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tempo real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rígido</a:t>
            </a:r>
            <a:endParaRPr lang="en-US" sz="1400" dirty="0" err="1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determinístico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simples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já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resolve</a:t>
            </a:r>
            <a:endParaRPr lang="en-US" sz="1400" dirty="0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Faltam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dados,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licença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ou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orçamento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computacional</a:t>
            </a:r>
            <a:endParaRPr lang="en-US" sz="1400" dirty="0" err="1">
              <a:latin typeface="Aptos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C46BAE32-30ED-E1BC-1836-752192D421B5}"/>
              </a:ext>
            </a:extLst>
          </p:cNvPr>
          <p:cNvSpPr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prática: o benefício de modelar uma distribuição justifica o custo iterativo?</a:t>
            </a:r>
            <a:endParaRPr lang="en-US" sz="19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E3EBDC89-9FD9-DB4E-EDAD-2EB8BAEC2E13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6E4F5E95-0E73-BB69-7A35-523AD8762FCC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900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0E9C9F17-6D0C-0BFA-3065-F1599A868D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93FA-2E69-4321-D74A-54D37DF2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4F6B1662-D251-5E12-20C6-0719D15FCD54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4E52737-4D3D-2D72-CF78-B65A796E6D61}"/>
              </a:ext>
            </a:extLst>
          </p:cNvPr>
          <p:cNvSpPr/>
          <p:nvPr/>
        </p:nvSpPr>
        <p:spPr>
          <a:xfrm>
            <a:off x="926756" y="2639601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1. </a:t>
            </a:r>
            <a:r>
              <a:rPr lang="en-US" sz="17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Aprender</a:t>
            </a:r>
            <a:endParaRPr lang="en-US" sz="1700" dirty="0" err="1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FA57677-A1DF-3C97-9688-859A54B1066F}"/>
              </a:ext>
            </a:extLst>
          </p:cNvPr>
          <p:cNvSpPr/>
          <p:nvPr/>
        </p:nvSpPr>
        <p:spPr>
          <a:xfrm>
            <a:off x="926756" y="2968785"/>
            <a:ext cx="296265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DDPM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prediz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e remove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ruído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revertendo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um forward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conhecido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gerar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novos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dados.</a:t>
            </a:r>
            <a:endParaRPr lang="en-US" sz="1500" dirty="0">
              <a:solidFill>
                <a:srgbClr val="0C1116"/>
              </a:solidFill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0C4AE23-9218-4449-45B6-3582C4B77B5B}"/>
              </a:ext>
            </a:extLst>
          </p:cNvPr>
          <p:cNvSpPr/>
          <p:nvPr/>
        </p:nvSpPr>
        <p:spPr>
          <a:xfrm>
            <a:off x="4492916" y="2639601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Trocar</a:t>
            </a:r>
            <a:endParaRPr lang="en-US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B437BF1-31B4-79DD-F4D7-3EE6325DAD13}"/>
              </a:ext>
            </a:extLst>
          </p:cNvPr>
          <p:cNvSpPr/>
          <p:nvPr/>
        </p:nvSpPr>
        <p:spPr>
          <a:xfrm>
            <a:off x="4492916" y="2968785"/>
            <a:ext cx="296265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Treino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simples 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não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adversarial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troca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amostragem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lenta.</a:t>
            </a:r>
            <a:endParaRPr lang="en-US" sz="1500" dirty="0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C15A465-8CC0-F251-8111-797134FE1282}"/>
              </a:ext>
            </a:extLst>
          </p:cNvPr>
          <p:cNvSpPr/>
          <p:nvPr/>
        </p:nvSpPr>
        <p:spPr>
          <a:xfrm>
            <a:off x="8059076" y="2639601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3. </a:t>
            </a:r>
            <a:r>
              <a:rPr lang="en-US" sz="17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Acelerar</a:t>
            </a:r>
            <a:endParaRPr lang="en-US" sz="1700" dirty="0" err="1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B1B26C0-7E0A-B932-254E-6F1FBDE5BEC7}"/>
              </a:ext>
            </a:extLst>
          </p:cNvPr>
          <p:cNvSpPr/>
          <p:nvPr/>
        </p:nvSpPr>
        <p:spPr>
          <a:xfrm>
            <a:off x="8059076" y="2968785"/>
            <a:ext cx="296265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DDIM 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difusão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latente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tornam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abordagem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mais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prática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500" dirty="0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5FEF9A9-D036-D457-84B0-8976374F19E8}"/>
              </a:ext>
            </a:extLst>
          </p:cNvPr>
          <p:cNvSpPr/>
          <p:nvPr/>
        </p:nvSpPr>
        <p:spPr>
          <a:xfrm>
            <a:off x="1005840" y="4846320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Formulação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probabilística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clara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+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objetivo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simples +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evolução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dos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amostradores</a:t>
            </a:r>
            <a:endParaRPr lang="en-US" sz="2000" dirty="0" err="1">
              <a:latin typeface="Aptos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16D9A74-372C-C7C4-FC69-5F0E0F3215BD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3FE55C9-FB3E-67EE-877A-EA9555E88C90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0C1116"/>
                </a:solidFill>
                <a:latin typeface="Aptos Display"/>
              </a:rPr>
              <a:t>Denoising Diffusion Probabilistic Models - DDPM</a:t>
            </a:r>
            <a:endParaRPr lang="en-US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962FC151-9111-9A23-C185-7DE4C6B88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98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9219842-6E07-0390-74A9-E43F462BDB49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 pela atenção!</a:t>
            </a:r>
            <a:endParaRPr lang="en-US" sz="24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12AE7853-89FE-5337-C55E-BAABB55FBE8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BACDC8B-FFFF-8A93-DD64-8953BDBD891D}"/>
              </a:ext>
            </a:extLst>
          </p:cNvPr>
          <p:cNvSpPr/>
          <p:nvPr/>
        </p:nvSpPr>
        <p:spPr>
          <a:xfrm>
            <a:off x="1033272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5CB9"/>
                </a:solidFill>
                <a:latin typeface="Aptos"/>
              </a:rPr>
              <a:t>Forms</a:t>
            </a:r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22D4157-88E0-72EC-118A-CCE61FEA8794}"/>
              </a:ext>
            </a:extLst>
          </p:cNvPr>
          <p:cNvSpPr/>
          <p:nvPr/>
        </p:nvSpPr>
        <p:spPr>
          <a:xfrm>
            <a:off x="1033272" y="1984248"/>
            <a:ext cx="45171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FEC2435-B737-365A-3FE0-0DA3435B3708}"/>
              </a:ext>
            </a:extLst>
          </p:cNvPr>
          <p:cNvSpPr/>
          <p:nvPr/>
        </p:nvSpPr>
        <p:spPr>
          <a:xfrm>
            <a:off x="251460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5CB9"/>
                </a:solidFill>
              </a:rPr>
              <a:t>QR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5CB9"/>
                </a:solidFill>
              </a:rPr>
              <a:t>FORMS</a:t>
            </a:r>
            <a:endParaRPr lang="en-US" sz="20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25797B34-2713-9860-41FB-D2C0D69FBAC2}"/>
              </a:ext>
            </a:extLst>
          </p:cNvPr>
          <p:cNvSpPr/>
          <p:nvPr/>
        </p:nvSpPr>
        <p:spPr>
          <a:xfrm>
            <a:off x="6428231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5CB9"/>
                </a:solidFill>
                <a:latin typeface="Aptos"/>
              </a:rPr>
              <a:t>Código, notebooks e </a:t>
            </a:r>
            <a:r>
              <a:rPr lang="en-US" sz="1600" b="1" dirty="0" err="1">
                <a:solidFill>
                  <a:srgbClr val="005CB9"/>
                </a:solidFill>
                <a:latin typeface="Aptos"/>
              </a:rPr>
              <a:t>artigos</a:t>
            </a:r>
            <a:endParaRPr lang="en-US" sz="1600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71E5777F-B7ED-9D24-94FB-BCF9B9958186}"/>
              </a:ext>
            </a:extLst>
          </p:cNvPr>
          <p:cNvSpPr/>
          <p:nvPr/>
        </p:nvSpPr>
        <p:spPr>
          <a:xfrm>
            <a:off x="6428232" y="1984248"/>
            <a:ext cx="45171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solidFill>
                <a:srgbClr val="0C1116"/>
              </a:solidFill>
              <a:latin typeface="Aptos"/>
            </a:endParaRPr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9B9EF666-96F0-2B11-3657-537374E46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2376544"/>
            <a:ext cx="2103120" cy="210312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FC45EF9-3189-4C59-E765-0A5AE25599F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900" dirty="0"/>
          </a:p>
        </p:txBody>
      </p:sp>
      <p:pic>
        <p:nvPicPr>
          <p:cNvPr id="12" name="Picture 2" descr="Logo">
            <a:extLst>
              <a:ext uri="{FF2B5EF4-FFF2-40B4-BE49-F238E27FC236}">
                <a16:creationId xmlns:a16="http://schemas.microsoft.com/office/drawing/2014/main" id="{F15488CE-65DD-4C91-803C-46AA401014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>
            <a:extLst>
              <a:ext uri="{FF2B5EF4-FFF2-40B4-BE49-F238E27FC236}">
                <a16:creationId xmlns:a16="http://schemas.microsoft.com/office/drawing/2014/main" id="{2AD42ED0-D01B-1CB2-12C1-5D3FAC38328A}"/>
              </a:ext>
            </a:extLst>
          </p:cNvPr>
          <p:cNvSpPr/>
          <p:nvPr/>
        </p:nvSpPr>
        <p:spPr>
          <a:xfrm>
            <a:off x="868680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HO, J.; JAIN, A.; ABBEEL, P. Denoising Diffusion Probabilistic Models. NeurIPS, 2020.</a:t>
            </a:r>
            <a:endParaRPr lang="en-US" sz="13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3653FD8-359E-2005-50CF-F7297121F3AB}"/>
              </a:ext>
            </a:extLst>
          </p:cNvPr>
          <p:cNvSpPr/>
          <p:nvPr/>
        </p:nvSpPr>
        <p:spPr>
          <a:xfrm>
            <a:off x="868680" y="2039112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SONG, J.; MENG, C.; ERMON, S. Denoising Diffusion Implicit Models. ICLR, 2021.</a:t>
            </a:r>
            <a:endParaRPr lang="en-US" sz="135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39A879B-E03D-7BE5-A907-DC27585B2600}"/>
              </a:ext>
            </a:extLst>
          </p:cNvPr>
          <p:cNvSpPr/>
          <p:nvPr/>
        </p:nvSpPr>
        <p:spPr>
          <a:xfrm>
            <a:off x="868680" y="2660904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YANG, L. et al. Diffusion Models: A Comprehensive Survey of Methods and Applications. ACM Computing Surveys.</a:t>
            </a:r>
            <a:endParaRPr lang="en-US" sz="135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61F39E4-DD69-9AFA-F08E-F01C1EBD138B}"/>
              </a:ext>
            </a:extLst>
          </p:cNvPr>
          <p:cNvSpPr/>
          <p:nvPr/>
        </p:nvSpPr>
        <p:spPr>
          <a:xfrm>
            <a:off x="868680" y="3282696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 GHOJOGH, B.; GHODSI, A. Diffusion Models: Tutorial and Survey. 2024.</a:t>
            </a:r>
            <a:endParaRPr lang="en-US" sz="135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B0B4E841-8CFF-172A-F3BE-C40A9E208179}"/>
              </a:ext>
            </a:extLst>
          </p:cNvPr>
          <p:cNvSpPr/>
          <p:nvPr/>
        </p:nvSpPr>
        <p:spPr>
          <a:xfrm>
            <a:off x="868680" y="3904488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 Reprodução experimental: notebooks, checkpoints, métricas e vídeos em seminar_1 deste repositório.</a:t>
            </a:r>
            <a:endParaRPr lang="en-US" sz="13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D931843-52CD-75A1-E3A7-B2782CA14C06}"/>
              </a:ext>
            </a:extLst>
          </p:cNvPr>
          <p:cNvSpPr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PDFs completos em seminar_1/articles • código no QR do repositório</a:t>
            </a:r>
            <a:endParaRPr lang="en-US" sz="1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F4B8EB4-886D-60A5-2354-1DF5B69484B9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</a:t>
            </a:r>
            <a:endParaRPr lang="en-US" sz="2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B6FDCD6-CCBC-5040-718B-97EFB9423D00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B8CCA41-DD77-1DDC-955C-F86F9A9A210C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REFERÊNCIAS</a:t>
            </a:r>
            <a:endParaRPr lang="en-US" sz="900" dirty="0"/>
          </a:p>
        </p:txBody>
      </p:sp>
      <p:pic>
        <p:nvPicPr>
          <p:cNvPr id="12" name="Picture 2" descr="Logo">
            <a:extLst>
              <a:ext uri="{FF2B5EF4-FFF2-40B4-BE49-F238E27FC236}">
                <a16:creationId xmlns:a16="http://schemas.microsoft.com/office/drawing/2014/main" id="{DFB0490E-5D11-4F34-5B1B-6F218305A9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90976B-A782-F38E-F4FC-164C2F808F2F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08E243A-F1D2-9275-AE3C-3BF96B38454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1651762E-7F79-8810-BE08-6B6004DBA249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D219433-4B5D-2E10-D37C-939EDF35FFA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579C96C-3CA7-2018-71B6-1EDD001191F7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>
                <a:solidFill>
                  <a:srgbClr val="0C1116"/>
                </a:solidFill>
                <a:latin typeface="Aptos Display"/>
              </a:rPr>
              <a:t>Dúvidas</a:t>
            </a:r>
            <a:endParaRPr lang="en-US" dirty="0" err="1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145D3B9-647A-440D-9B8F-142CE69378C1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15A19A1-A1D6-AF0A-75C5-2840E774C8A6}"/>
              </a:ext>
            </a:extLst>
          </p:cNvPr>
          <p:cNvSpPr/>
          <p:nvPr/>
        </p:nvSpPr>
        <p:spPr>
          <a:xfrm>
            <a:off x="1097280" y="3013934"/>
            <a:ext cx="9875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6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Perguntas?</a:t>
            </a:r>
            <a:endParaRPr lang="en-US" sz="4600" dirty="0"/>
          </a:p>
        </p:txBody>
      </p: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61E749A9-B399-EF6C-6D38-613F467BC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7895</TotalTime>
  <Words>147</Words>
  <Application>Microsoft Office PowerPoint</Application>
  <PresentationFormat>Widescreen</PresentationFormat>
  <Paragraphs>37</Paragraphs>
  <Slides>22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Tema do Office</vt:lpstr>
      <vt:lpstr>TP558 - Tópicos avançados em Machine Learning: Denoising Diffusion Probabilistc Models - DDPM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2170</cp:revision>
  <dcterms:created xsi:type="dcterms:W3CDTF">2020-01-20T13:50:05Z</dcterms:created>
  <dcterms:modified xsi:type="dcterms:W3CDTF">2026-08-17T23:35:36Z</dcterms:modified>
</cp:coreProperties>
</file>