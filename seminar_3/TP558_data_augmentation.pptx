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9" r:id="rId5"/>
    <p:sldId id="259" r:id="rId6"/>
    <p:sldId id="260" r:id="rId7"/>
    <p:sldId id="278" r:id="rId8"/>
    <p:sldId id="261" r:id="rId9"/>
    <p:sldId id="262" r:id="rId10"/>
    <p:sldId id="280" r:id="rId11"/>
    <p:sldId id="263" r:id="rId12"/>
    <p:sldId id="264" r:id="rId13"/>
    <p:sldId id="265" r:id="rId14"/>
    <p:sldId id="266" r:id="rId15"/>
    <p:sldId id="277" r:id="rId16"/>
    <p:sldId id="267" r:id="rId17"/>
    <p:sldId id="268" r:id="rId18"/>
    <p:sldId id="269" r:id="rId19"/>
    <p:sldId id="270" r:id="rId20"/>
    <p:sldId id="281" r:id="rId21"/>
    <p:sldId id="271" r:id="rId22"/>
    <p:sldId id="276" r:id="rId23"/>
    <p:sldId id="272" r:id="rId24"/>
    <p:sldId id="275" r:id="rId25"/>
    <p:sldId id="273" r:id="rId26"/>
    <p:sldId id="274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3DAF6-A2D8-68DE-C09E-E1F8820C0E02}" v="495" dt="2026-09-22T00:58:37.828"/>
    <p1510:client id="{C087A0A8-3681-B8BA-D90E-682CA9F7B091}" v="2" dt="2026-09-21T22:02:40.571"/>
    <p1510:client id="{E87CCFBB-B2CC-D8FE-268D-D9761A46F4F0}" v="19" dt="2026-09-21T17:10:56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BE642-3F33-441F-B5B2-B321BA86BA76}" type="datetimeFigureOut"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970CB-7F35-4CA8-BB88-4E50158595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7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 como uma discussão prática sobre quando augmentation ajuda, quando prejudica e como isso se conecta à pesquisa de segmentação e ao custo computacional de métodos generativos.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Seminário com foco em visão computacional e segmentação: revisar métodos, mostrar a biblioteca, discutir custo/benefício e fechar com protocolo seguro para experimentos.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principal é que augmentation codifica uma hipótese sobre o problema. Se a hipótese preserva a semântica, tende a ajudar; se altera a semântica, pode degradar.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AEE5-F970-3604-C28C-4BBB075B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49A39-471F-E1FD-B3A0-F5D41501E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20C07-1287-CF63-7ED7-BA23C62B1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principal é que augmentation codifica uma hipótese sobre o problema. Se a hipótese preserva a semântica, tende a ajudar; se altera a semântica, pode degradar.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3D9DD-B5FF-5DBC-24B8-25B970F63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9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dois artigos como complementares: um organiza as famílias de métodos e resultados empíricos; o outro mostra implementação prática e benchmark de velocidade.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taxonomia do survey para posicionar as técnicas. Reforçar que os métodos tradicionais são rápidos, enquanto os generativos tentam amostrar uma distribuição mais rica, mas com maior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25BB-6D8E-C732-DFCA-02584ECE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F73AE-6743-D2AB-8C36-A8F6899BD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D42DF-4B46-3F82-A48E-0E7784BB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taxonomia do survey para posicionar as técnicas. Reforçar que os métodos tradicionais são rápidos, enquanto os generativos tentam amostrar uma distribuição mais rica, mas com maior custo.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31C80-65EF-FA12-B083-495967F9D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52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essas transformações são o ponto de partida porque exigem pouco custo e permitem validação rápida no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Ligar diretamente ao seu projeto de segmentação: não basta alterar a imagem; a máscara precisa acompanhar a mesma transformação geométrica para não corromper o treinamento.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34B7-E2A4-53D6-B8A3-44A098DE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899FC-6C83-4789-6AC0-628E23519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B4002-5ABC-AD82-B38E-1EEF769F9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as três técnicas. Cutout é oclusão; Mixup mistura pixels e rótulos; CutMix troca uma região e usa a área como aproximação da contribuição semântica.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DC1F5-B682-FC63-72C7-5CAF77F40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18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as três técnicas. Cutout é oclusão; Mixup mistura pixels e rótulos; CutMix troca uma região e usa a área como aproximação da contribuição semântica.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Criar a ponte para o pedido central: DDPM e generativos são promissores, mas só devem entrar depois de um baseline barato e auditável.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slide central. Defender que as técnicas tradicionais dão resposta rápida e ajudam a construir justificativa para o custo computacional do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geração deve ocorrer depois do split. Se gerar antes, variantes quase iguais do mesmo exemplo podem vazar para validação ou teste, inflando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6DDF-ACFD-DF57-C349-0343FD83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FC92B-35C0-2C7C-3490-43A8FADC8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E0349-030E-5F39-89BA-0A9F0A3B2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geração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ocorrer</a:t>
            </a:r>
            <a:r>
              <a:rPr lang="en-US" dirty="0"/>
              <a:t> </a:t>
            </a:r>
            <a:r>
              <a:rPr lang="en-US" dirty="0" err="1"/>
              <a:t>depois</a:t>
            </a:r>
            <a:r>
              <a:rPr lang="en-US" dirty="0"/>
              <a:t> do split. Se </a:t>
            </a:r>
            <a:r>
              <a:rPr lang="en-US" dirty="0" err="1"/>
              <a:t>gerar</a:t>
            </a:r>
            <a:r>
              <a:rPr lang="en-US" dirty="0"/>
              <a:t> antes, </a:t>
            </a:r>
            <a:r>
              <a:rPr lang="en-US" dirty="0" err="1"/>
              <a:t>variantes</a:t>
            </a:r>
            <a:r>
              <a:rPr lang="en-US" dirty="0"/>
              <a:t> </a:t>
            </a:r>
            <a:r>
              <a:rPr lang="en-US" dirty="0" err="1"/>
              <a:t>quase</a:t>
            </a:r>
            <a:r>
              <a:rPr lang="en-US" dirty="0"/>
              <a:t> </a:t>
            </a:r>
            <a:r>
              <a:rPr lang="en-US" dirty="0" err="1"/>
              <a:t>iguais</a:t>
            </a:r>
            <a:r>
              <a:rPr lang="en-US" dirty="0"/>
              <a:t> do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vazar</a:t>
            </a:r>
            <a:r>
              <a:rPr lang="en-US" dirty="0"/>
              <a:t> para </a:t>
            </a:r>
            <a:r>
              <a:rPr lang="en-US" dirty="0" err="1"/>
              <a:t>validação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teste, </a:t>
            </a:r>
            <a:r>
              <a:rPr lang="en-US" dirty="0" err="1"/>
              <a:t>inflando</a:t>
            </a:r>
            <a:r>
              <a:rPr lang="en-US" dirty="0"/>
              <a:t> </a:t>
            </a:r>
            <a:r>
              <a:rPr lang="en-US" dirty="0" err="1"/>
              <a:t>métricas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 err="1">
                <a:solidFill>
                  <a:srgbClr val="111111"/>
                </a:solidFill>
              </a:rPr>
              <a:t>Separar</a:t>
            </a:r>
            <a:r>
              <a:rPr lang="en-US" b="1" dirty="0">
                <a:solidFill>
                  <a:srgbClr val="111111"/>
                </a:solidFill>
              </a:rPr>
              <a:t> antes de </a:t>
            </a:r>
            <a:r>
              <a:rPr lang="en-US" b="1" dirty="0" err="1">
                <a:solidFill>
                  <a:srgbClr val="111111"/>
                </a:solidFill>
              </a:rPr>
              <a:t>gerar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amostras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evita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que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variações</a:t>
            </a:r>
            <a:r>
              <a:rPr lang="en-US" b="1" dirty="0">
                <a:solidFill>
                  <a:srgbClr val="111111"/>
                </a:solidFill>
              </a:rPr>
              <a:t> do </a:t>
            </a:r>
            <a:r>
              <a:rPr lang="en-US" b="1" dirty="0" err="1">
                <a:solidFill>
                  <a:srgbClr val="111111"/>
                </a:solidFill>
              </a:rPr>
              <a:t>mesmo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exemplo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apareçam</a:t>
            </a:r>
            <a:r>
              <a:rPr lang="en-US" b="1" dirty="0">
                <a:solidFill>
                  <a:srgbClr val="111111"/>
                </a:solidFill>
              </a:rPr>
              <a:t> no </a:t>
            </a:r>
            <a:r>
              <a:rPr lang="en-US" b="1" dirty="0" err="1">
                <a:solidFill>
                  <a:srgbClr val="111111"/>
                </a:solidFill>
              </a:rPr>
              <a:t>treino</a:t>
            </a:r>
            <a:r>
              <a:rPr lang="en-US" b="1" dirty="0">
                <a:solidFill>
                  <a:srgbClr val="111111"/>
                </a:solidFill>
              </a:rPr>
              <a:t> e no teste.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B2C69-C2B7-ECBF-7C3D-83DFBC375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92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tabela do survey para reforçar que em detecção há caso de métrica piorando com CenterNet. Portanto, não assumir que augmentation é sempre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deixa espaço para demonstrar a biblioteca. Destacar que a documentação da Albumentations funciona como um catálogo de técnicas e exemplos de aplicação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tabela do artigo do Albumentations: biblioteca é proposta como rápida e flexível, com benchmark contra outras ferramentas em operações comuns.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conecta com o mestrado: SAM e YOLO para segmentação. O protocolo evita leakage e permite comparar custo/benefício dos métodos tradicionais e do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DE18-A94F-CB80-C322-285CFAF8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C1C16-AAF3-B7FA-0419-C0AD5AC2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911C-3F29-7B6D-B7E4-D8965B884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conecta com o mestrado: SAM e YOLO para segmentação. O protocolo evita leakage e permite comparar custo/benefício dos métodos tradicionais e do DDPM.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88DFE-77B7-CD41-5B24-44F8DD782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56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colocar seus números finais: IoU médio, classe crítica, tempo de execução e uma observação qualitativa da máscara.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43AF-63A6-FDFE-CFE3-36FB83CE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3AEA6-43E9-E91C-1AA9-7CA5BC14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FC92F-5BFE-AA1D-9A82-1CC2FF5BA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colocar seus números finais: IoU médio, classe crítica, tempo de execução e uma observação qualitativa da máscara.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8485-DF55-7D63-82A7-727F9B19B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247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 central. Para o seu projeto, o caminho é usar Albumentations como baseline rápido e deixar DDPM como uma etapa justificada por evidências.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7AB1-6B00-5286-B7E0-0C1AED94F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DEE2C-57AB-9632-66C7-5C5166A89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CB558-557C-9A46-AA18-FACA6705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 central. Para o seu projeto, o caminho é usar Albumentations como baseline rápido e deixar DDPM como uma etapa justificada por evidências.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424F7-4E96-C4B1-772B-357C094BB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322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a referência de DDPM se o seminário também apresentar o gancho para modelos de difusão.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786384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11111"/>
                </a:solidFill>
              </a:rPr>
              <a:t>TP558 - Tópicos avançados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dirty="0">
                <a:solidFill>
                  <a:srgbClr val="111111"/>
                </a:solidFill>
              </a:rPr>
              <a:t>em Machine Learning: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43000" y="1828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111111"/>
                </a:solidFill>
              </a:rPr>
              <a:t>Image Data Augmentation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i="1" dirty="0">
                <a:solidFill>
                  <a:srgbClr val="111111"/>
                </a:solidFill>
              </a:rPr>
              <a:t>for Deep Learning</a:t>
            </a:r>
            <a:endParaRPr lang="en-US" sz="3600" dirty="0"/>
          </a:p>
        </p:txBody>
      </p:sp>
      <p:pic>
        <p:nvPicPr>
          <p:cNvPr id="4" name="Image 0" descr="/mnt/data/assets/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970" y="3040829"/>
            <a:ext cx="4165787" cy="3130475"/>
          </a:xfrm>
          <a:prstGeom prst="rect">
            <a:avLst/>
          </a:prstGeom>
        </p:spPr>
      </p:pic>
      <p:pic>
        <p:nvPicPr>
          <p:cNvPr id="5" name="Image 1" descr="/mnt/data/assets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09" y="5870448"/>
            <a:ext cx="839823" cy="59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46720" y="5925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11111"/>
                </a:solidFill>
              </a:rPr>
              <a:t>Matheus Henrique Fonseca Afonso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11111"/>
                </a:solidFill>
              </a:rPr>
              <a:t>matheus.fonseca@mtel.inatel.br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00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Motivação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Por que aumentar dados?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2951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17320" y="2267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Taxonomia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80560" y="22677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Básicos, mistura, políticas e generativos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900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17320" y="2962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Albumentations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80560" y="29626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Pipeline rápido para imagem, máscara e bbox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3685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1732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Cuidados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0560" y="36576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Data leakage, viés e split correto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43799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17320" y="4352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Comparação crítica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80560" y="43525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Métodos tradicionais vs DDPM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417320" y="5047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Síntese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80560" y="50474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773"/>
                </a:solidFill>
              </a:rPr>
              <a:t>Aplicação na pesquisa e próximos passos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Augmentation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não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cria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informação</a:t>
            </a:r>
            <a:endParaRPr lang="en-US" sz="2400" dirty="0" err="1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3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05D652-D6FA-A90D-F97B-25117BA6E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723" y="1199029"/>
            <a:ext cx="9205073" cy="4997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DAC52-4DC0-3CE2-B799-0F40564D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4B8726-C440-EC55-1A17-84EFE3C52938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DE5376-DCFE-D686-6F3A-857148CD4C35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não cria informação “de graça”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F4B33D-1C2C-6630-4F17-4AAC9A1E0860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CD90C647-ECC6-67E4-786D-995AF403A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0E9B569-CE5A-46F5-CD44-ABBA51824A58}"/>
              </a:ext>
            </a:extLst>
          </p:cNvPr>
          <p:cNvSpPr/>
          <p:nvPr/>
        </p:nvSpPr>
        <p:spPr>
          <a:xfrm>
            <a:off x="914400" y="1463040"/>
            <a:ext cx="10241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66B3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A057C2E-F842-0A06-FC8C-C497664764FD}"/>
              </a:ext>
            </a:extLst>
          </p:cNvPr>
          <p:cNvSpPr/>
          <p:nvPr/>
        </p:nvSpPr>
        <p:spPr>
          <a:xfrm>
            <a:off x="1097280" y="1600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B3"/>
                </a:solidFill>
              </a:rPr>
              <a:t>Ele introduz invariâncias que acreditamos serem válidas para a tarefa.</a:t>
            </a:r>
            <a:endParaRPr lang="en-US" sz="2200" dirty="0"/>
          </a:p>
        </p:txBody>
      </p:sp>
      <p:pic>
        <p:nvPicPr>
          <p:cNvPr id="8" name="Image 1" descr="/mnt/data/slide_assets/alb_fig1_transforms.png">
            <a:extLst>
              <a:ext uri="{FF2B5EF4-FFF2-40B4-BE49-F238E27FC236}">
                <a16:creationId xmlns:a16="http://schemas.microsoft.com/office/drawing/2014/main" id="{32E62760-0CFE-2010-E2FF-D8A2B38FC4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594" b="18594"/>
          <a:stretch/>
        </p:blipFill>
        <p:spPr>
          <a:xfrm>
            <a:off x="822960" y="2788920"/>
            <a:ext cx="2926080" cy="237744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BBE8F89D-D833-AB14-4ED3-29F27C1179AD}"/>
              </a:ext>
            </a:extLst>
          </p:cNvPr>
          <p:cNvSpPr/>
          <p:nvPr/>
        </p:nvSpPr>
        <p:spPr>
          <a:xfrm>
            <a:off x="4069080" y="3337560"/>
            <a:ext cx="685800" cy="502920"/>
          </a:xfrm>
          <a:prstGeom prst="chevron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F12B17B-74BA-E1E8-1A44-B8904A852E9C}"/>
              </a:ext>
            </a:extLst>
          </p:cNvPr>
          <p:cNvSpPr/>
          <p:nvPr/>
        </p:nvSpPr>
        <p:spPr>
          <a:xfrm>
            <a:off x="480060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Mais diversidade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no treino</a:t>
            </a:r>
            <a:endParaRPr lang="en-US" sz="18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4C675DF-7B90-3C62-257C-7BA0A38F6759}"/>
              </a:ext>
            </a:extLst>
          </p:cNvPr>
          <p:cNvSpPr/>
          <p:nvPr/>
        </p:nvSpPr>
        <p:spPr>
          <a:xfrm>
            <a:off x="7040880" y="3337560"/>
            <a:ext cx="685800" cy="502920"/>
          </a:xfrm>
          <a:prstGeom prst="chevron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1647F78-82CC-8C3D-24B8-CB51B5359EC5}"/>
              </a:ext>
            </a:extLst>
          </p:cNvPr>
          <p:cNvSpPr/>
          <p:nvPr/>
        </p:nvSpPr>
        <p:spPr>
          <a:xfrm>
            <a:off x="78181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Generalização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</a:rPr>
              <a:t>mais robusta</a:t>
            </a:r>
            <a:endParaRPr lang="en-US" sz="18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4342C7D-C462-6E93-6E84-7D1D7E96866A}"/>
              </a:ext>
            </a:extLst>
          </p:cNvPr>
          <p:cNvSpPr/>
          <p:nvPr/>
        </p:nvSpPr>
        <p:spPr>
          <a:xfrm>
            <a:off x="6089904" y="4114800"/>
            <a:ext cx="0" cy="731520"/>
          </a:xfrm>
          <a:prstGeom prst="line">
            <a:avLst/>
          </a:prstGeom>
          <a:noFill/>
          <a:ln w="25400">
            <a:solidFill>
              <a:srgbClr val="CC3D3D"/>
            </a:solidFill>
            <a:prstDash val="solid"/>
            <a:headEnd type="none"/>
            <a:tailEnd type="triangle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A94D986-67D9-0DF4-D6E2-B20DF3A3B0EE}"/>
              </a:ext>
            </a:extLst>
          </p:cNvPr>
          <p:cNvSpPr/>
          <p:nvPr/>
        </p:nvSpPr>
        <p:spPr>
          <a:xfrm>
            <a:off x="2834640" y="5532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3D3D"/>
                </a:solidFill>
              </a:rPr>
              <a:t>Mas a hipótese pode estar errada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C3D3D"/>
                </a:solidFill>
              </a:rPr>
              <a:t>(ex.: rotação de dígitos 6/9 ou cor que define a classe)</a:t>
            </a:r>
            <a:endParaRPr lang="en-US" sz="15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78DD9036-B564-77FE-6848-F3FB4AC5E8F7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3179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TEÓRICA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Artigos estudados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85509" y="18144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Image Data Augmentation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for Deep Learning: A Survey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385509" y="2673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678117" y="26557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Taxonomia ampla de métodos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385509" y="30946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678117" y="3076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Classificação, segmentação e detecção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385509" y="3515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78117" y="34969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Limitações e desafios em aberto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719048" y="1832385"/>
            <a:ext cx="3674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Albumentations: fast and flexible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image augmentations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719048" y="2691921"/>
            <a:ext cx="372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011656" y="2673633"/>
            <a:ext cx="3901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Pipelines práticos e reprodutíveis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719048" y="3112545"/>
            <a:ext cx="372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011656" y="3094257"/>
            <a:ext cx="40556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Suporte a máscaras e bounding boxes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19048" y="3533169"/>
            <a:ext cx="372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11656" y="3514881"/>
            <a:ext cx="3901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Ênfase em velocidade em CPU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60120" y="5166360"/>
            <a:ext cx="103327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04F8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143000" y="5303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8B"/>
                </a:solidFill>
              </a:rPr>
              <a:t>Survey: “quais métodos existem?”  •  Albumentations: “como aplicar no pipeline?”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Famílias de data augmentation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3805" y="2069951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3533" y="2225399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Manipulação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3805" y="3075791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flip, crop, rotação, escala, cor, contraste e ruído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50157" y="2069951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59885" y="2225399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Apagamento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50157" y="3075791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Cutout, Random Erasing e GridMask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6509" y="2069951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4B9E57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76237" y="2225399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Mistura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66509" y="3075791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Mixup, CutMix, Mosaic e FMix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082861" y="2069951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7457A3"/>
          </a:solidFill>
          <a:ln w="12700">
            <a:solidFill>
              <a:srgbClr val="7457A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92589" y="2225399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Avançados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082861" y="3075791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AutoAugment, feature augmentation e modelos generativos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E2068-4394-32C6-D7BF-2167531E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F79A7-7D89-D8E1-A6DC-F66B694CC004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1FCE34-70EC-BB34-B9FE-A8030DC79F3D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Famílias de data augmentation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7D8923-EA71-38F5-66E0-D2273BBC5ACF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B7E80812-1589-D758-FF1D-A4F5492A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8A559603-59B9-927F-D62E-B0FD4F11172B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5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2E0BD-054D-9F8F-18A4-16AE30D4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28" y="1156447"/>
            <a:ext cx="1060188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6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BÁSICOS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Transformações rápidas e controláveis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920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F8B"/>
                </a:solidFill>
              </a:rPr>
              <a:t>Manipulação da imagem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892040" y="2011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84648" y="1993392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Geometria: flip, rotação, escala, crop, translação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92040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84648" y="2468880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Fotometria: brilho, contraste, saturação, blur, ruído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92040" y="29626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84648" y="2944368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Baixo custo: aplicação online durante o carregamento do batch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34381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84648" y="3419856"/>
            <a:ext cx="585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Risco: intensidade exagerada pode gerar amostra fora da distribuição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120640" y="480060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66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03520" y="4937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6B3"/>
                </a:solidFill>
              </a:rPr>
              <a:t>Ponto-chave: rápido para testar e barato para escalar.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6</a:t>
            </a:r>
            <a:endParaRPr lang="en-US" sz="800" dirty="0"/>
          </a:p>
        </p:txBody>
      </p:sp>
      <p:pic>
        <p:nvPicPr>
          <p:cNvPr id="20" name="Picture 19" descr="A collage of parrots&#10;&#10;AI-generated content may be incorrect.">
            <a:extLst>
              <a:ext uri="{FF2B5EF4-FFF2-40B4-BE49-F238E27FC236}">
                <a16:creationId xmlns:a16="http://schemas.microsoft.com/office/drawing/2014/main" id="{0592AF31-EA52-62C9-877E-F5EA9F984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66" y="1422627"/>
            <a:ext cx="3449411" cy="3381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e rótulo precisam caminhar juntos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pic>
        <p:nvPicPr>
          <p:cNvPr id="6" name="Image 1" descr="/mnt/data/slide_assets/alb_fig2_detection_masks.png"/>
          <p:cNvPicPr>
            <a:picLocks noChangeAspect="1"/>
          </p:cNvPicPr>
          <p:nvPr/>
        </p:nvPicPr>
        <p:blipFill>
          <a:blip r:embed="rId4"/>
          <a:srcRect t="8441" b="8441"/>
          <a:stretch/>
        </p:blipFill>
        <p:spPr>
          <a:xfrm>
            <a:off x="640080" y="1371600"/>
            <a:ext cx="3657600" cy="4023360"/>
          </a:xfrm>
          <a:prstGeom prst="rect">
            <a:avLst/>
          </a:prstGeom>
        </p:spPr>
      </p:pic>
      <p:pic>
        <p:nvPicPr>
          <p:cNvPr id="7" name="Image 2" descr="/mnt/data/slide_assets/alb_fig3_sat_masks.png"/>
          <p:cNvPicPr>
            <a:picLocks noChangeAspect="1"/>
          </p:cNvPicPr>
          <p:nvPr/>
        </p:nvPicPr>
        <p:blipFill>
          <a:blip r:embed="rId5"/>
          <a:srcRect t="2576" b="2576"/>
          <a:stretch/>
        </p:blipFill>
        <p:spPr>
          <a:xfrm>
            <a:off x="4572000" y="1371600"/>
            <a:ext cx="6949440" cy="24231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1772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F8B"/>
                </a:solidFill>
              </a:rPr>
              <a:t>Regras diferentes por tarefa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4617720" y="46268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910328" y="46085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Classificação: rótulo geralmente permanece igual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617720" y="5010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910328" y="49926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Segmentação: máscara recebe a mesma transformação geométrica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617720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10328" y="537667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Detecção: bounding box deve ser recalculada após crop/rotação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1005840" y="5879592"/>
            <a:ext cx="9875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004F8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69192" y="5768459"/>
            <a:ext cx="10348816" cy="5977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F8B"/>
                </a:solidFill>
              </a:rPr>
              <a:t>Na </a:t>
            </a:r>
            <a:r>
              <a:rPr lang="en-US" sz="1300" b="1" dirty="0" err="1">
                <a:solidFill>
                  <a:srgbClr val="004F8B"/>
                </a:solidFill>
              </a:rPr>
              <a:t>reprodução</a:t>
            </a:r>
            <a:r>
              <a:rPr lang="en-US" sz="1300" b="1" dirty="0">
                <a:solidFill>
                  <a:srgbClr val="004F8B"/>
                </a:solidFill>
              </a:rPr>
              <a:t>: </a:t>
            </a:r>
            <a:r>
              <a:rPr lang="en-US" sz="1300" b="1" dirty="0" err="1">
                <a:solidFill>
                  <a:srgbClr val="004F8B"/>
                </a:solidFill>
              </a:rPr>
              <a:t>aplicar</a:t>
            </a:r>
            <a:r>
              <a:rPr lang="en-US" sz="1300" b="1" dirty="0">
                <a:solidFill>
                  <a:srgbClr val="004F8B"/>
                </a:solidFill>
              </a:rPr>
              <a:t> augmentation </a:t>
            </a:r>
            <a:r>
              <a:rPr lang="en-US" sz="1300" b="1" dirty="0" err="1">
                <a:solidFill>
                  <a:srgbClr val="004F8B"/>
                </a:solidFill>
              </a:rPr>
              <a:t>na</a:t>
            </a:r>
            <a:r>
              <a:rPr lang="en-US" sz="1300" b="1" dirty="0">
                <a:solidFill>
                  <a:srgbClr val="004F8B"/>
                </a:solidFill>
              </a:rPr>
              <a:t> imagem e na máscara de segmentação.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8F93F-5532-F313-8ED8-CA10735D4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A65C01-7BC8-1410-F6A2-906AE94D3771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MISTURA E OCLUSÃO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A95B86-C359-67F6-B98A-58AB7EF00689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Cutout, Mixup e CutMix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D9AC95-679E-C982-095A-2ED0E8B40422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CB822238-0AAC-725D-36ED-AC29AB5A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5E7B1023-6512-7D8A-5D8C-AEBA7C05FBB6}"/>
              </a:ext>
            </a:extLst>
          </p:cNvPr>
          <p:cNvSpPr/>
          <p:nvPr/>
        </p:nvSpPr>
        <p:spPr>
          <a:xfrm>
            <a:off x="822960" y="155448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E98A2E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6208440-82D1-E221-2AEA-78324E5CD6AD}"/>
              </a:ext>
            </a:extLst>
          </p:cNvPr>
          <p:cNvSpPr/>
          <p:nvPr/>
        </p:nvSpPr>
        <p:spPr>
          <a:xfrm>
            <a:off x="987552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8A2E"/>
                </a:solidFill>
              </a:rPr>
              <a:t>Cutout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BF568FA-13AD-96BE-16D6-219D3148F083}"/>
              </a:ext>
            </a:extLst>
          </p:cNvPr>
          <p:cNvSpPr/>
          <p:nvPr/>
        </p:nvSpPr>
        <p:spPr>
          <a:xfrm>
            <a:off x="1143000" y="23957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Oculta regiões da imagem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Simula oclusão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Mantém rótulo original</a:t>
            </a:r>
            <a:endParaRPr lang="en-US" sz="1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8279085-E0E0-3A51-35E8-50EB94DC561B}"/>
              </a:ext>
            </a:extLst>
          </p:cNvPr>
          <p:cNvSpPr/>
          <p:nvPr/>
        </p:nvSpPr>
        <p:spPr>
          <a:xfrm>
            <a:off x="4572000" y="155448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4B9E57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F1909C-5393-3E83-9D89-51067F51937C}"/>
              </a:ext>
            </a:extLst>
          </p:cNvPr>
          <p:cNvSpPr/>
          <p:nvPr/>
        </p:nvSpPr>
        <p:spPr>
          <a:xfrm>
            <a:off x="4736592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9E57"/>
                </a:solidFill>
              </a:rPr>
              <a:t>Mixup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D9F0C0C-32C0-BA0E-E3E3-5D0AC694A3F7}"/>
              </a:ext>
            </a:extLst>
          </p:cNvPr>
          <p:cNvSpPr/>
          <p:nvPr/>
        </p:nvSpPr>
        <p:spPr>
          <a:xfrm>
            <a:off x="4892040" y="23957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Combina duas imagens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Rótulo vira distribuição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Regulariza fronteiras</a:t>
            </a:r>
            <a:endParaRPr lang="en-US" sz="15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E73E64A-9A76-F170-BC80-E04B3C2B7EE3}"/>
              </a:ext>
            </a:extLst>
          </p:cNvPr>
          <p:cNvSpPr/>
          <p:nvPr/>
        </p:nvSpPr>
        <p:spPr>
          <a:xfrm>
            <a:off x="8321040" y="1554480"/>
            <a:ext cx="315468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7457A3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7453154-A85C-843E-AE55-6B0872C1CB36}"/>
              </a:ext>
            </a:extLst>
          </p:cNvPr>
          <p:cNvSpPr/>
          <p:nvPr/>
        </p:nvSpPr>
        <p:spPr>
          <a:xfrm>
            <a:off x="8485632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57A3"/>
                </a:solidFill>
              </a:rPr>
              <a:t>CutMix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00C8A48-1C99-9FC1-2B49-DDDB9B17659F}"/>
              </a:ext>
            </a:extLst>
          </p:cNvPr>
          <p:cNvSpPr/>
          <p:nvPr/>
        </p:nvSpPr>
        <p:spPr>
          <a:xfrm>
            <a:off x="8641080" y="23957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Troca um recorte entre imagens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Rótulo ponderado pela área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Pode preservar localização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8DFB4D6-7A3B-F541-3214-F6624961EC52}"/>
              </a:ext>
            </a:extLst>
          </p:cNvPr>
          <p:cNvSpPr/>
          <p:nvPr/>
        </p:nvSpPr>
        <p:spPr>
          <a:xfrm>
            <a:off x="1371600" y="534924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F8B"/>
                </a:solidFill>
              </a:rPr>
              <a:t>Mixup:  x̃ = λxa + (1−λ)xb    ỹ = λya + (1−λ)yb</a:t>
            </a:r>
            <a:endParaRPr lang="en-US" sz="18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EFE2EC2-766A-55AC-AAF6-F933D9AE7EE9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004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MISTURA E OCLUSÃO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Cutout, Mixup e CutMix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8</a:t>
            </a:r>
            <a:endParaRPr lang="en-US" sz="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F97C92-6B85-ADC6-328A-9765A3ECF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55" y="1297362"/>
            <a:ext cx="10601325" cy="53659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AVANÇADOS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automática, features e geração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53619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6824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AutoAugment / RandAugment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69080" y="156362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Busca operações, magnitudes e probabilidades. AutoAugment tem custo alto; RandAugment reduz o espaço de busca.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86207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7457A3"/>
          </a:solidFill>
          <a:ln w="12700">
            <a:solidFill>
              <a:srgbClr val="7457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0083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augmentation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69080" y="288950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Modifica representações internas, podendo criar variações difíceis de expressar diretamente em pixels.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418795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4B9E57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43342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Modelos generativos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421538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Tentam produzir amostras próximas à distribuição real; exigem treino próprio e avaliação de qualidade.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43000" y="5486400"/>
            <a:ext cx="9784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004F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25880" y="56235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8B"/>
                </a:solidFill>
              </a:rPr>
              <a:t>Critério prático: começar pelo barato, medir ganho, depois justificar o custo do generativo.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CRÍTICA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tradicional vs DDPM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4F8B"/>
                </a:solidFill>
              </a:rPr>
              <a:t>Métodos tradicionais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010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4B9E57"/>
                </a:solidFill>
              </a:rPr>
              <a:t>Generativo</a:t>
            </a:r>
            <a:endParaRPr lang="en-US" sz="1900" dirty="0" err="1"/>
          </a:p>
        </p:txBody>
      </p:sp>
      <p:sp>
        <p:nvSpPr>
          <p:cNvPr id="8" name="Text 5"/>
          <p:cNvSpPr/>
          <p:nvPr/>
        </p:nvSpPr>
        <p:spPr>
          <a:xfrm>
            <a:off x="91440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6B3"/>
                </a:solidFill>
              </a:rPr>
              <a:t>•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07008" y="1965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Aplicação direta no batch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2368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6B3"/>
                </a:solidFill>
              </a:rPr>
              <a:t>•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07008" y="23500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Resultado imediato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2752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6B3"/>
                </a:solidFill>
              </a:rPr>
              <a:t>•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07008" y="2734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Baixo custo computacional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14400" y="3136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66B3"/>
                </a:solidFill>
              </a:rPr>
              <a:t>•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07008" y="31181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Boa primeira hipótese experimental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2668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B9E57"/>
                </a:solidFill>
              </a:rPr>
              <a:t>•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19288" y="19659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Treino do gerador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726680" y="2368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B9E57"/>
                </a:solidFill>
              </a:rPr>
              <a:t>•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19288" y="23500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Amostragem mais lenta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726680" y="2752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B9E57"/>
                </a:solidFill>
              </a:rPr>
              <a:t>•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019288" y="2734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Avaliação de qualidade/diversidade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26680" y="3136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B9E57"/>
                </a:solidFill>
              </a:rPr>
              <a:t>•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019288" y="31181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</a:rPr>
              <a:t>Maior esforço de análise posterior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2960" y="40690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2153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Dados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reais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017520" y="4178808"/>
            <a:ext cx="914400" cy="502920"/>
          </a:xfrm>
          <a:prstGeom prst="rightArrow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69080" y="40690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E6F1FA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0" y="4215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F8B"/>
                </a:solidFill>
              </a:rPr>
              <a:t>Baseline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4F8B"/>
                </a:solidFill>
              </a:rPr>
              <a:t>rápido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355080" y="4178808"/>
            <a:ext cx="914400" cy="502920"/>
          </a:xfrm>
          <a:prstGeom prst="rightArrow">
            <a:avLst/>
          </a:prstGeom>
          <a:solidFill>
            <a:srgbClr val="4B9E57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06640" y="4069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9F4EA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4215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2B7A35"/>
                </a:solidFill>
              </a:rPr>
              <a:t>Generativo</a:t>
            </a:r>
            <a:endParaRPr lang="en-US" dirty="0" err="1"/>
          </a:p>
        </p:txBody>
      </p:sp>
      <p:sp>
        <p:nvSpPr>
          <p:cNvPr id="32" name="Shape 29"/>
          <p:cNvSpPr/>
          <p:nvPr/>
        </p:nvSpPr>
        <p:spPr>
          <a:xfrm>
            <a:off x="9555480" y="4178808"/>
            <a:ext cx="914400" cy="502920"/>
          </a:xfrm>
          <a:prstGeom prst="rightArrow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15600" y="4069080"/>
            <a:ext cx="1051560" cy="731520"/>
          </a:xfrm>
          <a:prstGeom prst="roundRect">
            <a:avLst>
              <a:gd name="adj" fmla="val 12500"/>
            </a:avLst>
          </a:prstGeom>
          <a:solidFill>
            <a:srgbClr val="FFF3E6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61320" y="422452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5D00"/>
                </a:solidFill>
              </a:rPr>
              <a:t>Ganho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75D00"/>
                </a:solidFill>
              </a:rPr>
              <a:t>real?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14400" y="553212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004F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4527" y="5445162"/>
            <a:ext cx="10327341" cy="66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4F8B"/>
                </a:solidFill>
              </a:rPr>
              <a:t>No </a:t>
            </a:r>
            <a:r>
              <a:rPr lang="en-US" sz="1400" b="1" dirty="0" err="1">
                <a:solidFill>
                  <a:srgbClr val="004F8B"/>
                </a:solidFill>
              </a:rPr>
              <a:t>contexto</a:t>
            </a:r>
            <a:r>
              <a:rPr lang="en-US" sz="1400" b="1" dirty="0">
                <a:solidFill>
                  <a:srgbClr val="004F8B"/>
                </a:solidFill>
              </a:rPr>
              <a:t> de </a:t>
            </a:r>
            <a:r>
              <a:rPr lang="en-US" sz="1400" b="1" dirty="0" err="1">
                <a:solidFill>
                  <a:srgbClr val="004F8B"/>
                </a:solidFill>
              </a:rPr>
              <a:t>trabalho</a:t>
            </a:r>
            <a:r>
              <a:rPr lang="en-US" sz="1400" b="1" dirty="0">
                <a:solidFill>
                  <a:srgbClr val="004F8B"/>
                </a:solidFill>
              </a:rPr>
              <a:t>: </a:t>
            </a:r>
            <a:r>
              <a:rPr lang="en-US" sz="1400" b="1" dirty="0" err="1">
                <a:solidFill>
                  <a:srgbClr val="004F8B"/>
                </a:solidFill>
              </a:rPr>
              <a:t>métodos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rápidos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viabilizam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gerar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mais</a:t>
            </a:r>
            <a:r>
              <a:rPr lang="en-US" sz="1400" b="1" dirty="0">
                <a:solidFill>
                  <a:srgbClr val="004F8B"/>
                </a:solidFill>
              </a:rPr>
              <a:t> dados </a:t>
            </a:r>
            <a:r>
              <a:rPr lang="en-US" sz="1400" b="1" dirty="0" err="1">
                <a:solidFill>
                  <a:srgbClr val="004F8B"/>
                </a:solidFill>
              </a:rPr>
              <a:t>artificiais</a:t>
            </a:r>
            <a:r>
              <a:rPr lang="en-US" sz="1400" b="1" dirty="0">
                <a:solidFill>
                  <a:srgbClr val="004F8B"/>
                </a:solidFill>
              </a:rPr>
              <a:t> e </a:t>
            </a:r>
            <a:r>
              <a:rPr lang="en-US" sz="1400" b="1" dirty="0" err="1">
                <a:solidFill>
                  <a:srgbClr val="004F8B"/>
                </a:solidFill>
              </a:rPr>
              <a:t>medir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impacto</a:t>
            </a:r>
            <a:r>
              <a:rPr lang="en-US" sz="1400" b="1" dirty="0">
                <a:solidFill>
                  <a:srgbClr val="004F8B"/>
                </a:solidFill>
              </a:rPr>
              <a:t> antes de </a:t>
            </a:r>
            <a:r>
              <a:rPr lang="en-US" sz="1400" b="1" dirty="0" err="1">
                <a:solidFill>
                  <a:srgbClr val="004F8B"/>
                </a:solidFill>
              </a:rPr>
              <a:t>investir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em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metodos</a:t>
            </a:r>
            <a:r>
              <a:rPr lang="en-US" sz="1400" b="1" dirty="0">
                <a:solidFill>
                  <a:srgbClr val="004F8B"/>
                </a:solidFill>
              </a:rPr>
              <a:t> </a:t>
            </a:r>
            <a:r>
              <a:rPr lang="en-US" sz="1400" b="1" dirty="0" err="1">
                <a:solidFill>
                  <a:srgbClr val="004F8B"/>
                </a:solidFill>
              </a:rPr>
              <a:t>generativos</a:t>
            </a:r>
            <a:endParaRPr lang="en-US" sz="1400" b="1" dirty="0" err="1">
              <a:solidFill>
                <a:srgbClr val="004F8B"/>
              </a:solidFill>
              <a:cs typeface="Arial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EXPERIMENTAL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data leakage: augmentation só no treino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6002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Dataset bruto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54480" y="2514600"/>
            <a:ext cx="548640" cy="502920"/>
          </a:xfrm>
          <a:prstGeom prst="downArrow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2461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Treino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91640" y="4160520"/>
            <a:ext cx="502920" cy="457200"/>
          </a:xfrm>
          <a:prstGeom prst="downArrow">
            <a:avLst/>
          </a:prstGeom>
          <a:solidFill>
            <a:srgbClr val="4B9E57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727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9E57"/>
                </a:solidFill>
              </a:rPr>
              <a:t>aplicar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B9E57"/>
                </a:solidFill>
              </a:rPr>
              <a:t>augmentation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26280" y="32461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Validação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675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3D3D"/>
                </a:solidFill>
              </a:rPr>
              <a:t>✕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70916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3D3D"/>
                </a:solidFill>
              </a:rPr>
              <a:t>não alterar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83880" y="32461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CC3D3D"/>
          </a:solidFill>
          <a:ln w="12700">
            <a:solidFill>
              <a:srgbClr val="CC3D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251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3D3D"/>
                </a:solidFill>
              </a:rPr>
              <a:t>✕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36676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3D3D"/>
                </a:solidFill>
              </a:rPr>
              <a:t>não alterar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7280" y="5715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Separar antes de gerar amostras evita que variações do mesmo exemplo apareçam no treino e no teste.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11D88-774B-00D6-35E3-F01F0047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D4BECB-2847-2A99-85FE-C96ABE314C65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EXPERIMENTAL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BBB5B1-CD55-BB0D-1C3E-7BF054F93E69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data leakage: augmentation só no treino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24E530-BD4A-3917-283A-AD547C88FB13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3386C8C7-9493-1BA2-673D-2A02F95A6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23" name="Text 19">
            <a:extLst>
              <a:ext uri="{FF2B5EF4-FFF2-40B4-BE49-F238E27FC236}">
                <a16:creationId xmlns:a16="http://schemas.microsoft.com/office/drawing/2014/main" id="{B5860D13-D640-D25F-C9BC-C36815026EE1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11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6FEC75-1A3C-C064-8D47-4BD4301B5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57" y="1419224"/>
            <a:ext cx="10004052" cy="491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METODOLÓGICO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enviesar o modelo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8503" y="15400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F8B"/>
                </a:solidFill>
              </a:rPr>
              <a:t>Nem toda política melhora toda tarefa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68503" y="2134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1111" y="211616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Aumentar quantidade não garante aumentar diversidade útil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8503" y="26373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1111" y="26190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Transformações podem reforçar artefatos ou classes majoritárias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8503" y="3140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1111" y="31220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É preciso monitorar distribuição por classe, por máscara e por cenário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8503" y="36432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B3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61111" y="36249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Métrica final deve ser no conjunto sem augmentation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097280" y="4983480"/>
            <a:ext cx="97840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3D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80160" y="512064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3D3D"/>
                </a:solidFill>
              </a:rPr>
              <a:t>Pergunta de auditoria: a transformação representa variações reais do problema?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Albumentations como compêndio prático de técnicas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1426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F8B"/>
                </a:solidFill>
              </a:rPr>
              <a:t>Exemplo de pipeline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43400" y="1828800"/>
            <a:ext cx="3749040" cy="1737360"/>
          </a:xfrm>
          <a:prstGeom prst="rect">
            <a:avLst/>
          </a:prstGeom>
          <a:solidFill>
            <a:srgbClr val="F7F9FC"/>
          </a:solidFill>
          <a:ln>
            <a:solidFill>
              <a:srgbClr val="D8E2E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 A.Compose([</a:t>
            </a:r>
            <a:endParaRPr lang="en-US" sz="1250" dirty="0">
              <a:latin typeface="Arial"/>
              <a:cs typeface="Arial"/>
            </a:endParaRPr>
          </a:p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    A.PadIfNeeded(40, 40),</a:t>
            </a:r>
            <a:endParaRPr lang="en-US" sz="1250" dirty="0">
              <a:latin typeface="Courier New"/>
              <a:cs typeface="Courier New"/>
            </a:endParaRPr>
          </a:p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   </a:t>
            </a:r>
            <a:r>
              <a:rPr lang="en-US" sz="1250" dirty="0" err="1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A.RandomCrop</a:t>
            </a:r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(32, 32),</a:t>
            </a:r>
            <a:endParaRPr lang="en-US" sz="1250" dirty="0">
              <a:latin typeface="Courier New"/>
              <a:cs typeface="Courier New"/>
            </a:endParaRPr>
          </a:p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    A.HorizontalFlip(p=0.5),</a:t>
            </a:r>
            <a:endParaRPr lang="en-US" sz="1250" dirty="0">
              <a:latin typeface="Courier New"/>
              <a:cs typeface="Courier New"/>
            </a:endParaRPr>
          </a:p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    A.ColorJitter(p=0.8),</a:t>
            </a:r>
            <a:endParaRPr lang="en-US" sz="1250" dirty="0">
              <a:latin typeface="Courier New"/>
              <a:cs typeface="Courier New"/>
            </a:endParaRPr>
          </a:p>
          <a:p>
            <a:r>
              <a:rPr lang="en-US" sz="1250" dirty="0">
                <a:solidFill>
                  <a:srgbClr val="111111"/>
                </a:solidFill>
                <a:latin typeface="Courier New"/>
                <a:ea typeface="Courier New" pitchFamily="34" charset="-122"/>
                <a:cs typeface="Courier New"/>
              </a:rPr>
              <a:t> ], seed=42)</a:t>
            </a:r>
            <a:endParaRPr lang="en-US" sz="1250" dirty="0">
              <a:latin typeface="Courier New"/>
              <a:cs typeface="Courier New"/>
            </a:endParaRPr>
          </a:p>
        </p:txBody>
      </p:sp>
      <p:sp>
        <p:nvSpPr>
          <p:cNvPr id="9" name="Text 5"/>
          <p:cNvSpPr/>
          <p:nvPr/>
        </p:nvSpPr>
        <p:spPr>
          <a:xfrm>
            <a:off x="8412480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4F8B"/>
                </a:solidFill>
              </a:rPr>
              <a:t>Explicação</a:t>
            </a:r>
            <a:endParaRPr lang="en-US" dirty="0" err="1"/>
          </a:p>
        </p:txBody>
      </p:sp>
      <p:sp>
        <p:nvSpPr>
          <p:cNvPr id="10" name="Text 6"/>
          <p:cNvSpPr/>
          <p:nvPr/>
        </p:nvSpPr>
        <p:spPr>
          <a:xfrm>
            <a:off x="8412480" y="1938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066B3"/>
                </a:solidFill>
              </a:rPr>
              <a:t>•</a:t>
            </a:r>
            <a:endParaRPr lang="en-US" sz="1280" dirty="0"/>
          </a:p>
        </p:txBody>
      </p:sp>
      <p:sp>
        <p:nvSpPr>
          <p:cNvPr id="11" name="Text 7"/>
          <p:cNvSpPr/>
          <p:nvPr/>
        </p:nvSpPr>
        <p:spPr>
          <a:xfrm>
            <a:off x="8705088" y="19202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Compose encadeia operações</a:t>
            </a:r>
            <a:endParaRPr lang="en-US" sz="1280" dirty="0"/>
          </a:p>
        </p:txBody>
      </p:sp>
      <p:sp>
        <p:nvSpPr>
          <p:cNvPr id="12" name="Text 8"/>
          <p:cNvSpPr/>
          <p:nvPr/>
        </p:nvSpPr>
        <p:spPr>
          <a:xfrm>
            <a:off x="8412480" y="23225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066B3"/>
                </a:solidFill>
              </a:rPr>
              <a:t>•</a:t>
            </a:r>
            <a:endParaRPr lang="en-US" sz="1280" dirty="0"/>
          </a:p>
        </p:txBody>
      </p:sp>
      <p:sp>
        <p:nvSpPr>
          <p:cNvPr id="13" name="Text 9"/>
          <p:cNvSpPr/>
          <p:nvPr/>
        </p:nvSpPr>
        <p:spPr>
          <a:xfrm>
            <a:off x="8705088" y="23042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p controla probabilidade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8412480" y="2706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066B3"/>
                </a:solidFill>
              </a:rPr>
              <a:t>•</a:t>
            </a:r>
            <a:endParaRPr lang="en-US" sz="1280" dirty="0"/>
          </a:p>
        </p:txBody>
      </p:sp>
      <p:sp>
        <p:nvSpPr>
          <p:cNvPr id="15" name="Text 11"/>
          <p:cNvSpPr/>
          <p:nvPr/>
        </p:nvSpPr>
        <p:spPr>
          <a:xfrm>
            <a:off x="8705088" y="26883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seed ajuda reprodutibilidade</a:t>
            </a:r>
            <a:endParaRPr lang="en-US" sz="1280" dirty="0"/>
          </a:p>
        </p:txBody>
      </p:sp>
      <p:sp>
        <p:nvSpPr>
          <p:cNvPr id="16" name="Text 12"/>
          <p:cNvSpPr/>
          <p:nvPr/>
        </p:nvSpPr>
        <p:spPr>
          <a:xfrm>
            <a:off x="841248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066B3"/>
                </a:solidFill>
              </a:rPr>
              <a:t>•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8705088" y="30723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máscaras usam interpolação discreta</a:t>
            </a:r>
            <a:endParaRPr lang="en-US" sz="1280" dirty="0"/>
          </a:p>
        </p:txBody>
      </p:sp>
      <p:sp>
        <p:nvSpPr>
          <p:cNvPr id="18" name="Text 14"/>
          <p:cNvSpPr/>
          <p:nvPr/>
        </p:nvSpPr>
        <p:spPr>
          <a:xfrm>
            <a:off x="841248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066B3"/>
                </a:solidFill>
              </a:rPr>
              <a:t>•</a:t>
            </a:r>
            <a:endParaRPr lang="en-US" sz="1280" dirty="0"/>
          </a:p>
        </p:txBody>
      </p:sp>
      <p:sp>
        <p:nvSpPr>
          <p:cNvPr id="19" name="Text 15"/>
          <p:cNvSpPr/>
          <p:nvPr/>
        </p:nvSpPr>
        <p:spPr>
          <a:xfrm>
            <a:off x="8705088" y="345643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BboxParams define formato das caixas</a:t>
            </a:r>
            <a:endParaRPr lang="en-US" sz="1280" dirty="0"/>
          </a:p>
        </p:txBody>
      </p:sp>
      <p:sp>
        <p:nvSpPr>
          <p:cNvPr id="20" name="Shape 16"/>
          <p:cNvSpPr/>
          <p:nvPr/>
        </p:nvSpPr>
        <p:spPr>
          <a:xfrm>
            <a:off x="1188720" y="5074920"/>
            <a:ext cx="9692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004F8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71600" y="5212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F8B"/>
                </a:solidFill>
              </a:rPr>
              <a:t>Um único pipeline transforma imagem + máscara + bbox de forma consistente.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13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959119-E31B-B90D-4769-6324879D6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66" y="1422627"/>
            <a:ext cx="3449411" cy="33813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importa no treinamento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866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F8B"/>
                </a:solidFill>
              </a:rPr>
              <a:t>Por que isso importa?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08660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276236" y="1996851"/>
            <a:ext cx="4302621" cy="32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Augmentation geralmente roda na CPU enquanto GPU treina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086600" y="2441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265938" y="2433457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Pipeline lento pode deixar GPU ociosa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86600" y="2898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65938" y="2911251"/>
            <a:ext cx="4106974" cy="32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Técnicas rápidas permitem mais experimentos no mesmo prazo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96897" y="353090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B3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76235" y="3522911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Antes do DDPM: medir baseline barato e reprodutível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66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25880" y="52120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066B3"/>
                </a:solidFill>
              </a:rPr>
              <a:t>Tempo </a:t>
            </a:r>
            <a:r>
              <a:rPr lang="en-US" sz="1600" b="1" dirty="0" err="1">
                <a:solidFill>
                  <a:srgbClr val="0066B3"/>
                </a:solidFill>
              </a:rPr>
              <a:t>economizado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na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etapa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tradicional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pode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virar</a:t>
            </a:r>
            <a:r>
              <a:rPr lang="en-US" sz="1600" b="1" dirty="0">
                <a:solidFill>
                  <a:srgbClr val="0066B3"/>
                </a:solidFill>
              </a:rPr>
              <a:t> tempo para </a:t>
            </a:r>
            <a:r>
              <a:rPr lang="en-US" sz="1600" b="1" dirty="0" err="1">
                <a:solidFill>
                  <a:srgbClr val="0066B3"/>
                </a:solidFill>
              </a:rPr>
              <a:t>análise</a:t>
            </a:r>
            <a:r>
              <a:rPr lang="en-US" sz="1600" b="1" dirty="0">
                <a:solidFill>
                  <a:srgbClr val="0066B3"/>
                </a:solidFill>
              </a:rPr>
              <a:t> </a:t>
            </a:r>
            <a:r>
              <a:rPr lang="en-US" sz="1600" b="1" dirty="0" err="1">
                <a:solidFill>
                  <a:srgbClr val="0066B3"/>
                </a:solidFill>
              </a:rPr>
              <a:t>crítica</a:t>
            </a:r>
            <a:r>
              <a:rPr lang="en-US" sz="1600" b="1" dirty="0">
                <a:solidFill>
                  <a:srgbClr val="0066B3"/>
                </a:solidFill>
              </a:rPr>
              <a:t> de </a:t>
            </a:r>
            <a:r>
              <a:rPr lang="en-US" sz="1600" b="1" dirty="0" err="1">
                <a:solidFill>
                  <a:srgbClr val="0066B3"/>
                </a:solidFill>
              </a:rPr>
              <a:t>ganhos</a:t>
            </a:r>
            <a:r>
              <a:rPr lang="en-US" sz="1600" b="1" dirty="0">
                <a:solidFill>
                  <a:srgbClr val="0066B3"/>
                </a:solidFill>
              </a:rPr>
              <a:t>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14</a:t>
            </a:r>
            <a:endParaRPr lang="en-US" sz="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606B55-BFEB-7BCF-A23E-D7DBE2DAC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35" y="1663528"/>
            <a:ext cx="62484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NA PESQUISA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Protocolo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proposto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para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segmentação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-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projeto</a:t>
            </a:r>
            <a:endParaRPr lang="en-US" sz="2400" dirty="0" err="1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0066B3"/>
          </a:solidFill>
          <a:ln w="12700">
            <a:solidFill>
              <a:srgbClr val="0066B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1792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74520" y="1901952"/>
            <a:ext cx="141732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77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66B3"/>
                </a:solidFill>
              </a:rPr>
              <a:t>Split estratificado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</a:rPr>
              <a:t>separar treino/val/teste antes da geração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5C6773"/>
          </a:solidFill>
          <a:ln w="12700">
            <a:solidFill>
              <a:srgbClr val="5C67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1792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1901952"/>
            <a:ext cx="141732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063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6773"/>
                </a:solidFill>
              </a:rPr>
              <a:t>Baseline sem aug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926080" y="29718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</a:rPr>
              <a:t>métrica de referência: IoU por classe/máscara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4B9E57"/>
          </a:solidFill>
          <a:ln w="12700">
            <a:solidFill>
              <a:srgbClr val="4B9E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1792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1901952"/>
            <a:ext cx="141732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5349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B9E57"/>
                </a:solidFill>
              </a:rPr>
              <a:t>Aug tradicional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212080" y="29718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</a:rPr>
              <a:t>Albumentations no treino: geométrico + fotométrico + cutout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E98A2E"/>
          </a:solidFill>
          <a:ln w="12700">
            <a:solidFill>
              <a:srgbClr val="E98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1792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32520" y="1901952"/>
            <a:ext cx="1417320" cy="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635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8A2E"/>
                </a:solidFill>
              </a:rPr>
              <a:t>Auditoria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98080" y="29718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</a:rPr>
              <a:t>checar máscaras, distribuição e exemplos difíceis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515600" y="1645920"/>
            <a:ext cx="502920" cy="502920"/>
          </a:xfrm>
          <a:prstGeom prst="ellipse">
            <a:avLst/>
          </a:prstGeom>
          <a:solidFill>
            <a:srgbClr val="7457A3"/>
          </a:solidFill>
          <a:ln w="12700">
            <a:solidFill>
              <a:srgbClr val="7457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15600" y="1792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921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457A3"/>
                </a:solidFill>
              </a:rPr>
              <a:t>DDPM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84080" y="29718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</a:rPr>
              <a:t>aplicar apenas se houver hipótese e custo justificado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14400" y="5029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4F8B"/>
                </a:solidFill>
              </a:rPr>
              <a:t>Para SAM / YOLO / modelos de segmentação: comparar ganho real com mesmo split, mesmas sementes e mesma métrica.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188720" y="565099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773"/>
                </a:solidFill>
              </a:rPr>
              <a:t>Não selecionar política pelo teste; usar validação para decisão e teste apenas para relato final.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E61AF-7A01-AF0A-8B44-8FDE73DC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116790-2522-841E-B4A7-214E1055F046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NA PESQUISA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A2060A-7411-44D6-412C-F7983F8E7880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Protocolo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proposto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para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segmentação</a:t>
            </a:r>
            <a:r>
              <a:rPr lang="en-US" sz="2400" b="1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 -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projeto</a:t>
            </a:r>
            <a:endParaRPr lang="en-US" sz="2400" dirty="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D21AC3-5D9E-9B3B-96DE-C6A7B187E1AC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9EEF1481-99F9-3118-A5DC-04235E04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A826CD32-BB94-5013-9BF0-D4D0E0B2E46E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15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A5E0D44-AAF4-732F-BB2C-6B21F7DC4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87" y="1199870"/>
            <a:ext cx="10964956" cy="524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13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para resultados do seminário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353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773"/>
                </a:solidFill>
              </a:rPr>
              <a:t>Preencher conforme as métricas ficarem prontas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011680" cy="502920"/>
          </a:xfrm>
          <a:prstGeom prst="rect">
            <a:avLst/>
          </a:prstGeom>
          <a:solidFill>
            <a:srgbClr val="004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93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Política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0" y="1828800"/>
            <a:ext cx="1463040" cy="502920"/>
          </a:xfrm>
          <a:prstGeom prst="rect">
            <a:avLst/>
          </a:prstGeom>
          <a:solidFill>
            <a:srgbClr val="004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1993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IoU médio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1828800"/>
            <a:ext cx="2286000" cy="502920"/>
          </a:xfrm>
          <a:prstGeom prst="rect">
            <a:avLst/>
          </a:prstGeom>
          <a:solidFill>
            <a:srgbClr val="004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993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Classe/objeto crítico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1828800"/>
            <a:ext cx="1371600" cy="502920"/>
          </a:xfrm>
          <a:prstGeom prst="rect">
            <a:avLst/>
          </a:prstGeom>
          <a:solidFill>
            <a:srgbClr val="004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19933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Tempo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1828800"/>
            <a:ext cx="3657600" cy="502920"/>
          </a:xfrm>
          <a:prstGeom prst="rect">
            <a:avLst/>
          </a:prstGeom>
          <a:solidFill>
            <a:srgbClr val="004F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9560" y="19933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Observação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2331720"/>
            <a:ext cx="201168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2331720"/>
            <a:ext cx="14630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2331720"/>
            <a:ext cx="22860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92240" y="2331720"/>
            <a:ext cx="1371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0" y="2331720"/>
            <a:ext cx="3657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249631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Sem augmentation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" y="28346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283464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28346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283464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283464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299923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Geométrico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31520" y="3337560"/>
            <a:ext cx="201168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0" y="3337560"/>
            <a:ext cx="14630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06240" y="3337560"/>
            <a:ext cx="22860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92240" y="3337560"/>
            <a:ext cx="1371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63840" y="3337560"/>
            <a:ext cx="3657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" y="35021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Geom.+cor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31520" y="38404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0" y="384048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06240" y="38404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92240" y="38404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863840" y="384048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" y="40050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Cutout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31520" y="4343400"/>
            <a:ext cx="201168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743200" y="4343400"/>
            <a:ext cx="14630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206240" y="4343400"/>
            <a:ext cx="22860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92240" y="4343400"/>
            <a:ext cx="1371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863840" y="4343400"/>
            <a:ext cx="365760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4672" y="45079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DDPM / sintético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914400" y="5486400"/>
            <a:ext cx="102412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9050">
            <a:solidFill>
              <a:srgbClr val="E98A2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97280" y="56235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8A2E"/>
                </a:solidFill>
              </a:rPr>
              <a:t>Leitura esperada: DDPM só entra como próxima etapa se superar o baseline tradicional ou gerar diversidade útil.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9B8A4-BC03-A5DB-D59B-994F1A03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6D8761-929B-380C-56B0-E30BE3051CF5}"/>
              </a:ext>
            </a:extLst>
          </p:cNvPr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5978DB-4EA9-A8E8-D19B-0D529015860C}"/>
              </a:ext>
            </a:extLst>
          </p:cNvPr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11111"/>
                </a:solidFill>
                <a:latin typeface="Arial"/>
                <a:cs typeface="Arial"/>
              </a:rPr>
              <a:t>Reprodução</a:t>
            </a:r>
            <a:r>
              <a:rPr lang="en-US" sz="2400" b="1" dirty="0">
                <a:solidFill>
                  <a:srgbClr val="111111"/>
                </a:solidFill>
                <a:latin typeface="Arial"/>
                <a:cs typeface="Arial"/>
              </a:rPr>
              <a:t> dos </a:t>
            </a:r>
            <a:r>
              <a:rPr lang="en-US" sz="2400" b="1" dirty="0" err="1">
                <a:solidFill>
                  <a:srgbClr val="111111"/>
                </a:solidFill>
                <a:latin typeface="Arial"/>
                <a:cs typeface="Arial"/>
              </a:rPr>
              <a:t>artigos</a:t>
            </a:r>
            <a:endParaRPr lang="en-US" dirty="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29EF82-4706-5B0D-C3D4-F00C0E76F002}"/>
              </a:ext>
            </a:extLst>
          </p:cNvPr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>
            <a:extLst>
              <a:ext uri="{FF2B5EF4-FFF2-40B4-BE49-F238E27FC236}">
                <a16:creationId xmlns:a16="http://schemas.microsoft.com/office/drawing/2014/main" id="{CD792847-BCFE-30BB-4A9B-FE87FB2BC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50" name="Text 46">
            <a:extLst>
              <a:ext uri="{FF2B5EF4-FFF2-40B4-BE49-F238E27FC236}">
                <a16:creationId xmlns:a16="http://schemas.microsoft.com/office/drawing/2014/main" id="{3AED83B8-CCCF-5711-5130-F940B4F8A1EF}"/>
              </a:ext>
            </a:extLst>
          </p:cNvPr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16</a:t>
            </a:r>
            <a:endParaRPr lang="en-US" sz="8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572144F0-6206-91F2-373E-0081A8DD9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22" y="1571625"/>
            <a:ext cx="9429750" cy="3714750"/>
          </a:xfrm>
          <a:prstGeom prst="rect">
            <a:avLst/>
          </a:prstGeom>
        </p:spPr>
      </p:pic>
      <p:sp>
        <p:nvSpPr>
          <p:cNvPr id="66" name="Text 9">
            <a:extLst>
              <a:ext uri="{FF2B5EF4-FFF2-40B4-BE49-F238E27FC236}">
                <a16:creationId xmlns:a16="http://schemas.microsoft.com/office/drawing/2014/main" id="{B1E58A22-CED4-0419-0990-C123CBB48B0F}"/>
              </a:ext>
            </a:extLst>
          </p:cNvPr>
          <p:cNvSpPr/>
          <p:nvPr/>
        </p:nvSpPr>
        <p:spPr>
          <a:xfrm>
            <a:off x="1797908" y="537271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000" b="1" dirty="0" err="1">
                <a:solidFill>
                  <a:srgbClr val="0066B3"/>
                </a:solidFill>
              </a:rPr>
              <a:t>Aumento</a:t>
            </a:r>
            <a:r>
              <a:rPr lang="en-US" sz="2000" b="1" dirty="0">
                <a:solidFill>
                  <a:srgbClr val="0066B3"/>
                </a:solidFill>
              </a:rPr>
              <a:t> de </a:t>
            </a:r>
            <a:r>
              <a:rPr lang="en-US" sz="2000" b="1" dirty="0" err="1">
                <a:solidFill>
                  <a:srgbClr val="0066B3"/>
                </a:solidFill>
              </a:rPr>
              <a:t>acurácia</a:t>
            </a:r>
            <a:r>
              <a:rPr lang="en-US" sz="2000" b="1" dirty="0">
                <a:solidFill>
                  <a:srgbClr val="0066B3"/>
                </a:solidFill>
              </a:rPr>
              <a:t> </a:t>
            </a:r>
            <a:r>
              <a:rPr lang="en-US" sz="2000" b="1" dirty="0" err="1">
                <a:solidFill>
                  <a:srgbClr val="0066B3"/>
                </a:solidFill>
              </a:rPr>
              <a:t>conforme</a:t>
            </a:r>
            <a:r>
              <a:rPr lang="en-US" sz="2000" b="1" dirty="0">
                <a:solidFill>
                  <a:srgbClr val="0066B3"/>
                </a:solidFill>
              </a:rPr>
              <a:t> </a:t>
            </a:r>
            <a:r>
              <a:rPr lang="en-US" sz="2000" b="1" dirty="0" err="1">
                <a:solidFill>
                  <a:srgbClr val="0066B3"/>
                </a:solidFill>
              </a:rPr>
              <a:t>combinação</a:t>
            </a:r>
            <a:r>
              <a:rPr lang="en-US" sz="2000" b="1" dirty="0">
                <a:solidFill>
                  <a:srgbClr val="0066B3"/>
                </a:solidFill>
              </a:rPr>
              <a:t> de </a:t>
            </a:r>
            <a:r>
              <a:rPr lang="en-US" sz="2000" b="1" dirty="0" err="1">
                <a:solidFill>
                  <a:srgbClr val="0066B3"/>
                </a:solidFill>
              </a:rPr>
              <a:t>várias</a:t>
            </a:r>
            <a:r>
              <a:rPr lang="en-US" sz="2000" b="1" dirty="0">
                <a:solidFill>
                  <a:srgbClr val="0066B3"/>
                </a:solidFill>
              </a:rPr>
              <a:t> formas de augmentations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987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seminário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057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F8B"/>
                </a:solidFill>
              </a:rPr>
              <a:t>1. Invariâncias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Augmentation codifica hipóteses sobre o problema.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09160" y="2057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F8B"/>
                </a:solidFill>
              </a:rPr>
              <a:t>2. Rótulos consistentes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17720" y="26060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Imagem, máscara, bbox e distribuição de classe seguem regras diferentes.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58200" y="2057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F8B"/>
                </a:solidFill>
              </a:rPr>
              <a:t>3. Custo-benefício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66760" y="26060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</a:rPr>
              <a:t>Tradicionais geram baseline rápido; DDPM exige justificativa e auditoria.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28800" y="4754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B3"/>
                </a:solidFill>
              </a:rPr>
              <a:t>Data augmentation deve ser tratado como hipótese experimental, não como etapa automática que sempre melhora o modelo.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2D8A6-3410-4D5A-0ACF-A7897A3D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>
            <a:extLst>
              <a:ext uri="{FF2B5EF4-FFF2-40B4-BE49-F238E27FC236}">
                <a16:creationId xmlns:a16="http://schemas.microsoft.com/office/drawing/2014/main" id="{79219842-6E07-0390-74A9-E43F462BDB4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 pela atenção!</a:t>
            </a:r>
            <a:endParaRPr lang="en-US" sz="240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2AE7853-89FE-5337-C55E-BAABB55FBE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BACDC8B-FFFF-8A93-DD64-8953BDBD891D}"/>
              </a:ext>
            </a:extLst>
          </p:cNvPr>
          <p:cNvSpPr/>
          <p:nvPr/>
        </p:nvSpPr>
        <p:spPr>
          <a:xfrm>
            <a:off x="1033272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5CB9"/>
                </a:solidFill>
                <a:latin typeface="Aptos"/>
              </a:rPr>
              <a:t>Forms</a:t>
            </a:r>
            <a:endParaRPr lang="en-US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22D4157-88E0-72EC-118A-CCE61FEA8794}"/>
              </a:ext>
            </a:extLst>
          </p:cNvPr>
          <p:cNvSpPr/>
          <p:nvPr/>
        </p:nvSpPr>
        <p:spPr>
          <a:xfrm>
            <a:off x="103327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EFEC2435-B737-365A-3FE0-0DA3435B3708}"/>
              </a:ext>
            </a:extLst>
          </p:cNvPr>
          <p:cNvSpPr/>
          <p:nvPr/>
        </p:nvSpPr>
        <p:spPr>
          <a:xfrm>
            <a:off x="25146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b="1">
              <a:solidFill>
                <a:srgbClr val="005CB9"/>
              </a:solidFill>
              <a:ea typeface="Calibri"/>
              <a:cs typeface="Calibri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5797B34-2713-9860-41FB-D2C0D69FBAC2}"/>
              </a:ext>
            </a:extLst>
          </p:cNvPr>
          <p:cNvSpPr/>
          <p:nvPr/>
        </p:nvSpPr>
        <p:spPr>
          <a:xfrm>
            <a:off x="6428231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005CB9"/>
                </a:solidFill>
                <a:latin typeface="Aptos"/>
              </a:rPr>
              <a:t>Código, notebooks e </a:t>
            </a:r>
            <a:r>
              <a:rPr lang="en-US" sz="1600" b="1" err="1">
                <a:solidFill>
                  <a:srgbClr val="005CB9"/>
                </a:solidFill>
                <a:latin typeface="Aptos"/>
              </a:rPr>
              <a:t>artigos</a:t>
            </a:r>
            <a:endParaRPr lang="en-US" sz="16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1E5777F-B7ED-9D24-94FB-BCF9B9958186}"/>
              </a:ext>
            </a:extLst>
          </p:cNvPr>
          <p:cNvSpPr/>
          <p:nvPr/>
        </p:nvSpPr>
        <p:spPr>
          <a:xfrm>
            <a:off x="642823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solidFill>
                <a:srgbClr val="0C1116"/>
              </a:solidFill>
              <a:latin typeface="Aptos"/>
            </a:endParaRPr>
          </a:p>
        </p:txBody>
      </p:sp>
      <p:pic>
        <p:nvPicPr>
          <p:cNvPr id="21" name="Image 1">
            <a:extLst>
              <a:ext uri="{FF2B5EF4-FFF2-40B4-BE49-F238E27FC236}">
                <a16:creationId xmlns:a16="http://schemas.microsoft.com/office/drawing/2014/main" id="{9B9EF666-96F0-2B11-3657-537374E46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2376544"/>
            <a:ext cx="2103120" cy="2103120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BFC45EF9-3189-4C59-E765-0A5AE25599F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900"/>
          </a:p>
        </p:txBody>
      </p:sp>
      <p:pic>
        <p:nvPicPr>
          <p:cNvPr id="23" name="Picture 22" descr="Logo">
            <a:extLst>
              <a:ext uri="{FF2B5EF4-FFF2-40B4-BE49-F238E27FC236}">
                <a16:creationId xmlns:a16="http://schemas.microsoft.com/office/drawing/2014/main" id="{F15488CE-65DD-4C91-803C-46AA40101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12">
            <a:extLst>
              <a:ext uri="{FF2B5EF4-FFF2-40B4-BE49-F238E27FC236}">
                <a16:creationId xmlns:a16="http://schemas.microsoft.com/office/drawing/2014/main" id="{449424D4-E642-DB8F-C52C-22089D23E312}"/>
              </a:ext>
            </a:extLst>
          </p:cNvPr>
          <p:cNvSpPr txBox="1"/>
          <p:nvPr/>
        </p:nvSpPr>
        <p:spPr>
          <a:xfrm>
            <a:off x="1204205" y="4726460"/>
            <a:ext cx="417480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https://forms.gle/eRFgq59hobpF8vUC8</a:t>
            </a:r>
            <a:endParaRPr lang="en-US" dirty="0"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D1DA75B-3954-0820-DA2E-5A9EAD6C5927}"/>
              </a:ext>
            </a:extLst>
          </p:cNvPr>
          <p:cNvSpPr txBox="1"/>
          <p:nvPr/>
        </p:nvSpPr>
        <p:spPr>
          <a:xfrm>
            <a:off x="6549081" y="4726459"/>
            <a:ext cx="4283676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https://github.com/Mestrado-Matheus-Fonseca/matheus-983-tp558</a:t>
            </a: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A963F8-A620-7166-43E0-43E68EDEA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4842" y="2303369"/>
            <a:ext cx="2150409" cy="210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72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principais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[1] Yang et al. Image Data Augmentation for Deep Learning: A Survey. arXiv:2204.08610v2, 2023.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762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[2] Buslaev et al. Albumentations: fast and flexible image augmentations. arXiv:1809.06839, 2018.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9806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[3] Krizhevsky. Learning Multiple Layers of Features from Tiny Images. 2009.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419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[4] Lin et al. Microsoft COCO: Common Objects in Context. ECCV, 2014.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041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[5] Ho et al. Denoising Diffusion Probabilistic Models. NeurIPS, 2020.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1168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F8B"/>
                </a:solidFill>
              </a:rPr>
              <a:t>PDFs, código e notebooks no repositório da disciplina.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1099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pic>
        <p:nvPicPr>
          <p:cNvPr id="5" name="Image 0" descr="/mnt/data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370" y="411480"/>
            <a:ext cx="710619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</a:rPr>
              <a:t>Perguntas?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26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Inatel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Data Augmentation for Deep Learning</dc:title>
  <dc:subject>TP558 - Seminário 3</dc:subject>
  <dc:creator>Matheus Henrique Fonseca Afonso</dc:creator>
  <cp:lastModifiedBy>Matheus Henrique Fonseca Afonso</cp:lastModifiedBy>
  <cp:revision>149</cp:revision>
  <dcterms:created xsi:type="dcterms:W3CDTF">2026-09-21T17:02:54Z</dcterms:created>
  <dcterms:modified xsi:type="dcterms:W3CDTF">2026-09-22T00:59:06Z</dcterms:modified>
</cp:coreProperties>
</file>