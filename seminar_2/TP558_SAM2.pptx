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6" r:id="rId25"/>
    <p:sldId id="277" r:id="rId26"/>
    <p:sldId id="278" r:id="rId27"/>
    <p:sldId id="279" r:id="rId28"/>
    <p:sldId id="280" r:id="rId29"/>
    <p:sldId id="281" r:id="rId30"/>
    <p:sldId id="287" r:id="rId31"/>
    <p:sldId id="282" r:id="rId32"/>
    <p:sldId id="283" r:id="rId33"/>
    <p:sldId id="28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59" dt="2026-08-31T23:02:48.543"/>
    <p1510:client id="{4DE3523B-5CC9-5B86-E310-87397A242AE1}" v="10" dt="2026-08-31T23:45:41.074"/>
    <p1510:client id="{85225F5C-73B2-5649-1BA4-8FA2A65F4204}" v="17" dt="2026-08-31T23:56:39.542"/>
    <p1510:client id="{92A980D3-1F64-DDAB-4570-C4860A458B6A}" v="49" dt="2026-08-31T22:20:09.483"/>
    <p1510:client id="{92C23A18-E122-94D9-E8BB-692326A3F9B0}" v="28" dt="2026-08-31T18:58:37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A2B8C-E58D-4772-81A4-C3D7454C7854}" type="datetimeFigureOut"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98783-79DE-42C2-99DE-9F4B4896E47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1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apresentando o tema do seminário: SAM 2 como evolução do Segment Anything para imagens e vídeos. Dizer que o foco será entender o problema, a arquitetura, os resultados do artigo e o experimento local com SAM 2 Tiny.</a:t>
            </a:r>
          </a:p>
          <a:p>
            <a:r>
              <a:t>Frase de transição: para entender o SAM 2, primeiro precisamos separar segmentar uma imagem de acompanhar um objeto em vídeo.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roteiro da fala. Explicar que a apresentação começa pela motivação e conceitos, passa pelo SAM original, depois pelo SAM 2, seus resultados no artigo, o experimento local e fecha com análise crítica.</a:t>
            </a:r>
          </a:p>
          <a:p>
            <a:r>
              <a:t>Use este slide para situar a banca/turma e controlar o tempo de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a diferença central: em imagem, queremos uma máscara em um frame; em vídeo, precisamos manter a identidade do mesmo objeto ao longo do tempo.</a:t>
            </a:r>
          </a:p>
          <a:p>
            <a:r>
              <a:t>Comentar os desafios: movimento, oclusão, deformação e blur. Reforçar a pergunta: não é apenas 'onde está o objeto?', mas 'é o mesmo objeto ao longo do tempo?'.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Definir rapidamente os tipos de segmentação. Semântica classifica pixels por classe; instância separa objetos individuais; panóptica combina as duas; VOS acompanha um objeto ao longo de vários frames.</a:t>
            </a:r>
          </a:p>
          <a:p>
            <a:r>
              <a:t>Conectar com SAM/SAM 2: eles trabalham com segmentação interativa orientada por prompt, não com uma lista fixa de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as métricas antes de entrar nos resultados. IoU mede sobreposição; Dice mede similaridade; mIoU agrega médias; precisão mede falsos positivos; recall mede falsos negativos.</a:t>
            </a:r>
          </a:p>
          <a:p>
            <a:r>
              <a:t>Em vídeo, destacar J, F, J&amp;F, G e FPS. Fechar dizendo que nenhuma métrica sozinha explica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SAM como foundation model de visão para segmentação promptable em imagens. Enfatizar que ele recebe pontos, caixas ou máscaras e retorna uma máscara.</a:t>
            </a:r>
          </a:p>
          <a:p>
            <a:r>
              <a:t>Ponto importante: o SAM é class-agnostic; o usuário indica a região de interesse, não a classe semântica.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Descrever a arquitetura do SAM. O image encoder extrai embeddings da imagem, o prompt encoder codifica pontos/caixas/máscaras e o mask decoder gera máscaras candidatas.</a:t>
            </a:r>
          </a:p>
          <a:p>
            <a:r>
              <a:t>Reforçar o ponto-chave: a saída é uma máscara em um frame; não existe estado temporal compartilhado entre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por que aplicar SAM frame a frame não resolve vídeo sozinho. Mesmo com um tracker, a abordagem fica desacoplada e falhas exigem reanotação ou reinício do tracking.</a:t>
            </a:r>
          </a:p>
          <a:p>
            <a:r>
              <a:t>Use o frame com oclusão para mostrar como a identidade pode se perder.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Introduzir o objetivo do SAM 2: criar um modelo único para segmentação promptable em imagens e vídeos. Explique a hipótese central: a memória temporal generaliza a ideia de prompt do SAM para manter objetos ao longo do vídeo.</a:t>
            </a:r>
          </a:p>
          <a:p>
            <a:r>
              <a:t>Destaque as contribuições do artigo: streaming memory, data engine humano-no-loop, SA-V e melhor qualidade com menos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Comparar SAM e SAM 2. O SAM atua em imagens; o SAM 2 estende a lógica para imagens e vídeos por meio de memória temporal.</a:t>
            </a:r>
          </a:p>
          <a:p>
            <a:r>
              <a:t>Destacar a mudança principal: o SAM 2 não trata cada frame como problema isolado; ele usa streaming memory e produz masklets.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Introduzir o artigo. O objetivo é criar um modelo único para segmentação promptable em imagens e vídeos.</a:t>
            </a:r>
          </a:p>
          <a:p>
            <a:r>
              <a:t>Destacar as contribuições declaradas: arquitetura com streaming memory, data engine humano-no-loop, dataset SA-V e melhor qualidade com menos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Definir Promptable Visual Segmentation e masklet. Um prompt pode aparecer em qualquer frame, o modelo segmenta o objeto e a identidade é propagada no tempo.</a:t>
            </a:r>
          </a:p>
          <a:p>
            <a:r>
              <a:t>Explicar que masklet é a sequência de máscaras do mesmo objeto ao longo do vídeo.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fluxo geral do SAM 2. O frame atual passa pelo Hiera, os prompts entram pelo prompt encoder, e a memória temporal é consultada antes do mask decoder.</a:t>
            </a:r>
          </a:p>
          <a:p>
            <a:r>
              <a:t>Fechar mostrando o ciclo: máscara prevista alimenta o memory encoder e atualiza o memory bank para os próximos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Usar o GIF como apoio visual. Comentar que a máscara gerada em um frame não é apenas resultado final: ela também pode alimentar a memória que será consultada nos próximos frames.</a:t>
            </a:r>
          </a:p>
          <a:p>
            <a:r>
              <a:t>Essa animação ajuda a visualizar a diferença entre SAM frame a frame e SAM 2 com memória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o Hiera como encoder hierárquico e multiescala. O objetivo é obter features em diferentes resoluções, combinando detalhe espacial e semântica.</a:t>
            </a:r>
          </a:p>
          <a:p>
            <a:r>
              <a:t>Comentar o trade-off entre versões: Hiera-L tende a maior acurácia; versões menores reduzem custo e latência.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Detalhar Memory Attention. Frames recentes e frames promptados são recuperados da memória; o frame atual consulta essas informações por self-attention e cross-attention.</a:t>
            </a:r>
          </a:p>
          <a:p>
            <a:r>
              <a:t>Mensagem principal: o decoder recebe um embedding já condicionado pelo histórico do objeto, ajudando a manter identidade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Memory Encoder e Memory Bank. O memory encoder transforma máscara e embedding em memória; o memory bank guarda frames recentes e frames promptados.</a:t>
            </a:r>
          </a:p>
          <a:p>
            <a:r>
              <a:t>Destacar que a memória é seletiva: não é necessário armazenar todos os frames do vídeo.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o ciclo interativo: prompt inicial, propagação, falha, prompt corretivo e repropagação.</a:t>
            </a:r>
          </a:p>
          <a:p>
            <a:r>
              <a:t>Enfatizar a experiência do usuário: a correção não precisa recomeçar do zero, pois o contexto temporal já armazenado ajuda a recuperar a identidade.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data engine humano-no-loop. O artigo reduz o tempo de anotação por frame ao usar o próprio modelo para gerar propostas e o humano para revisar/corrigir.</a:t>
            </a:r>
          </a:p>
          <a:p>
            <a:r>
              <a:t>Destacar os números: de 37,8 s/frame para 4,5 s/frame, com ganho aproximado de 8,4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a escala do SA-V. Destacar 50,9 mil vídeos, 642,6 mil masklets, 35,5 milhões de máscaras e 4,2 milhões de frames.</a:t>
            </a:r>
          </a:p>
          <a:p>
            <a:r>
              <a:t>Conectar dataset e memória: para aprender continuidade temporal, o modelo precisa de exemplos temporais ricos e variados.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os resultados em imagens. Em A100, o SAM 2 é cerca de 6 vezes mais rápido que o SAM no cenário reportado, mantendo qualidade semelhante.</a:t>
            </a:r>
          </a:p>
          <a:p>
            <a:r>
              <a:t>Avisar que esses números em A100 não devem ser comparados diretamente com o experimento local em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resultados em vídeo. Destacar J&amp;F em MOSE, SA-V test, DAVIS e YTVOS.</a:t>
            </a:r>
          </a:p>
          <a:p>
            <a:r>
              <a:t>A leitura correta é que o ganho não é só acurácia: é acurácia combinada com continuidade temporal e menor necessidade de interação.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a execução local com SAM 2 Tiny. Explicar os três regimes: frames 0–4 com IoU alto, frames 5–7 com degradação por oclusão e frames 8–11 com perda do masklet.</a:t>
            </a:r>
          </a:p>
          <a:p>
            <a:r>
              <a:t>Este slide prepara a interpretação da falha nos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Usar o GIF para mostrar visualmente o comportamento local. Comentar imagem, máscara, sobreposição e evolução do IoU.</a:t>
            </a:r>
          </a:p>
          <a:p>
            <a:r>
              <a:t>Enfatizar que o GIF ajuda a observar quando a máscara começa a se degradar e quando o objeto é perdido.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Interpretar a falha. No frame 6, a precisão permanece alta, mas o recall cai; isso indica subsegmentação, ou seja, a máscara está correta, porém incompleta.</a:t>
            </a:r>
          </a:p>
          <a:p>
            <a:r>
              <a:t>No frame 7, a máscara vazia pode produzir precisão igual a 1 por convenção, mas IoU e recall mostram que não houve sucesso.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Comparar baseline de cor e SAM 2 Tiny. O baseline é muito rápido, mas tem IoU baixo; o SAM 2 Tiny é mais lento em CPU, mas segmenta a instância correta.</a:t>
            </a:r>
          </a:p>
          <a:p>
            <a:r>
              <a:t>Mensagem principal: eficiência computacional não é a mesma coisa que eficiência de interação.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Discutir o checkpoint Tiny. Ele tem cerca de 38,9 milhões de parâmetros e é adequado para demonstrações e dispositivos mais limitados.</a:t>
            </a:r>
          </a:p>
          <a:p>
            <a:r>
              <a:t>Reforçar o cuidado: a falha local não pode ser atribuída automaticamente ao Tiny sem testar checkpoints maiores.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Fazer a </a:t>
            </a:r>
            <a:r>
              <a:rPr err="1"/>
              <a:t>análise</a:t>
            </a:r>
            <a:r>
              <a:t> </a:t>
            </a:r>
            <a:r>
              <a:rPr err="1"/>
              <a:t>crítica</a:t>
            </a:r>
            <a:r>
              <a:t>. Pontos fortes: </a:t>
            </a:r>
            <a:r>
              <a:rPr err="1"/>
              <a:t>arquitetura</a:t>
            </a:r>
            <a:r>
              <a:t> </a:t>
            </a:r>
            <a:r>
              <a:rPr err="1"/>
              <a:t>unificada</a:t>
            </a:r>
            <a:r>
              <a:t>, </a:t>
            </a:r>
            <a:r>
              <a:rPr err="1"/>
              <a:t>correção</a:t>
            </a:r>
            <a:r>
              <a:t> </a:t>
            </a:r>
            <a:r>
              <a:rPr err="1"/>
              <a:t>interativa</a:t>
            </a:r>
            <a:r>
              <a:t>, </a:t>
            </a:r>
            <a:r>
              <a:rPr err="1"/>
              <a:t>menos</a:t>
            </a:r>
            <a:r>
              <a:t> </a:t>
            </a:r>
            <a:r>
              <a:rPr err="1"/>
              <a:t>interações</a:t>
            </a:r>
            <a:r>
              <a:t> e </a:t>
            </a:r>
            <a:r>
              <a:rPr err="1"/>
              <a:t>cobertura</a:t>
            </a:r>
            <a:r>
              <a:t> de dados. </a:t>
            </a:r>
            <a:r>
              <a:rPr err="1"/>
              <a:t>Limitações</a:t>
            </a:r>
            <a:r>
              <a:t>: </a:t>
            </a:r>
            <a:r>
              <a:rPr err="1"/>
              <a:t>oclusões</a:t>
            </a:r>
            <a:r>
              <a:t> longas, </a:t>
            </a:r>
            <a:r>
              <a:rPr err="1"/>
              <a:t>objetos</a:t>
            </a:r>
            <a:r>
              <a:t> </a:t>
            </a:r>
            <a:r>
              <a:rPr err="1"/>
              <a:t>difíceis</a:t>
            </a:r>
            <a:r>
              <a:t>, </a:t>
            </a:r>
            <a:r>
              <a:rPr err="1"/>
              <a:t>vídeos</a:t>
            </a:r>
            <a:r>
              <a:t> </a:t>
            </a:r>
            <a:r>
              <a:rPr err="1"/>
              <a:t>longos</a:t>
            </a:r>
            <a:r>
              <a:t> e </a:t>
            </a:r>
            <a:r>
              <a:rPr err="1"/>
              <a:t>mudança</a:t>
            </a:r>
            <a:r>
              <a:t> de </a:t>
            </a:r>
            <a:r>
              <a:rPr err="1"/>
              <a:t>domínio</a:t>
            </a:r>
            <a:r>
              <a:t>.</a:t>
            </a:r>
          </a:p>
          <a:p>
            <a:r>
              <a:rPr err="1"/>
              <a:t>Finalizar</a:t>
            </a:r>
            <a:r>
              <a:t> a </a:t>
            </a:r>
            <a:r>
              <a:rPr err="1"/>
              <a:t>análise</a:t>
            </a:r>
            <a:r>
              <a:t> com </a:t>
            </a:r>
            <a:r>
              <a:rPr err="1"/>
              <a:t>aplicações</a:t>
            </a:r>
            <a:r>
              <a:t>: </a:t>
            </a:r>
            <a:r>
              <a:rPr err="1"/>
              <a:t>anotação</a:t>
            </a:r>
            <a:r>
              <a:t> de </a:t>
            </a:r>
            <a:r>
              <a:rPr err="1"/>
              <a:t>vídeo</a:t>
            </a:r>
            <a:r>
              <a:t>, </a:t>
            </a:r>
            <a:r>
              <a:rPr err="1"/>
              <a:t>edição</a:t>
            </a:r>
            <a:r>
              <a:t>, </a:t>
            </a:r>
            <a:r>
              <a:rPr err="1"/>
              <a:t>robótica</a:t>
            </a:r>
            <a:r>
              <a:t>, </a:t>
            </a:r>
            <a:r>
              <a:rPr err="1"/>
              <a:t>imagem</a:t>
            </a:r>
            <a:r>
              <a:t> </a:t>
            </a:r>
            <a:r>
              <a:rPr err="1"/>
              <a:t>médica</a:t>
            </a:r>
            <a:r>
              <a:t> e </a:t>
            </a:r>
            <a:r>
              <a:rPr err="1"/>
              <a:t>sensoriamento</a:t>
            </a:r>
            <a:r>
              <a:t> </a:t>
            </a:r>
            <a:r>
              <a:rPr err="1"/>
              <a:t>remoto</a:t>
            </a:r>
            <a:r>
              <a:t>.</a:t>
            </a:r>
            <a:endParaRPr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err="1">
                <a:solidFill>
                  <a:srgbClr val="1D6A4B"/>
                </a:solidFill>
              </a:rPr>
              <a:t>benefícios</a:t>
            </a:r>
            <a:r>
              <a:rPr lang="en-US">
                <a:solidFill>
                  <a:srgbClr val="1D6A4B"/>
                </a:solidFill>
              </a:rPr>
              <a:t> </a:t>
            </a:r>
            <a:r>
              <a:rPr lang="en-US" err="1">
                <a:solidFill>
                  <a:srgbClr val="1D6A4B"/>
                </a:solidFill>
              </a:rPr>
              <a:t>centrais</a:t>
            </a:r>
            <a:r>
              <a:rPr lang="en-US">
                <a:solidFill>
                  <a:srgbClr val="1D6A4B"/>
                </a:solidFill>
              </a:rPr>
              <a:t> do </a:t>
            </a:r>
            <a:r>
              <a:rPr lang="en-US" err="1">
                <a:solidFill>
                  <a:srgbClr val="1D6A4B"/>
                </a:solidFill>
              </a:rPr>
              <a:t>modelo</a:t>
            </a:r>
            <a:r>
              <a:rPr lang="en-US">
                <a:solidFill>
                  <a:srgbClr val="1D6A4B"/>
                </a:solidFill>
              </a:rPr>
              <a:t>.</a:t>
            </a:r>
            <a:r>
              <a:rPr lang="en-US">
                <a:solidFill>
                  <a:srgbClr val="000000"/>
                </a:solidFill>
              </a:rPr>
              <a:t> </a:t>
            </a:r>
            <a:r>
              <a:rPr lang="en-US">
                <a:solidFill>
                  <a:srgbClr val="1D6A4B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 </a:t>
            </a:r>
            <a:r>
              <a:rPr lang="en-US">
                <a:solidFill>
                  <a:srgbClr val="A12A2A"/>
                </a:solidFill>
              </a:rPr>
              <a:t> </a:t>
            </a:r>
            <a:r>
              <a:rPr lang="en-US" err="1">
                <a:solidFill>
                  <a:srgbClr val="A12A2A"/>
                </a:solidFill>
              </a:rPr>
              <a:t>limitações</a:t>
            </a:r>
            <a:r>
              <a:rPr lang="en-US">
                <a:solidFill>
                  <a:srgbClr val="A12A2A"/>
                </a:solidFill>
              </a:rPr>
              <a:t> e </a:t>
            </a:r>
            <a:r>
              <a:rPr lang="en-US" err="1">
                <a:solidFill>
                  <a:srgbClr val="A12A2A"/>
                </a:solidFill>
              </a:rPr>
              <a:t>riscos</a:t>
            </a:r>
            <a:r>
              <a:rPr lang="en-US">
                <a:solidFill>
                  <a:srgbClr val="A12A2A"/>
                </a:solidFill>
              </a:rPr>
              <a:t> de </a:t>
            </a:r>
            <a:r>
              <a:rPr lang="en-US" err="1">
                <a:solidFill>
                  <a:srgbClr val="A12A2A"/>
                </a:solidFill>
              </a:rPr>
              <a:t>uso</a:t>
            </a:r>
            <a:r>
              <a:rPr lang="en-US">
                <a:solidFill>
                  <a:srgbClr val="A12A2A"/>
                </a:solidFill>
              </a:rPr>
              <a:t>.</a:t>
            </a:r>
            <a:r>
              <a:rPr lang="en-US">
                <a:solidFill>
                  <a:srgbClr val="000000"/>
                </a:solidFill>
              </a:rPr>
              <a:t> </a:t>
            </a:r>
            <a:r>
              <a:rPr lang="en-US">
                <a:solidFill>
                  <a:srgbClr val="A12A2A"/>
                </a:solidFill>
              </a:rPr>
              <a:t> </a:t>
            </a:r>
            <a:r>
              <a:rPr lang="en-US" err="1">
                <a:solidFill>
                  <a:srgbClr val="245D9F"/>
                </a:solidFill>
              </a:rPr>
              <a:t>contextos</a:t>
            </a:r>
            <a:r>
              <a:rPr lang="en-US">
                <a:solidFill>
                  <a:srgbClr val="245D9F"/>
                </a:solidFill>
              </a:rPr>
              <a:t> de </a:t>
            </a:r>
            <a:r>
              <a:rPr lang="en-US" err="1">
                <a:solidFill>
                  <a:srgbClr val="245D9F"/>
                </a:solidFill>
              </a:rPr>
              <a:t>aplicação</a:t>
            </a:r>
            <a:r>
              <a:rPr lang="en-US">
                <a:solidFill>
                  <a:srgbClr val="245D9F"/>
                </a:solidFill>
              </a:rPr>
              <a:t> </a:t>
            </a:r>
            <a:r>
              <a:rPr lang="en-US" err="1">
                <a:solidFill>
                  <a:srgbClr val="245D9F"/>
                </a:solidFill>
              </a:rPr>
              <a:t>mais</a:t>
            </a:r>
            <a:r>
              <a:rPr lang="en-US">
                <a:solidFill>
                  <a:srgbClr val="245D9F"/>
                </a:solidFill>
              </a:rPr>
              <a:t> </a:t>
            </a:r>
            <a:r>
              <a:rPr lang="en-US" err="1">
                <a:solidFill>
                  <a:srgbClr val="245D9F"/>
                </a:solidFill>
              </a:rPr>
              <a:t>comuns</a:t>
            </a:r>
            <a:r>
              <a:rPr lang="en-US">
                <a:solidFill>
                  <a:srgbClr val="245D9F"/>
                </a:solidFill>
              </a:rPr>
              <a:t>.</a:t>
            </a:r>
            <a:endParaRPr lang="en-US">
              <a:solidFill>
                <a:srgbClr val="000000"/>
              </a:solidFill>
            </a:endParaRPr>
          </a:p>
          <a:p>
            <a:endParaRPr lang="en-US">
              <a:solidFill>
                <a:srgbClr val="A12A2A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err="1"/>
              <a:t>Concluir</a:t>
            </a:r>
            <a:r>
              <a:t> a </a:t>
            </a:r>
            <a:r>
              <a:rPr err="1"/>
              <a:t>narrativa</a:t>
            </a:r>
            <a:r>
              <a:t>. O SAM 2 </a:t>
            </a:r>
            <a:r>
              <a:rPr err="1"/>
              <a:t>transforma</a:t>
            </a:r>
            <a:r>
              <a:t> a </a:t>
            </a:r>
            <a:r>
              <a:rPr err="1"/>
              <a:t>segmentação</a:t>
            </a:r>
            <a:r>
              <a:t> de </a:t>
            </a:r>
            <a:r>
              <a:rPr err="1"/>
              <a:t>vídeo</a:t>
            </a:r>
            <a:r>
              <a:t> </a:t>
            </a:r>
            <a:r>
              <a:rPr err="1"/>
              <a:t>em</a:t>
            </a:r>
            <a:r>
              <a:t> um </a:t>
            </a:r>
            <a:r>
              <a:rPr err="1"/>
              <a:t>processo</a:t>
            </a:r>
            <a:r>
              <a:t> </a:t>
            </a:r>
            <a:r>
              <a:rPr err="1"/>
              <a:t>interativo</a:t>
            </a:r>
            <a:r>
              <a:t> e temporal.</a:t>
            </a:r>
          </a:p>
          <a:p>
            <a:r>
              <a:rPr err="1"/>
              <a:t>Reforçar</a:t>
            </a:r>
            <a:r>
              <a:t> a </a:t>
            </a:r>
            <a:r>
              <a:rPr err="1"/>
              <a:t>mensagem</a:t>
            </a:r>
            <a:r>
              <a:t> final: </a:t>
            </a:r>
            <a:r>
              <a:rPr err="1"/>
              <a:t>sua</a:t>
            </a:r>
            <a:r>
              <a:t> principal </a:t>
            </a:r>
            <a:r>
              <a:rPr err="1"/>
              <a:t>eficiência</a:t>
            </a:r>
            <a:r>
              <a:t> é </a:t>
            </a:r>
            <a:r>
              <a:rPr err="1"/>
              <a:t>reduzir</a:t>
            </a:r>
            <a:r>
              <a:t> </a:t>
            </a:r>
            <a:r>
              <a:rPr err="1"/>
              <a:t>interação</a:t>
            </a:r>
            <a:r>
              <a:t> manual </a:t>
            </a:r>
            <a:r>
              <a:rPr err="1"/>
              <a:t>mantendo</a:t>
            </a:r>
            <a:r>
              <a:t> a </a:t>
            </a:r>
            <a:r>
              <a:rPr err="1"/>
              <a:t>identidade</a:t>
            </a:r>
            <a:r>
              <a:t> do </a:t>
            </a:r>
            <a:r>
              <a:rPr err="1"/>
              <a:t>objeto</a:t>
            </a:r>
            <a:r>
              <a:t>, </a:t>
            </a:r>
            <a:r>
              <a:rPr err="1"/>
              <a:t>não</a:t>
            </a:r>
            <a:r>
              <a:t> </a:t>
            </a:r>
            <a:r>
              <a:rPr err="1"/>
              <a:t>necessariamente</a:t>
            </a:r>
            <a:r>
              <a:t> </a:t>
            </a:r>
            <a:r>
              <a:rPr err="1"/>
              <a:t>vencer</a:t>
            </a:r>
            <a:r>
              <a:t> </a:t>
            </a:r>
            <a:r>
              <a:rPr err="1"/>
              <a:t>métodos</a:t>
            </a:r>
            <a:r>
              <a:t> simples </a:t>
            </a:r>
            <a:r>
              <a:rPr err="1"/>
              <a:t>em</a:t>
            </a:r>
            <a:r>
              <a:t> tempo </a:t>
            </a:r>
            <a:r>
              <a:rPr err="1"/>
              <a:t>bruto</a:t>
            </a:r>
            <a:r>
              <a:t> de CPU.</a:t>
            </a:r>
            <a:endParaRPr>
              <a:ea typeface="Calibri"/>
              <a:cs typeface="Calibri"/>
            </a:endParaRPr>
          </a:p>
          <a:p>
            <a:r>
              <a:rPr lang="en-US"/>
              <a:t>Legenda do </a:t>
            </a:r>
            <a:r>
              <a:rPr lang="en-US" err="1"/>
              <a:t>fluxo</a:t>
            </a:r>
            <a:r>
              <a:rPr lang="en-US"/>
              <a:t>: o prompt </a:t>
            </a:r>
            <a:r>
              <a:rPr lang="en-US" err="1"/>
              <a:t>inicia</a:t>
            </a:r>
            <a:r>
              <a:rPr lang="en-US"/>
              <a:t>, a </a:t>
            </a:r>
            <a:r>
              <a:rPr lang="en-US" err="1"/>
              <a:t>memória</a:t>
            </a:r>
            <a:r>
              <a:rPr lang="en-US"/>
              <a:t> </a:t>
            </a:r>
            <a:r>
              <a:rPr lang="en-US" err="1"/>
              <a:t>mantém</a:t>
            </a:r>
            <a:r>
              <a:rPr lang="en-US"/>
              <a:t>, a </a:t>
            </a:r>
            <a:r>
              <a:rPr lang="en-US" err="1"/>
              <a:t>correção</a:t>
            </a:r>
            <a:r>
              <a:rPr lang="en-US"/>
              <a:t> </a:t>
            </a:r>
            <a:r>
              <a:rPr lang="en-US" err="1"/>
              <a:t>recupera</a:t>
            </a:r>
            <a:r>
              <a:rPr lang="en-US"/>
              <a:t> e a </a:t>
            </a:r>
            <a:r>
              <a:rPr lang="en-US" err="1"/>
              <a:t>propagação</a:t>
            </a:r>
            <a:r>
              <a:rPr lang="en-US"/>
              <a:t> </a:t>
            </a:r>
            <a:r>
              <a:rPr lang="en-US" err="1"/>
              <a:t>atualiza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próximos</a:t>
            </a:r>
            <a:r>
              <a:rPr lang="en-US"/>
              <a:t> frames.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os links. O QR do repositório direciona para código e apresentação. O QR do formulário é destinado à resposta da atividade ou feedback.</a:t>
            </a:r>
          </a:p>
          <a:p>
            <a:r>
              <a:t>Avisar que o QR do formulário ainda está como placeholder caso o link oficial precise ser substituído.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para perguntas. Sugira tópicos: diferença entre SAM e SAM 2, memory attention, resultados em vídeo, experimento local e limitações do Tiny.</a:t>
            </a:r>
          </a:p>
          <a:p>
            <a:r>
              <a:t>Agradeça a atenção antes de responder às dúvidas.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Indicar as referências usadas. Destacar o artigo principal do SAM 2, os surveys de SAM/SAM 2 e o artigo original do SAM.</a:t>
            </a:r>
          </a:p>
          <a:p>
            <a:r>
              <a:t>Comentar que os valores locais e a comparação com baseline vêm do material experimental do seminário.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Encerrar a apresentação. Agradecer novamente e deixar o contato institucional caso alguém queira discutir o experimento ou o material posteriormente.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">
            <a:extLst>
              <a:ext uri="{FF2B5EF4-FFF2-40B4-BE49-F238E27FC236}">
                <a16:creationId xmlns:a16="http://schemas.microsoft.com/office/drawing/2014/main" id="{D613C7D2-586C-8A07-C116-E7351F398405}"/>
              </a:ext>
            </a:extLst>
          </p:cNvPr>
          <p:cNvSpPr>
            <a:spLocks noGrp="1"/>
          </p:cNvSpPr>
          <p:nvPr/>
        </p:nvSpPr>
        <p:spPr>
          <a:xfrm>
            <a:off x="1524000" y="819807"/>
            <a:ext cx="9144000" cy="26901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/>
              <a:t>TP558 - Tópicos avançados em Machine Learning:</a:t>
            </a:r>
            <a:br>
              <a:rPr lang="pt-BR"/>
            </a:br>
            <a:r>
              <a:rPr lang="pt-BR" b="1" i="1">
                <a:ea typeface="+mj-lt"/>
                <a:cs typeface="+mj-lt"/>
              </a:rPr>
              <a:t>SAM 2 – </a:t>
            </a:r>
            <a:r>
              <a:rPr lang="pt-BR" b="1" i="1" err="1">
                <a:ea typeface="+mj-lt"/>
                <a:cs typeface="+mj-lt"/>
              </a:rPr>
              <a:t>Segment</a:t>
            </a:r>
            <a:r>
              <a:rPr lang="pt-BR" b="1" i="1">
                <a:ea typeface="+mj-lt"/>
                <a:cs typeface="+mj-lt"/>
              </a:rPr>
              <a:t> </a:t>
            </a:r>
            <a:r>
              <a:rPr lang="pt-BR" b="1" i="1" err="1">
                <a:ea typeface="+mj-lt"/>
                <a:cs typeface="+mj-lt"/>
              </a:rPr>
              <a:t>Anything</a:t>
            </a:r>
            <a:endParaRPr lang="pt-BR" b="1" i="1" err="1">
              <a:ea typeface="Calibri"/>
              <a:cs typeface="Calibri"/>
            </a:endParaRPr>
          </a:p>
        </p:txBody>
      </p:sp>
      <p:sp>
        <p:nvSpPr>
          <p:cNvPr id="20" name="CaixaDeTexto 3">
            <a:extLst>
              <a:ext uri="{FF2B5EF4-FFF2-40B4-BE49-F238E27FC236}">
                <a16:creationId xmlns:a16="http://schemas.microsoft.com/office/drawing/2014/main" id="{6AD4AE52-A228-3E55-C7D1-CA0A74C3643D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/>
              <a:t>Matheus Henrique Fonseca Afonso</a:t>
            </a:r>
            <a:endParaRPr lang="en-US"/>
          </a:p>
          <a:p>
            <a:r>
              <a:rPr lang="pt-BR" i="1"/>
              <a:t>matheus.fonseca@mtel.inatel.br</a:t>
            </a:r>
            <a:endParaRPr lang="pt-BR" i="1">
              <a:ea typeface="Calibri"/>
              <a:cs typeface="Calibri"/>
            </a:endParaRPr>
          </a:p>
        </p:txBody>
      </p:sp>
      <p:pic>
        <p:nvPicPr>
          <p:cNvPr id="21" name="Picture 20" descr="Logo">
            <a:extLst>
              <a:ext uri="{FF2B5EF4-FFF2-40B4-BE49-F238E27FC236}">
                <a16:creationId xmlns:a16="http://schemas.microsoft.com/office/drawing/2014/main" id="{F0250935-2EDC-57CB-A499-18E880E06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Image result for machine learning">
            <a:extLst>
              <a:ext uri="{FF2B5EF4-FFF2-40B4-BE49-F238E27FC236}">
                <a16:creationId xmlns:a16="http://schemas.microsoft.com/office/drawing/2014/main" id="{E5C13381-E43E-D0A7-A9E7-896A3D6DBF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603504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76656"/>
            <a:ext cx="104241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rial"/>
              </a:rPr>
              <a:t>Agenda da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261872"/>
            <a:ext cx="109728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426464"/>
            <a:ext cx="100584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rial"/>
              </a:rPr>
              <a:t>Roteiro do seminário: da motivação do problema até a análise crítica e o encerramento.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4864" cy="82296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1993392"/>
            <a:ext cx="420624" cy="420624"/>
          </a:xfrm>
          <a:prstGeom prst="ellipse">
            <a:avLst/>
          </a:prstGeom>
          <a:solidFill>
            <a:srgbClr val="EAF2FB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45D9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975104"/>
            <a:ext cx="3886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rial"/>
              </a:rPr>
              <a:t>Motivação e conceitos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231136"/>
            <a:ext cx="3886200" cy="39319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Problema, tipos de segmentação e métricas para ler os resultados.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62072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862072"/>
            <a:ext cx="54864" cy="822960"/>
          </a:xfrm>
          <a:prstGeom prst="rect">
            <a:avLst/>
          </a:prstGeom>
          <a:solidFill>
            <a:srgbClr val="1B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3026664"/>
            <a:ext cx="420624" cy="420624"/>
          </a:xfrm>
          <a:prstGeom prst="ellipse">
            <a:avLst/>
          </a:prstGeom>
          <a:solidFill>
            <a:srgbClr val="E7F5EE"/>
          </a:solidFill>
          <a:ln>
            <a:solidFill>
              <a:srgbClr val="B7E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7A57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008376"/>
            <a:ext cx="3886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rial"/>
              </a:rPr>
              <a:t>SAM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264408"/>
            <a:ext cx="3886200" cy="39319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Segmentação promptable em imagens e limitações em vídeo.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95344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895344"/>
            <a:ext cx="54864" cy="822960"/>
          </a:xfrm>
          <a:prstGeom prst="rect">
            <a:avLst/>
          </a:prstGeom>
          <a:solidFill>
            <a:srgbClr val="6E3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0120" y="4059935"/>
            <a:ext cx="420624" cy="420624"/>
          </a:xfrm>
          <a:prstGeom prst="ellipse">
            <a:avLst/>
          </a:prstGeom>
          <a:solidFill>
            <a:srgbClr val="EEE7FA"/>
          </a:solidFill>
          <a:ln>
            <a:solidFill>
              <a:srgbClr val="D9C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E3FA4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4041648"/>
            <a:ext cx="3886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rial"/>
              </a:rPr>
              <a:t>SAM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297680"/>
            <a:ext cx="3886200" cy="39319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Arquitetura, memória temporal e ciclo interativo.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828800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1828800"/>
            <a:ext cx="54864" cy="822960"/>
          </a:xfrm>
          <a:prstGeom prst="rect">
            <a:avLst/>
          </a:prstGeom>
          <a:solidFill>
            <a:srgbClr val="C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72200" y="1993392"/>
            <a:ext cx="420624" cy="420624"/>
          </a:xfrm>
          <a:prstGeom prst="ellipse">
            <a:avLst/>
          </a:prstGeom>
          <a:solidFill>
            <a:srgbClr val="FFF2DC"/>
          </a:solidFill>
          <a:ln>
            <a:solidFill>
              <a:srgbClr val="F1D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46A00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1975104"/>
            <a:ext cx="3886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rial"/>
              </a:rPr>
              <a:t>Resultados do artigo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2231136"/>
            <a:ext cx="3886200" cy="39319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SA-V, ganho de anotação, FPS e benchmarks.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862072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2862072"/>
            <a:ext cx="54864" cy="82296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72200" y="3026664"/>
            <a:ext cx="420624" cy="420624"/>
          </a:xfrm>
          <a:prstGeom prst="ellipse">
            <a:avLst/>
          </a:prstGeom>
          <a:solidFill>
            <a:srgbClr val="FDE8E8"/>
          </a:solidFill>
          <a:ln>
            <a:solidFill>
              <a:srgbClr val="F3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2318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3008376"/>
            <a:ext cx="3886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rial"/>
              </a:rPr>
              <a:t>Execução 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3264408"/>
            <a:ext cx="3886200" cy="39319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SAM 2 Tiny, falhas, baseline e interpretação das métricas.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3895344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89320" y="3895344"/>
            <a:ext cx="54864" cy="82296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172200" y="4059935"/>
            <a:ext cx="420624" cy="420624"/>
          </a:xfrm>
          <a:prstGeom prst="ellipse">
            <a:avLst/>
          </a:prstGeom>
          <a:solidFill>
            <a:srgbClr val="EAF2FB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45D9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4041648"/>
            <a:ext cx="3886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rial"/>
              </a:rPr>
              <a:t>Análise crítica e fechamento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4297680"/>
            <a:ext cx="3886200" cy="39319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Pontos fortes, limitações, links, perguntas e conclusão.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" y="5230368"/>
            <a:ext cx="9802368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61288" y="5340096"/>
            <a:ext cx="310896" cy="310896"/>
          </a:xfrm>
          <a:prstGeom prst="ellipse">
            <a:avLst/>
          </a:prstGeom>
          <a:solidFill>
            <a:srgbClr val="EAF2FB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45D9F"/>
                </a:solidFill>
                <a:latin typeface="Arial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340096"/>
            <a:ext cx="886968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101828"/>
                </a:solidFill>
                <a:latin typeface="Arial"/>
              </a:rPr>
              <a:t>Objetivo: explicar onde o SAM 2 melhora o SAM original e como avaliar seus resultados.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6446520"/>
            <a:ext cx="10515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i="1">
                <a:solidFill>
                  <a:srgbClr val="245D9F"/>
                </a:solidFill>
                <a:latin typeface="Arial"/>
              </a:rPr>
              <a:t>Inatel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6070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Arial"/>
              </a:rPr>
              <a:t>Problema: segmentar um frame não é manter uma identidade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79576"/>
            <a:ext cx="114300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243447"/>
                </a:solidFill>
                <a:latin typeface="Arial"/>
              </a:rPr>
              <a:t>Imagem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2331720" cy="2148840"/>
          </a:xfrm>
          <a:prstGeom prst="roundRect">
            <a:avLst/>
          </a:prstGeom>
          <a:solidFill>
            <a:srgbClr val="F2F5F8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3227832"/>
            <a:ext cx="2057400" cy="386791"/>
          </a:xfrm>
          <a:prstGeom prst="rect">
            <a:avLst/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36192" y="2624328"/>
            <a:ext cx="475488" cy="475488"/>
          </a:xfrm>
          <a:prstGeom prst="ellipse">
            <a:avLst/>
          </a:prstGeom>
          <a:solidFill>
            <a:srgbClr val="245D9F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72184" y="2560320"/>
            <a:ext cx="603504" cy="603504"/>
          </a:xfrm>
          <a:prstGeom prst="ellipse">
            <a:avLst/>
          </a:prstGeom>
          <a:solidFill>
            <a:srgbClr val="91BDE8"/>
          </a:solidFill>
          <a:ln>
            <a:solidFill>
              <a:srgbClr val="91B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67085"/>
                </a:solidFill>
                <a:latin typeface="Arial"/>
              </a:rPr>
              <a:t>um objeto → uma máscara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527048"/>
            <a:ext cx="5303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243447"/>
                </a:solidFill>
                <a:latin typeface="Arial"/>
              </a:rPr>
              <a:t>Vídeo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965960"/>
            <a:ext cx="1874519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31920" y="2871215"/>
            <a:ext cx="1600199" cy="271576"/>
          </a:xfrm>
          <a:prstGeom prst="rect">
            <a:avLst/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60520" y="2423160"/>
            <a:ext cx="475488" cy="475488"/>
          </a:xfrm>
          <a:prstGeom prst="ellipse">
            <a:avLst/>
          </a:prstGeom>
          <a:solidFill>
            <a:srgbClr val="245D9F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3502151"/>
            <a:ext cx="187451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67085"/>
                </a:solidFill>
                <a:latin typeface="Arial"/>
              </a:rPr>
              <a:t>frame 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4728" y="1965960"/>
            <a:ext cx="1874519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61888" y="2871215"/>
            <a:ext cx="1600199" cy="271576"/>
          </a:xfrm>
          <a:prstGeom prst="rect">
            <a:avLst/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9400" y="2404872"/>
            <a:ext cx="475488" cy="475488"/>
          </a:xfrm>
          <a:prstGeom prst="ellipse">
            <a:avLst/>
          </a:prstGeom>
          <a:solidFill>
            <a:srgbClr val="245D9F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93992" y="2313432"/>
            <a:ext cx="384048" cy="7132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24728" y="3502151"/>
            <a:ext cx="187451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67085"/>
                </a:solidFill>
                <a:latin typeface="Arial"/>
              </a:rPr>
              <a:t>frame t+1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54696" y="1965960"/>
            <a:ext cx="1874519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871215"/>
            <a:ext cx="1600199" cy="271576"/>
          </a:xfrm>
          <a:prstGeom prst="rect">
            <a:avLst/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06256" y="2386584"/>
            <a:ext cx="475488" cy="475488"/>
          </a:xfrm>
          <a:prstGeom prst="ellipse">
            <a:avLst/>
          </a:prstGeom>
          <a:solidFill>
            <a:srgbClr val="245D9F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54696" y="3502151"/>
            <a:ext cx="187451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67085"/>
                </a:solidFill>
                <a:latin typeface="Arial"/>
              </a:rPr>
              <a:t>frame t+2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559552" y="2633472"/>
            <a:ext cx="310896" cy="201168"/>
          </a:xfrm>
          <a:prstGeom prst="rightArrow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7589520" y="2633472"/>
            <a:ext cx="310896" cy="201168"/>
          </a:xfrm>
          <a:prstGeom prst="rightArrow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985248" y="1691640"/>
            <a:ext cx="1691640" cy="2121408"/>
          </a:xfrm>
          <a:prstGeom prst="roundRect">
            <a:avLst/>
          </a:prstGeom>
          <a:solidFill>
            <a:srgbClr val="FBE9E9"/>
          </a:solidFill>
          <a:ln w="1016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85248" y="1691640"/>
            <a:ext cx="73152" cy="2121408"/>
          </a:xfrm>
          <a:prstGeom prst="rect">
            <a:avLst/>
          </a:prstGeom>
          <a:solidFill>
            <a:srgbClr val="B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49840" y="1819656"/>
            <a:ext cx="138074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43447"/>
                </a:solidFill>
                <a:latin typeface="Arial"/>
              </a:rPr>
              <a:t>Desafio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258568"/>
            <a:ext cx="1380744" cy="14630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rial"/>
              </a:rPr>
              <a:t>movimento</a:t>
            </a:r>
            <a:br/>
            <a:r>
              <a:t>oclusão</a:t>
            </a:r>
            <a:br/>
            <a:r>
              <a:t>deformação</a:t>
            </a:r>
            <a:br/>
            <a:r>
              <a:t>blur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709160"/>
            <a:ext cx="10332720" cy="749808"/>
          </a:xfrm>
          <a:prstGeom prst="roundRect">
            <a:avLst/>
          </a:prstGeom>
          <a:solidFill>
            <a:srgbClr val="EAF2FB"/>
          </a:solidFill>
          <a:ln>
            <a:solidFill>
              <a:srgbClr val="EA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200" b="1" i="0">
                <a:solidFill>
                  <a:srgbClr val="111111"/>
                </a:solidFill>
                <a:latin typeface="Arial"/>
              </a:rPr>
              <a:t>O objetivo deixa de ser apenas “onde está o objeto?” e passa a incluir “é o mesmo objeto ao longo do tempo?”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64739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1">
                <a:solidFill>
                  <a:srgbClr val="245D9F"/>
                </a:solidFill>
                <a:latin typeface="Arial"/>
              </a:rPr>
              <a:t>Inatel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6473952"/>
            <a:ext cx="8138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667085"/>
                </a:solidFill>
                <a:latin typeface="Arial"/>
              </a:rPr>
              <a:t>Fonte: Ravi et al., 2024 — SAM 2: Segment Anything in Images and Videos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64808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667085"/>
                </a:solidFill>
                <a:latin typeface="Arial"/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87C4A6-FD4B-2152-9425-62740083066C}"/>
              </a:ext>
            </a:extLst>
          </p:cNvPr>
          <p:cNvSpPr/>
          <p:nvPr/>
        </p:nvSpPr>
        <p:spPr>
          <a:xfrm>
            <a:off x="242433" y="6283569"/>
            <a:ext cx="2462158" cy="5771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C7B989-C521-51CF-604B-35D343A522BC}"/>
              </a:ext>
            </a:extLst>
          </p:cNvPr>
          <p:cNvSpPr/>
          <p:nvPr/>
        </p:nvSpPr>
        <p:spPr>
          <a:xfrm>
            <a:off x="9513433" y="6117492"/>
            <a:ext cx="2462158" cy="5771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presentation_slide_infographic_style_ima_2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BD154DA-1B46-2D6A-B48F-62622B24DD50}"/>
              </a:ext>
            </a:extLst>
          </p:cNvPr>
          <p:cNvSpPr/>
          <p:nvPr/>
        </p:nvSpPr>
        <p:spPr>
          <a:xfrm>
            <a:off x="11365679" y="6445738"/>
            <a:ext cx="713466" cy="2645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o_avaliar_a_segmentação_métricas_essenci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m_a_base_do_segment_anyt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presentation_slide_infographic_style_ima_1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m_and_the_challenge_of_video_consis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m_2_objetivos_e_contribuiçõ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6070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Arial"/>
              </a:rPr>
              <a:t>SAM → SAM 2: o que realmente mudou?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79576"/>
            <a:ext cx="114300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926080" cy="457200"/>
          </a:xfrm>
          <a:prstGeom prst="roundRect">
            <a:avLst/>
          </a:prstGeom>
          <a:solidFill>
            <a:srgbClr val="245D9F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Aspecto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600200"/>
            <a:ext cx="3383280" cy="457200"/>
          </a:xfrm>
          <a:prstGeom prst="roundRect">
            <a:avLst/>
          </a:prstGeom>
          <a:solidFill>
            <a:srgbClr val="245D9F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4023360" cy="457200"/>
          </a:xfrm>
          <a:prstGeom prst="roundRect">
            <a:avLst/>
          </a:prstGeom>
          <a:solidFill>
            <a:srgbClr val="245D9F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SAM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76272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 i="0">
                <a:solidFill>
                  <a:srgbClr val="243447"/>
                </a:solidFill>
                <a:latin typeface="Arial"/>
              </a:rPr>
              <a:t>Domínio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176272"/>
            <a:ext cx="33832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Imagem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176272"/>
            <a:ext cx="402336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Imagem + vídeo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97479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 i="0">
                <a:solidFill>
                  <a:srgbClr val="243447"/>
                </a:solidFill>
                <a:latin typeface="Arial"/>
              </a:rPr>
              <a:t>Prompt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697479"/>
            <a:ext cx="3383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Pontos / box / máscara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697479"/>
            <a:ext cx="4023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Mesmo conjunto de prompts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18687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 i="0">
                <a:solidFill>
                  <a:srgbClr val="243447"/>
                </a:solidFill>
                <a:latin typeface="Arial"/>
              </a:rPr>
              <a:t>Estado temporal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218687"/>
            <a:ext cx="33832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Não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3218687"/>
            <a:ext cx="402336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Streaming 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39896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 i="0">
                <a:solidFill>
                  <a:srgbClr val="243447"/>
                </a:solidFill>
                <a:latin typeface="Arial"/>
              </a:rPr>
              <a:t>Saída em vídeo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739896"/>
            <a:ext cx="3383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3739896"/>
            <a:ext cx="4023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Masklet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61104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 i="0">
                <a:solidFill>
                  <a:srgbClr val="243447"/>
                </a:solidFill>
                <a:latin typeface="Arial"/>
              </a:rPr>
              <a:t>Correção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4261104"/>
            <a:ext cx="33832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Refina o frame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261104"/>
            <a:ext cx="402336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Refina e propaga para outros frames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82312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500" b="1" i="0">
                <a:solidFill>
                  <a:srgbClr val="243447"/>
                </a:solidFill>
                <a:latin typeface="Arial"/>
              </a:rPr>
              <a:t>Encoder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782312"/>
            <a:ext cx="3383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ViT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4782312"/>
            <a:ext cx="4023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500" b="0" i="0">
                <a:solidFill>
                  <a:srgbClr val="243447"/>
                </a:solidFill>
                <a:latin typeface="Arial"/>
              </a:rPr>
              <a:t>Hiera hierárquico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577840"/>
            <a:ext cx="10241280" cy="530352"/>
          </a:xfrm>
          <a:prstGeom prst="roundRect">
            <a:avLst/>
          </a:prstGeom>
          <a:solidFill>
            <a:srgbClr val="E4F4EC"/>
          </a:solidFill>
          <a:ln>
            <a:solidFill>
              <a:srgbClr val="E4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900" b="1" i="0">
                <a:solidFill>
                  <a:srgbClr val="111111"/>
                </a:solidFill>
                <a:latin typeface="Arial"/>
              </a:rPr>
              <a:t>Diferencial central: o SAM 2 não trata cada frame como um problema isolado.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4739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1">
                <a:solidFill>
                  <a:srgbClr val="245D9F"/>
                </a:solidFill>
                <a:latin typeface="Arial"/>
              </a:rPr>
              <a:t>Inatel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473952"/>
            <a:ext cx="8138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667085"/>
                </a:solidFill>
                <a:latin typeface="Arial"/>
              </a:rPr>
              <a:t>Fonte: Zhang &amp; Tang, 2025 — SAM2 for Image and Video Segmentation: A Comprehensive Survey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DA183E-BA9B-B092-60F9-948407663FEB}"/>
              </a:ext>
            </a:extLst>
          </p:cNvPr>
          <p:cNvSpPr txBox="1"/>
          <p:nvPr/>
        </p:nvSpPr>
        <p:spPr>
          <a:xfrm>
            <a:off x="3983181" y="6425045"/>
            <a:ext cx="44074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34BA1D-DE5B-7E38-4D12-9AC041897A46}"/>
              </a:ext>
            </a:extLst>
          </p:cNvPr>
          <p:cNvSpPr/>
          <p:nvPr/>
        </p:nvSpPr>
        <p:spPr>
          <a:xfrm>
            <a:off x="9620895" y="89877"/>
            <a:ext cx="2462158" cy="5771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14B48-7A6A-3F14-08F9-DECD239B2FBC}"/>
              </a:ext>
            </a:extLst>
          </p:cNvPr>
          <p:cNvSpPr/>
          <p:nvPr/>
        </p:nvSpPr>
        <p:spPr>
          <a:xfrm>
            <a:off x="125202" y="6244492"/>
            <a:ext cx="2462158" cy="5771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0AABB-07D9-205B-A004-595703829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gráfico_da_arquitetura_sam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027664" y="6400800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789920" cy="5669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Arial"/>
              </a:rPr>
              <a:t>Animação de apoio: fluxo da arquitetura do SAM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79576"/>
            <a:ext cx="114300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09728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i="1">
                <a:solidFill>
                  <a:srgbClr val="245D9F"/>
                </a:solidFill>
                <a:latin typeface="Arial"/>
              </a:rPr>
              <a:t>Inatel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434A7-63F2-7FCD-F5FE-BEE6722DD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27" y="1567295"/>
            <a:ext cx="7992341" cy="44940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esentation_slide_wide_landscape_3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496012-59A8-4C66-4F7C-1D8D8BC360D1}"/>
              </a:ext>
            </a:extLst>
          </p:cNvPr>
          <p:cNvSpPr/>
          <p:nvPr/>
        </p:nvSpPr>
        <p:spPr>
          <a:xfrm>
            <a:off x="11365679" y="6445738"/>
            <a:ext cx="713466" cy="2645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mory_attention_contexto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mory_encoder_and_bank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1B155F-BB00-3AE5-FAB0-84CD80B5C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6070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Arial"/>
              </a:rPr>
              <a:t>Metodologia: data engine humano-no-loop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79576"/>
            <a:ext cx="114300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46920" y="146304"/>
            <a:ext cx="2057400" cy="310896"/>
          </a:xfrm>
          <a:prstGeom prst="roundRect">
            <a:avLst/>
          </a:prstGeom>
          <a:solidFill>
            <a:srgbClr val="EAF2FB"/>
          </a:solidFill>
          <a:ln>
            <a:solidFill>
              <a:srgbClr val="EA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 i="0">
                <a:solidFill>
                  <a:srgbClr val="245D9F"/>
                </a:solidFill>
                <a:latin typeface="Arial"/>
              </a:rPr>
              <a:t>Metodologia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154680" cy="2834640"/>
          </a:xfrm>
          <a:prstGeom prst="roundRect">
            <a:avLst/>
          </a:prstGeom>
          <a:solidFill>
            <a:srgbClr val="FBE9E9"/>
          </a:solidFill>
          <a:ln w="1016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73152" cy="2834640"/>
          </a:xfrm>
          <a:prstGeom prst="rect">
            <a:avLst/>
          </a:prstGeom>
          <a:solidFill>
            <a:srgbClr val="B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865376"/>
            <a:ext cx="28437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243447"/>
                </a:solidFill>
                <a:latin typeface="Arial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843784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667085"/>
                </a:solidFill>
                <a:latin typeface="Arial"/>
              </a:rPr>
              <a:t>SAM por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971800"/>
            <a:ext cx="2651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B94040"/>
                </a:solidFill>
                <a:latin typeface="Arial"/>
              </a:rPr>
              <a:t>37,8 s/frame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93008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67085"/>
                </a:solidFill>
                <a:latin typeface="Arial"/>
              </a:rPr>
              <a:t>100% dos frames editados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59" y="2788920"/>
            <a:ext cx="438912" cy="237744"/>
          </a:xfrm>
          <a:prstGeom prst="rightArrow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1737360"/>
            <a:ext cx="3154680" cy="2834640"/>
          </a:xfrm>
          <a:prstGeom prst="roundRect">
            <a:avLst/>
          </a:prstGeom>
          <a:solidFill>
            <a:srgbClr val="FFF0DB"/>
          </a:solidFill>
          <a:ln w="1016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737360"/>
            <a:ext cx="73152" cy="2834640"/>
          </a:xfrm>
          <a:prstGeom prst="rect">
            <a:avLst/>
          </a:prstGeom>
          <a:solidFill>
            <a:srgbClr val="C87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1865376"/>
            <a:ext cx="28437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243447"/>
                </a:solidFill>
                <a:latin typeface="Arial"/>
              </a:rPr>
              <a:t>Fase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304288"/>
            <a:ext cx="2843784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667085"/>
                </a:solidFill>
                <a:latin typeface="Arial"/>
              </a:rPr>
              <a:t>SAM + SAM 2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971800"/>
            <a:ext cx="2651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C8791A"/>
                </a:solidFill>
                <a:latin typeface="Arial"/>
              </a:rPr>
              <a:t>7,4 s/frame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493008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67085"/>
                </a:solidFill>
                <a:latin typeface="Arial"/>
              </a:rPr>
              <a:t>propagação por máscara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2788920"/>
            <a:ext cx="438912" cy="237744"/>
          </a:xfrm>
          <a:prstGeom prst="rightArrow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66760" y="1737360"/>
            <a:ext cx="3154680" cy="2834640"/>
          </a:xfrm>
          <a:prstGeom prst="roundRect">
            <a:avLst/>
          </a:prstGeom>
          <a:solidFill>
            <a:srgbClr val="E4F4EC"/>
          </a:solidFill>
          <a:ln w="1016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66760" y="1737360"/>
            <a:ext cx="73152" cy="2834640"/>
          </a:xfrm>
          <a:prstGeom prst="rect">
            <a:avLst/>
          </a:prstGeom>
          <a:solidFill>
            <a:srgbClr val="2D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31352" y="1865376"/>
            <a:ext cx="28437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243447"/>
                </a:solidFill>
                <a:latin typeface="Arial"/>
              </a:rPr>
              <a:t>Fase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304288"/>
            <a:ext cx="2843784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667085"/>
                </a:solidFill>
                <a:latin typeface="Arial"/>
              </a:rPr>
              <a:t>SAM 2 completo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971800"/>
            <a:ext cx="2651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2D8C68"/>
                </a:solidFill>
                <a:latin typeface="Arial"/>
              </a:rPr>
              <a:t>4,5 s/frame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493008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67085"/>
                </a:solidFill>
                <a:latin typeface="Arial"/>
              </a:rPr>
              <a:t>cliques corretivos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983480"/>
            <a:ext cx="10332720" cy="694944"/>
          </a:xfrm>
          <a:prstGeom prst="roundRect">
            <a:avLst/>
          </a:prstGeom>
          <a:solidFill>
            <a:srgbClr val="EAF2FB"/>
          </a:solidFill>
          <a:ln>
            <a:solidFill>
              <a:srgbClr val="EA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900" b="1" i="0">
                <a:solidFill>
                  <a:srgbClr val="111111"/>
                </a:solidFill>
                <a:latin typeface="Arial"/>
              </a:rPr>
              <a:t>O próprio modelo melhora o processo de coleta: previsões → revisão humana → novos dados → novo treinamento.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4739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1">
                <a:solidFill>
                  <a:srgbClr val="245D9F"/>
                </a:solidFill>
                <a:latin typeface="Arial"/>
              </a:rPr>
              <a:t>Inatel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6473952"/>
            <a:ext cx="8138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667085"/>
                </a:solidFill>
                <a:latin typeface="Arial"/>
              </a:rPr>
              <a:t>Fonte: Ravi et al., 2024 — SAM 2: Segment Anything in Images and Videos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64808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66708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_v_escala_do_dataset_de_ví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6EA3B5-08DC-BB7F-40B9-5CB8ACC3C6E1}"/>
              </a:ext>
            </a:extLst>
          </p:cNvPr>
          <p:cNvSpPr/>
          <p:nvPr/>
        </p:nvSpPr>
        <p:spPr>
          <a:xfrm>
            <a:off x="9620895" y="89877"/>
            <a:ext cx="2462158" cy="5771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F2F44B-6388-75BC-6DFC-3914DA49939C}"/>
              </a:ext>
            </a:extLst>
          </p:cNvPr>
          <p:cNvSpPr/>
          <p:nvPr/>
        </p:nvSpPr>
        <p:spPr>
          <a:xfrm>
            <a:off x="11365679" y="6445738"/>
            <a:ext cx="713466" cy="2645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olução_da_anotação_com_sam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sultados_sam_2_mais_rápido_mantendo_qua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6070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Arial"/>
              </a:rPr>
              <a:t>Resultado em vídeo: qualidade e menos interações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79576"/>
            <a:ext cx="114300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46920" y="146304"/>
            <a:ext cx="2057400" cy="310896"/>
          </a:xfrm>
          <a:prstGeom prst="roundRect">
            <a:avLst/>
          </a:prstGeom>
          <a:solidFill>
            <a:srgbClr val="EAF2FB"/>
          </a:solidFill>
          <a:ln>
            <a:solidFill>
              <a:srgbClr val="EA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1" i="0">
                <a:solidFill>
                  <a:srgbClr val="245D9F"/>
                </a:solidFill>
                <a:latin typeface="Arial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31089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245D9F"/>
                </a:solidFill>
                <a:latin typeface="Arial"/>
              </a:rPr>
              <a:t>SAM 2 (Hiera-L)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48716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2128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43447"/>
                </a:solidFill>
                <a:latin typeface="Arial"/>
              </a:rPr>
              <a:t>MOSE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15768"/>
            <a:ext cx="221284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245D9F"/>
                </a:solidFill>
                <a:latin typeface="Arial"/>
              </a:rPr>
              <a:t>77,9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27832"/>
            <a:ext cx="22128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667085"/>
                </a:solidFill>
                <a:latin typeface="Arial"/>
              </a:rPr>
              <a:t>J&amp;F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48716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2286000"/>
            <a:ext cx="22128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43447"/>
                </a:solidFill>
                <a:latin typeface="Arial"/>
              </a:rPr>
              <a:t>SA-V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715768"/>
            <a:ext cx="221284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245D9F"/>
                </a:solidFill>
                <a:latin typeface="Arial"/>
              </a:rPr>
              <a:t>78,4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227832"/>
            <a:ext cx="22128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667085"/>
                </a:solidFill>
                <a:latin typeface="Arial"/>
              </a:rPr>
              <a:t>J&amp;F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248716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2128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43447"/>
                </a:solidFill>
                <a:latin typeface="Arial"/>
              </a:rPr>
              <a:t>DAVIS 2017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15768"/>
            <a:ext cx="221284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245D9F"/>
                </a:solidFill>
                <a:latin typeface="Arial"/>
              </a:rPr>
              <a:t>90,7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27832"/>
            <a:ext cx="22128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667085"/>
                </a:solidFill>
                <a:latin typeface="Arial"/>
              </a:rPr>
              <a:t>J&amp;F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103120"/>
            <a:ext cx="248716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4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19" y="2286000"/>
            <a:ext cx="22128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43447"/>
                </a:solidFill>
                <a:latin typeface="Arial"/>
              </a:rPr>
              <a:t>YTVOS 2019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715768"/>
            <a:ext cx="221284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245D9F"/>
                </a:solidFill>
                <a:latin typeface="Arial"/>
              </a:rPr>
              <a:t>89,3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227832"/>
            <a:ext cx="22128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667085"/>
                </a:solidFill>
                <a:latin typeface="Arial"/>
              </a:rPr>
              <a:t>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51960"/>
            <a:ext cx="10287000" cy="749808"/>
          </a:xfrm>
          <a:prstGeom prst="roundRect">
            <a:avLst/>
          </a:prstGeom>
          <a:solidFill>
            <a:srgbClr val="E4F4EC"/>
          </a:solidFill>
          <a:ln>
            <a:solidFill>
              <a:srgbClr val="E4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1111"/>
                </a:solidFill>
                <a:latin typeface="Arial"/>
              </a:rPr>
              <a:t>Nos 9 benchmarks interativos, o artigo reporta melhor segmentação com &gt;3× menos interações que SAM + trackers.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257800"/>
            <a:ext cx="100584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i="0">
                <a:solidFill>
                  <a:srgbClr val="667085"/>
                </a:solidFill>
                <a:latin typeface="Arial"/>
              </a:rPr>
              <a:t>Leitura correta: o ganho está na combinação de acurácia + continuidade temporal + capacidade de refinamento.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739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1">
                <a:solidFill>
                  <a:srgbClr val="245D9F"/>
                </a:solidFill>
                <a:latin typeface="Arial"/>
              </a:rPr>
              <a:t>Inatel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6473952"/>
            <a:ext cx="8138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667085"/>
                </a:solidFill>
                <a:latin typeface="Arial"/>
              </a:rPr>
              <a:t>Fonte: Ravi et al., 2024 — SAM 2: Segment Anything in Images and Videos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m_2_tiny_frame_by_frame_segmentation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65836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789920" cy="5669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Arial"/>
              </a:rPr>
              <a:t>Animação de apoio: execução local do SAM 2 Tiny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79576"/>
            <a:ext cx="114300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09728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i="1">
                <a:solidFill>
                  <a:srgbClr val="245D9F"/>
                </a:solidFill>
                <a:latin typeface="Arial"/>
              </a:rPr>
              <a:t>Inatel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284901-7B79-094B-83A3-C093FC399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846" y="1716943"/>
            <a:ext cx="7776308" cy="43717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igh_precision_incomplete_m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seline_de_cor_sam_2_ti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ny_checkpoint_capacity_vs.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álise_crítica_em_machine_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clusão_fluxo_do_sam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79219842-6E07-0390-74A9-E43F462BDB49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err="1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</a:t>
            </a:r>
            <a:r>
              <a:rPr lang="en-US" sz="2400" b="1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pela </a:t>
            </a:r>
            <a:r>
              <a:rPr lang="en-US" sz="2400" b="1" err="1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atenção</a:t>
            </a:r>
            <a:r>
              <a:rPr lang="en-US" sz="2400" b="1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</a:t>
            </a:r>
            <a:endParaRPr lang="en-US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2AE7853-89FE-5337-C55E-BAABB55FBE8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BACDC8B-FFFF-8A93-DD64-8953BDBD891D}"/>
              </a:ext>
            </a:extLst>
          </p:cNvPr>
          <p:cNvSpPr/>
          <p:nvPr/>
        </p:nvSpPr>
        <p:spPr>
          <a:xfrm>
            <a:off x="1033272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5CB9"/>
                </a:solidFill>
                <a:latin typeface="Aptos"/>
              </a:rPr>
              <a:t>Forms</a:t>
            </a:r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5797B34-2713-9860-41FB-D2C0D69FBAC2}"/>
              </a:ext>
            </a:extLst>
          </p:cNvPr>
          <p:cNvSpPr/>
          <p:nvPr/>
        </p:nvSpPr>
        <p:spPr>
          <a:xfrm>
            <a:off x="6428231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005CB9"/>
                </a:solidFill>
                <a:latin typeface="Aptos"/>
              </a:rPr>
              <a:t>Código, notebooks e </a:t>
            </a:r>
            <a:r>
              <a:rPr lang="en-US" sz="1600" b="1" err="1">
                <a:solidFill>
                  <a:srgbClr val="005CB9"/>
                </a:solidFill>
                <a:latin typeface="Aptos"/>
              </a:rPr>
              <a:t>artigos</a:t>
            </a:r>
            <a:endParaRPr lang="en-US" sz="1600" err="1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9B9EF666-96F0-2B11-3657-537374E46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2376544"/>
            <a:ext cx="2103120" cy="2103120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BFC45EF9-3189-4C59-E765-0A5AE25599F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900"/>
          </a:p>
        </p:txBody>
      </p:sp>
      <p:pic>
        <p:nvPicPr>
          <p:cNvPr id="16" name="Picture 15" descr="Logo">
            <a:extLst>
              <a:ext uri="{FF2B5EF4-FFF2-40B4-BE49-F238E27FC236}">
                <a16:creationId xmlns:a16="http://schemas.microsoft.com/office/drawing/2014/main" id="{F15488CE-65DD-4C91-803C-46AA401014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2">
            <a:extLst>
              <a:ext uri="{FF2B5EF4-FFF2-40B4-BE49-F238E27FC236}">
                <a16:creationId xmlns:a16="http://schemas.microsoft.com/office/drawing/2014/main" id="{449424D4-E642-DB8F-C52C-22089D23E312}"/>
              </a:ext>
            </a:extLst>
          </p:cNvPr>
          <p:cNvSpPr txBox="1"/>
          <p:nvPr/>
        </p:nvSpPr>
        <p:spPr>
          <a:xfrm>
            <a:off x="1358394" y="4726460"/>
            <a:ext cx="386477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https://forms.gle/JqsAMRbyf8Wpq2LYA</a:t>
            </a:r>
            <a:endParaRPr lang="en-US" dirty="0"/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3D1DA75B-3954-0820-DA2E-5A9EAD6C5927}"/>
              </a:ext>
            </a:extLst>
          </p:cNvPr>
          <p:cNvSpPr txBox="1"/>
          <p:nvPr/>
        </p:nvSpPr>
        <p:spPr>
          <a:xfrm>
            <a:off x="6549081" y="4726459"/>
            <a:ext cx="428367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https://github.com/Mestrado-Matheus-Fonseca/matheus-983-tp558</a:t>
            </a:r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DF64F0-6C59-6BEC-611A-185CD7E31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680" y="2215297"/>
            <a:ext cx="2395981" cy="24195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DD90976B-A782-F38E-F4FC-164C2F808F2F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E08E243A-F1D2-9275-AE3C-3BF96B38454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1651762E-7F79-8810-BE08-6B6004DBA249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0D219433-4B5D-2E10-D37C-939EDF35FFA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D579C96C-3CA7-2018-71B6-1EDD001191F7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err="1">
                <a:solidFill>
                  <a:srgbClr val="0C1116"/>
                </a:solidFill>
                <a:latin typeface="Aptos Display"/>
              </a:rPr>
              <a:t>Dúvidas</a:t>
            </a:r>
            <a:endParaRPr lang="en-US" err="1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7145D3B9-647A-440D-9B8F-142CE69378C1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15A19A1-A1D6-AF0A-75C5-2840E774C8A6}"/>
              </a:ext>
            </a:extLst>
          </p:cNvPr>
          <p:cNvSpPr/>
          <p:nvPr/>
        </p:nvSpPr>
        <p:spPr>
          <a:xfrm>
            <a:off x="1097280" y="3013934"/>
            <a:ext cx="9875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600" b="1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Perguntas?</a:t>
            </a:r>
            <a:endParaRPr lang="en-US" sz="4600"/>
          </a:p>
        </p:txBody>
      </p:sp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61E749A9-B399-EF6C-6D38-613F467BC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65836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67085"/>
                </a:solidFill>
                <a:latin typeface="Arial"/>
              </a:rPr>
              <a:t>TP558 - </a:t>
            </a:r>
            <a:r>
              <a:rPr sz="1200" b="0" i="0" err="1">
                <a:solidFill>
                  <a:srgbClr val="667085"/>
                </a:solidFill>
                <a:latin typeface="Arial"/>
              </a:rPr>
              <a:t>Tópicos</a:t>
            </a:r>
            <a:r>
              <a:rPr sz="1200" b="0" i="0">
                <a:solidFill>
                  <a:srgbClr val="667085"/>
                </a:solidFill>
                <a:latin typeface="Arial"/>
              </a:rPr>
              <a:t> </a:t>
            </a:r>
            <a:r>
              <a:rPr lang="en-US" sz="1200">
                <a:solidFill>
                  <a:srgbClr val="667085"/>
                </a:solidFill>
                <a:latin typeface="Arial"/>
              </a:rPr>
              <a:t>aançados</a:t>
            </a:r>
            <a:r>
              <a:rPr sz="1200" b="0" i="0">
                <a:solidFill>
                  <a:srgbClr val="667085"/>
                </a:solidFill>
                <a:latin typeface="Arial"/>
              </a:rPr>
              <a:t> </a:t>
            </a:r>
            <a:r>
              <a:rPr sz="1200" b="0" i="0" err="1">
                <a:solidFill>
                  <a:srgbClr val="667085"/>
                </a:solidFill>
                <a:latin typeface="Arial"/>
              </a:rPr>
              <a:t>em</a:t>
            </a:r>
            <a:r>
              <a:rPr sz="1200" b="0" i="0">
                <a:solidFill>
                  <a:srgbClr val="667085"/>
                </a:solidFill>
                <a:latin typeface="Arial"/>
              </a:rPr>
              <a:t>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6070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Arial"/>
              </a:rPr>
              <a:t>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79576"/>
            <a:ext cx="1143000" cy="45720"/>
          </a:xfrm>
          <a:prstGeom prst="rect">
            <a:avLst/>
          </a:prstGeom>
          <a:solidFill>
            <a:srgbClr val="24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45D9F"/>
                </a:solidFill>
                <a:latin typeface="Arial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17904"/>
            <a:ext cx="10012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43447"/>
                </a:solidFill>
                <a:latin typeface="Arial"/>
              </a:rPr>
              <a:t>RAVI, N. et al. SAM 2: Segment Anything in Images and Videos. arXiv:2408.00714v2, 2024.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45D9F"/>
                </a:solidFill>
                <a:latin typeface="Arial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78608"/>
            <a:ext cx="10012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43447"/>
                </a:solidFill>
                <a:latin typeface="Arial"/>
              </a:rPr>
              <a:t>ZHANG, J.; TANG, H. SAM2 for Image and Video Segmentation: A Comprehensive Survey. arXiv:2503.12781,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94176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45D9F"/>
                </a:solidFill>
                <a:latin typeface="Arial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10012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43447"/>
                </a:solidFill>
                <a:latin typeface="Arial"/>
              </a:rPr>
              <a:t>ZHANG, C. et al. A Survey on Segment Anything Model (SAM): Vision Foundation Model Meets Prompt Engineering. arXiv:2306.06211v4,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79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45D9F"/>
                </a:solidFill>
                <a:latin typeface="Arial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700016"/>
            <a:ext cx="10012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43447"/>
                </a:solidFill>
                <a:latin typeface="Arial"/>
              </a:rPr>
              <a:t>KIRILLOV, A. et al. Segment Anything. IEEE/CVF International Conference on Computer Vision (ICCV), 2023.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33872"/>
            <a:ext cx="10149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667085"/>
                </a:solidFill>
                <a:latin typeface="Arial"/>
              </a:rPr>
              <a:t>Os valores de execução local e a comparação com o baseline foram fornecidos no material do seminário.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194560"/>
            <a:ext cx="950976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4200" b="1" i="0">
                <a:solidFill>
                  <a:srgbClr val="111111"/>
                </a:solidFill>
                <a:latin typeface="Arial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520440"/>
            <a:ext cx="63550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245D9F"/>
                </a:solidFill>
                <a:latin typeface="Arial"/>
              </a:rPr>
              <a:t>Matheus Henrique Fonseca Afonso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041648"/>
            <a:ext cx="74066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667085"/>
                </a:solidFill>
                <a:latin typeface="Arial"/>
              </a:rPr>
              <a:t>TP558 - Tópicos avançados em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33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 2: Segment Anything in Images and Videos</dc:title>
  <dc:subject>Seminário TP558 - Tópicos avançados em Machine Learning</dc:subject>
  <dc:creator>Matheus Henrique Fonseca Afonso</dc:creator>
  <cp:keywords/>
  <dc:description>generated using python-pptx</dc:description>
  <cp:revision>14</cp:revision>
  <dcterms:created xsi:type="dcterms:W3CDTF">2013-01-27T09:14:16Z</dcterms:created>
  <dcterms:modified xsi:type="dcterms:W3CDTF">2026-08-31T23:58:59Z</dcterms:modified>
  <cp:category/>
</cp:coreProperties>
</file>